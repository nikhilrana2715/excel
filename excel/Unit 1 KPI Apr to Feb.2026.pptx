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94" r:id="rId5"/>
    <p:sldId id="313" r:id="rId6"/>
    <p:sldId id="321" r:id="rId7"/>
    <p:sldId id="314" r:id="rId8"/>
    <p:sldId id="322" r:id="rId9"/>
    <p:sldId id="338" r:id="rId10"/>
    <p:sldId id="317" r:id="rId11"/>
    <p:sldId id="339" r:id="rId12"/>
    <p:sldId id="340" r:id="rId13"/>
    <p:sldId id="344" r:id="rId14"/>
    <p:sldId id="348" r:id="rId15"/>
    <p:sldId id="345" r:id="rId16"/>
    <p:sldId id="356" r:id="rId17"/>
    <p:sldId id="347" r:id="rId18"/>
    <p:sldId id="349" r:id="rId19"/>
    <p:sldId id="350" r:id="rId20"/>
    <p:sldId id="351" r:id="rId21"/>
    <p:sldId id="352" r:id="rId22"/>
    <p:sldId id="35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All%20Production\PD%20Hitesh\MRM\11.PD%20REPORT%20NOV-25%20SHILPA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\\BA-02\mdserver\PD%20Hitesh\MRM\ppt\All%20kpi%20backup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D:\All%20Production\PD%20Hitesh\MRM\MRM%20jan2026\1.PD%20REPORT%20JAN-2026%20SHILPA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D:\All%20Production\PD%20Hitesh\MRM\Feb.2026\All%20kpi%20backup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file:///\\BA-02\mdserver\PD%20Hitesh\MRM\ppt\All%20kpi%20backu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1"/>
              <a:t>Plan vs Achievement YOY</a:t>
            </a:r>
            <a:endParaRPr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backup.xlsx]Sheet1'!$B$63</c:f>
              <c:strCache>
                <c:ptCount val="1"/>
                <c:pt idx="0">
                  <c:v>Paninig Qty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backup.xlsx]Sheet1'!$A$65:$A$66</c:f>
              <c:strCache>
                <c:ptCount val="2"/>
                <c:pt idx="0">
                  <c:v>2024-2025</c:v>
                </c:pt>
                <c:pt idx="1">
                  <c:v>2025-2026</c:v>
                </c:pt>
              </c:strCache>
            </c:strRef>
          </c:cat>
          <c:val>
            <c:numRef>
              <c:f>'[All kpi backup.xlsx]Sheet1'!$B$65:$B$66</c:f>
              <c:numCache>
                <c:formatCode>General</c:formatCode>
                <c:ptCount val="2"/>
                <c:pt idx="0">
                  <c:v>4553943</c:v>
                </c:pt>
                <c:pt idx="1">
                  <c:v>4234914</c:v>
                </c:pt>
              </c:numCache>
            </c:numRef>
          </c:val>
        </c:ser>
        <c:ser>
          <c:idx val="1"/>
          <c:order val="1"/>
          <c:tx>
            <c:strRef>
              <c:f>'[All kpi backup.xlsx]Sheet1'!$C$63</c:f>
              <c:strCache>
                <c:ptCount val="1"/>
                <c:pt idx="0">
                  <c:v>Achie.Qty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backup.xlsx]Sheet1'!$A$65:$A$66</c:f>
              <c:strCache>
                <c:ptCount val="2"/>
                <c:pt idx="0">
                  <c:v>2024-2025</c:v>
                </c:pt>
                <c:pt idx="1">
                  <c:v>2025-2026</c:v>
                </c:pt>
              </c:strCache>
            </c:strRef>
          </c:cat>
          <c:val>
            <c:numRef>
              <c:f>'[All kpi backup.xlsx]Sheet1'!$C$65:$C$66</c:f>
              <c:numCache>
                <c:formatCode>General</c:formatCode>
                <c:ptCount val="2"/>
                <c:pt idx="0">
                  <c:v>3465502</c:v>
                </c:pt>
                <c:pt idx="1">
                  <c:v>3131663</c:v>
                </c:pt>
              </c:numCache>
            </c:numRef>
          </c:val>
        </c:ser>
        <c:ser>
          <c:idx val="2"/>
          <c:order val="2"/>
          <c:tx>
            <c:strRef>
              <c:f>'[All kpi backup.xlsx]Sheet1'!$D$63</c:f>
              <c:strCache>
                <c:ptCount val="1"/>
                <c:pt idx="0">
                  <c:v>Ach.%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backup.xlsx]Sheet1'!$A$65:$A$66</c:f>
              <c:strCache>
                <c:ptCount val="2"/>
                <c:pt idx="0">
                  <c:v>2024-2025</c:v>
                </c:pt>
                <c:pt idx="1">
                  <c:v>2025-2026</c:v>
                </c:pt>
              </c:strCache>
            </c:strRef>
          </c:cat>
          <c:val>
            <c:numRef>
              <c:f>'[All kpi backup.xlsx]Sheet1'!$D$65:$D$66</c:f>
              <c:numCache>
                <c:formatCode>0_ </c:formatCode>
                <c:ptCount val="2"/>
                <c:pt idx="0">
                  <c:v>76.0989322879096</c:v>
                </c:pt>
                <c:pt idx="1">
                  <c:v>73.948679949581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2947606"/>
        <c:axId val="907590885"/>
      </c:barChart>
      <c:catAx>
        <c:axId val="25294760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7590885"/>
        <c:crosses val="autoZero"/>
        <c:auto val="1"/>
        <c:lblAlgn val="ctr"/>
        <c:lblOffset val="100"/>
        <c:noMultiLvlLbl val="0"/>
      </c:catAx>
      <c:valAx>
        <c:axId val="90759088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5294760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1"/>
              <a:t>Achievement Apr.2025-Feb.2026</a:t>
            </a:r>
            <a:endParaRPr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backup.xlsx]Sheet1'!$D$2</c:f>
              <c:strCache>
                <c:ptCount val="1"/>
                <c:pt idx="0">
                  <c:v>Achi.%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'[All kpi backup.xlsx]Sheet1'!$D$3:$D$13</c:f>
              <c:numCache>
                <c:formatCode>General</c:formatCode>
                <c:ptCount val="11"/>
                <c:pt idx="0">
                  <c:v>82</c:v>
                </c:pt>
                <c:pt idx="1">
                  <c:v>72</c:v>
                </c:pt>
                <c:pt idx="2">
                  <c:v>69</c:v>
                </c:pt>
                <c:pt idx="3">
                  <c:v>61</c:v>
                </c:pt>
                <c:pt idx="4">
                  <c:v>68</c:v>
                </c:pt>
                <c:pt idx="5">
                  <c:v>77</c:v>
                </c:pt>
                <c:pt idx="6">
                  <c:v>66</c:v>
                </c:pt>
                <c:pt idx="7">
                  <c:v>79</c:v>
                </c:pt>
                <c:pt idx="8">
                  <c:v>88</c:v>
                </c:pt>
                <c:pt idx="9">
                  <c:v>69</c:v>
                </c:pt>
                <c:pt idx="10" c:formatCode="0_ ">
                  <c:v>84.7854511190633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70237414"/>
        <c:axId val="661543721"/>
      </c:barChart>
      <c:lineChart>
        <c:grouping val="standard"/>
        <c:varyColors val="0"/>
        <c:ser>
          <c:idx val="1"/>
          <c:order val="1"/>
          <c:tx>
            <c:strRef>
              <c:f>'[All kpi backup.xlsx]Sheet1'!$E$2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'[All kpi backup.xlsx]Sheet1'!$A$3:$A$13</c:f>
              <c:strCache>
                <c:ptCount val="11"/>
                <c:pt idx="0" c:formatCode="d/mmm">
                  <c:v>April.25</c:v>
                </c:pt>
                <c:pt idx="1">
                  <c:v>May.25</c:v>
                </c:pt>
                <c:pt idx="2">
                  <c:v>Jun.25</c:v>
                </c:pt>
                <c:pt idx="3">
                  <c:v>Jul.25</c:v>
                </c:pt>
                <c:pt idx="4">
                  <c:v>Aug.25</c:v>
                </c:pt>
                <c:pt idx="5">
                  <c:v>Sep.25</c:v>
                </c:pt>
                <c:pt idx="6">
                  <c:v>Oct.25</c:v>
                </c:pt>
                <c:pt idx="7">
                  <c:v>Nov.25</c:v>
                </c:pt>
                <c:pt idx="8">
                  <c:v>Dec.25</c:v>
                </c:pt>
                <c:pt idx="9">
                  <c:v>Jan.26</c:v>
                </c:pt>
                <c:pt idx="10">
                  <c:v>Feb.26</c:v>
                </c:pt>
              </c:strCache>
            </c:strRef>
          </c:cat>
          <c:val>
            <c:numRef>
              <c:f>'[All kpi backup.xlsx]Sheet1'!$E$3:$E$13</c:f>
              <c:numCache>
                <c:formatCode>General</c:formatCode>
                <c:ptCount val="11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70237414"/>
        <c:axId val="661543721"/>
      </c:lineChart>
      <c:catAx>
        <c:axId val="4702374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1543721"/>
        <c:crosses val="autoZero"/>
        <c:auto val="1"/>
        <c:lblAlgn val="ctr"/>
        <c:lblOffset val="100"/>
        <c:noMultiLvlLbl val="0"/>
      </c:catAx>
      <c:valAx>
        <c:axId val="6615437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023741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'[11.PD REPORT NOV-25 SHILPA.xlsx]Sheet3'!$C$83</c:f>
              <c:strCache>
                <c:ptCount val="1"/>
                <c:pt idx="0">
                  <c:v>Plan Qty.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'[11.PD REPORT NOV-25 SHILPA.xlsx]Sheet3'!$A$84:$B$105</c:f>
              <c:multiLvlStrCache>
                <c:ptCount val="22"/>
                <c:lvl>
                  <c:pt idx="0">
                    <c:v>2024</c:v>
                  </c:pt>
                  <c:pt idx="1">
                    <c:v>2025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2024</c:v>
                  </c:pt>
                  <c:pt idx="11">
                    <c:v>2025</c:v>
                  </c:pt>
                  <c:pt idx="12">
                    <c:v>2024</c:v>
                  </c:pt>
                  <c:pt idx="13">
                    <c:v>2025</c:v>
                  </c:pt>
                  <c:pt idx="14">
                    <c:v>2024</c:v>
                  </c:pt>
                  <c:pt idx="15">
                    <c:v>2025</c:v>
                  </c:pt>
                  <c:pt idx="16">
                    <c:v>2024</c:v>
                  </c:pt>
                  <c:pt idx="17">
                    <c:v>2025</c:v>
                  </c:pt>
                  <c:pt idx="18">
                    <c:v>2025</c:v>
                  </c:pt>
                  <c:pt idx="19">
                    <c:v>2026</c:v>
                  </c:pt>
                  <c:pt idx="20">
                    <c:v>2025</c:v>
                  </c:pt>
                  <c:pt idx="21">
                    <c:v>2025</c:v>
                  </c:pt>
                </c:lvl>
                <c:lvl>
                  <c:pt idx="0">
                    <c:v>April</c:v>
                  </c:pt>
                  <c:pt idx="2">
                    <c:v>May</c:v>
                  </c:pt>
                  <c:pt idx="4">
                    <c:v>June</c:v>
                  </c:pt>
                  <c:pt idx="6">
                    <c:v>July</c:v>
                  </c:pt>
                  <c:pt idx="8">
                    <c:v>August</c:v>
                  </c:pt>
                  <c:pt idx="10">
                    <c:v>September</c:v>
                  </c:pt>
                  <c:pt idx="12">
                    <c:v>October</c:v>
                  </c:pt>
                  <c:pt idx="14">
                    <c:v>November</c:v>
                  </c:pt>
                  <c:pt idx="16">
                    <c:v>December</c:v>
                  </c:pt>
                  <c:pt idx="18">
                    <c:v>January</c:v>
                  </c:pt>
                  <c:pt idx="20">
                    <c:v>February</c:v>
                  </c:pt>
                  <c:pt idx="21">
                    <c:v>March</c:v>
                  </c:pt>
                </c:lvl>
              </c:multiLvlStrCache>
            </c:multiLvlStrRef>
          </c:cat>
          <c:val>
            <c:numRef>
              <c:f>'[11.PD REPORT NOV-25 SHILPA.xlsx]Sheet3'!$C$84:$C$105</c:f>
              <c:numCache>
                <c:formatCode>General</c:formatCode>
                <c:ptCount val="22"/>
                <c:pt idx="0">
                  <c:v>366609</c:v>
                </c:pt>
                <c:pt idx="1">
                  <c:v>337966</c:v>
                </c:pt>
                <c:pt idx="2">
                  <c:v>372500</c:v>
                </c:pt>
                <c:pt idx="3">
                  <c:v>304645</c:v>
                </c:pt>
                <c:pt idx="4">
                  <c:v>336534</c:v>
                </c:pt>
                <c:pt idx="5">
                  <c:v>334566</c:v>
                </c:pt>
                <c:pt idx="6">
                  <c:v>425645</c:v>
                </c:pt>
                <c:pt idx="7">
                  <c:v>436161</c:v>
                </c:pt>
                <c:pt idx="8">
                  <c:v>310611</c:v>
                </c:pt>
                <c:pt idx="9">
                  <c:v>434516</c:v>
                </c:pt>
                <c:pt idx="10">
                  <c:v>321546</c:v>
                </c:pt>
                <c:pt idx="11">
                  <c:v>404937</c:v>
                </c:pt>
                <c:pt idx="12">
                  <c:v>423970</c:v>
                </c:pt>
                <c:pt idx="13">
                  <c:v>363436</c:v>
                </c:pt>
                <c:pt idx="14">
                  <c:v>380837</c:v>
                </c:pt>
                <c:pt idx="15">
                  <c:v>404399</c:v>
                </c:pt>
                <c:pt idx="16">
                  <c:v>422945</c:v>
                </c:pt>
                <c:pt idx="17">
                  <c:v>396494</c:v>
                </c:pt>
                <c:pt idx="18">
                  <c:v>404076</c:v>
                </c:pt>
                <c:pt idx="19">
                  <c:v>439978</c:v>
                </c:pt>
                <c:pt idx="20">
                  <c:v>395825</c:v>
                </c:pt>
                <c:pt idx="21">
                  <c:v>392845</c:v>
                </c:pt>
              </c:numCache>
            </c:numRef>
          </c:val>
        </c:ser>
        <c:ser>
          <c:idx val="1"/>
          <c:order val="1"/>
          <c:tx>
            <c:strRef>
              <c:f>'[11.PD REPORT NOV-25 SHILPA.xlsx]Sheet3'!$D$83</c:f>
              <c:strCache>
                <c:ptCount val="1"/>
                <c:pt idx="0">
                  <c:v>Achie.Qty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'[11.PD REPORT NOV-25 SHILPA.xlsx]Sheet3'!$A$84:$B$105</c:f>
              <c:multiLvlStrCache>
                <c:ptCount val="22"/>
                <c:lvl>
                  <c:pt idx="0">
                    <c:v>2024</c:v>
                  </c:pt>
                  <c:pt idx="1">
                    <c:v>2025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2024</c:v>
                  </c:pt>
                  <c:pt idx="11">
                    <c:v>2025</c:v>
                  </c:pt>
                  <c:pt idx="12">
                    <c:v>2024</c:v>
                  </c:pt>
                  <c:pt idx="13">
                    <c:v>2025</c:v>
                  </c:pt>
                  <c:pt idx="14">
                    <c:v>2024</c:v>
                  </c:pt>
                  <c:pt idx="15">
                    <c:v>2025</c:v>
                  </c:pt>
                  <c:pt idx="16">
                    <c:v>2024</c:v>
                  </c:pt>
                  <c:pt idx="17">
                    <c:v>2025</c:v>
                  </c:pt>
                  <c:pt idx="18">
                    <c:v>2025</c:v>
                  </c:pt>
                  <c:pt idx="19">
                    <c:v>2026</c:v>
                  </c:pt>
                  <c:pt idx="20">
                    <c:v>2025</c:v>
                  </c:pt>
                  <c:pt idx="21">
                    <c:v>2025</c:v>
                  </c:pt>
                </c:lvl>
                <c:lvl>
                  <c:pt idx="0">
                    <c:v>April</c:v>
                  </c:pt>
                  <c:pt idx="2">
                    <c:v>May</c:v>
                  </c:pt>
                  <c:pt idx="4">
                    <c:v>June</c:v>
                  </c:pt>
                  <c:pt idx="6">
                    <c:v>July</c:v>
                  </c:pt>
                  <c:pt idx="8">
                    <c:v>August</c:v>
                  </c:pt>
                  <c:pt idx="10">
                    <c:v>September</c:v>
                  </c:pt>
                  <c:pt idx="12">
                    <c:v>October</c:v>
                  </c:pt>
                  <c:pt idx="14">
                    <c:v>November</c:v>
                  </c:pt>
                  <c:pt idx="16">
                    <c:v>December</c:v>
                  </c:pt>
                  <c:pt idx="18">
                    <c:v>January</c:v>
                  </c:pt>
                  <c:pt idx="20">
                    <c:v>February</c:v>
                  </c:pt>
                  <c:pt idx="21">
                    <c:v>March</c:v>
                  </c:pt>
                </c:lvl>
              </c:multiLvlStrCache>
            </c:multiLvlStrRef>
          </c:cat>
          <c:val>
            <c:numRef>
              <c:f>'[11.PD REPORT NOV-25 SHILPA.xlsx]Sheet3'!$D$84:$D$105</c:f>
              <c:numCache>
                <c:formatCode>General</c:formatCode>
                <c:ptCount val="22"/>
                <c:pt idx="0">
                  <c:v>255517</c:v>
                </c:pt>
                <c:pt idx="1">
                  <c:v>275681</c:v>
                </c:pt>
                <c:pt idx="2">
                  <c:v>307096</c:v>
                </c:pt>
                <c:pt idx="3">
                  <c:v>219345</c:v>
                </c:pt>
                <c:pt idx="4">
                  <c:v>282089</c:v>
                </c:pt>
                <c:pt idx="5">
                  <c:v>231290</c:v>
                </c:pt>
                <c:pt idx="6">
                  <c:v>270595</c:v>
                </c:pt>
                <c:pt idx="7">
                  <c:v>267465</c:v>
                </c:pt>
                <c:pt idx="8">
                  <c:v>197287</c:v>
                </c:pt>
                <c:pt idx="9">
                  <c:v>295438</c:v>
                </c:pt>
                <c:pt idx="10">
                  <c:v>243691</c:v>
                </c:pt>
                <c:pt idx="11">
                  <c:v>310693</c:v>
                </c:pt>
                <c:pt idx="12">
                  <c:v>370685</c:v>
                </c:pt>
                <c:pt idx="13">
                  <c:v>240741</c:v>
                </c:pt>
                <c:pt idx="14">
                  <c:v>280198</c:v>
                </c:pt>
                <c:pt idx="15">
                  <c:v>318999</c:v>
                </c:pt>
                <c:pt idx="16">
                  <c:v>369850</c:v>
                </c:pt>
                <c:pt idx="17">
                  <c:v>350693</c:v>
                </c:pt>
                <c:pt idx="18">
                  <c:v>327960</c:v>
                </c:pt>
                <c:pt idx="19">
                  <c:v>304318</c:v>
                </c:pt>
                <c:pt idx="20">
                  <c:v>272995</c:v>
                </c:pt>
                <c:pt idx="21">
                  <c:v>287539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9901508"/>
        <c:axId val="134670499"/>
      </c:barChart>
      <c:lineChart>
        <c:grouping val="standard"/>
        <c:varyColors val="0"/>
        <c:ser>
          <c:idx val="2"/>
          <c:order val="2"/>
          <c:tx>
            <c:strRef>
              <c:f>'[11.PD REPORT NOV-25 SHILPA.xlsx]Sheet3'!$E$83</c:f>
              <c:strCache>
                <c:ptCount val="1"/>
                <c:pt idx="0">
                  <c:v>Ach.%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'[11.PD REPORT NOV-25 SHILPA.xlsx]Sheet3'!$A$84:$B$105</c:f>
              <c:multiLvlStrCache>
                <c:ptCount val="22"/>
                <c:lvl>
                  <c:pt idx="0">
                    <c:v>2024</c:v>
                  </c:pt>
                  <c:pt idx="1">
                    <c:v>2025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2024</c:v>
                  </c:pt>
                  <c:pt idx="11">
                    <c:v>2025</c:v>
                  </c:pt>
                  <c:pt idx="12">
                    <c:v>2024</c:v>
                  </c:pt>
                  <c:pt idx="13">
                    <c:v>2025</c:v>
                  </c:pt>
                  <c:pt idx="14">
                    <c:v>2024</c:v>
                  </c:pt>
                  <c:pt idx="15">
                    <c:v>2025</c:v>
                  </c:pt>
                  <c:pt idx="16">
                    <c:v>2024</c:v>
                  </c:pt>
                  <c:pt idx="17">
                    <c:v>2025</c:v>
                  </c:pt>
                  <c:pt idx="18">
                    <c:v>2025</c:v>
                  </c:pt>
                  <c:pt idx="19">
                    <c:v>2026</c:v>
                  </c:pt>
                  <c:pt idx="20">
                    <c:v>2025</c:v>
                  </c:pt>
                  <c:pt idx="21">
                    <c:v>2025</c:v>
                  </c:pt>
                </c:lvl>
                <c:lvl>
                  <c:pt idx="0">
                    <c:v>April</c:v>
                  </c:pt>
                  <c:pt idx="2">
                    <c:v>May</c:v>
                  </c:pt>
                  <c:pt idx="4">
                    <c:v>June</c:v>
                  </c:pt>
                  <c:pt idx="6">
                    <c:v>July</c:v>
                  </c:pt>
                  <c:pt idx="8">
                    <c:v>August</c:v>
                  </c:pt>
                  <c:pt idx="10">
                    <c:v>September</c:v>
                  </c:pt>
                  <c:pt idx="12">
                    <c:v>October</c:v>
                  </c:pt>
                  <c:pt idx="14">
                    <c:v>November</c:v>
                  </c:pt>
                  <c:pt idx="16">
                    <c:v>December</c:v>
                  </c:pt>
                  <c:pt idx="18">
                    <c:v>January</c:v>
                  </c:pt>
                  <c:pt idx="20">
                    <c:v>February</c:v>
                  </c:pt>
                  <c:pt idx="21">
                    <c:v>March</c:v>
                  </c:pt>
                </c:lvl>
              </c:multiLvlStrCache>
            </c:multiLvlStrRef>
          </c:cat>
          <c:val>
            <c:numRef>
              <c:f>'[11.PD REPORT NOV-25 SHILPA.xlsx]Sheet3'!$E$84:$E$105</c:f>
              <c:numCache>
                <c:formatCode>0_ </c:formatCode>
                <c:ptCount val="22"/>
                <c:pt idx="0">
                  <c:v>69.6974160481603</c:v>
                </c:pt>
                <c:pt idx="1">
                  <c:v>81.5706313652853</c:v>
                </c:pt>
                <c:pt idx="2">
                  <c:v>82.4418791946309</c:v>
                </c:pt>
                <c:pt idx="3">
                  <c:v>72.000196950549</c:v>
                </c:pt>
                <c:pt idx="4">
                  <c:v>83.8218426667142</c:v>
                </c:pt>
                <c:pt idx="5">
                  <c:v>69.131352259345</c:v>
                </c:pt>
                <c:pt idx="6">
                  <c:v>63.5729304937213</c:v>
                </c:pt>
                <c:pt idx="7">
                  <c:v>61.3225391541197</c:v>
                </c:pt>
                <c:pt idx="8">
                  <c:v>63.5157801880809</c:v>
                </c:pt>
                <c:pt idx="9">
                  <c:v>67.992432959891</c:v>
                </c:pt>
                <c:pt idx="10">
                  <c:v>75.7872901544414</c:v>
                </c:pt>
                <c:pt idx="11">
                  <c:v>76.7262561830606</c:v>
                </c:pt>
                <c:pt idx="12">
                  <c:v>87.4318937660684</c:v>
                </c:pt>
                <c:pt idx="13">
                  <c:v>66.2402733906382</c:v>
                </c:pt>
                <c:pt idx="14">
                  <c:v>73.5742588036351</c:v>
                </c:pt>
                <c:pt idx="15">
                  <c:v>78.8822425376917</c:v>
                </c:pt>
                <c:pt idx="16">
                  <c:v>87.4463582735344</c:v>
                </c:pt>
                <c:pt idx="17">
                  <c:v>88.4485011122489</c:v>
                </c:pt>
                <c:pt idx="18">
                  <c:v>81.1629495441452</c:v>
                </c:pt>
                <c:pt idx="19">
                  <c:v>69.1666401501893</c:v>
                </c:pt>
                <c:pt idx="20">
                  <c:v>68.9686098654709</c:v>
                </c:pt>
                <c:pt idx="21">
                  <c:v>73.194007814787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'[11.PD REPORT NOV-25 SHILPA.xlsx]Sheet3'!$F$83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elete val="1"/>
          </c:dLbls>
          <c:cat>
            <c:multiLvlStrRef>
              <c:f>'[11.PD REPORT NOV-25 SHILPA.xlsx]Sheet3'!$A$84:$B$105</c:f>
              <c:multiLvlStrCache>
                <c:ptCount val="22"/>
                <c:lvl>
                  <c:pt idx="0">
                    <c:v>2024</c:v>
                  </c:pt>
                  <c:pt idx="1">
                    <c:v>2025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2024</c:v>
                  </c:pt>
                  <c:pt idx="11">
                    <c:v>2025</c:v>
                  </c:pt>
                  <c:pt idx="12">
                    <c:v>2024</c:v>
                  </c:pt>
                  <c:pt idx="13">
                    <c:v>2025</c:v>
                  </c:pt>
                  <c:pt idx="14">
                    <c:v>2024</c:v>
                  </c:pt>
                  <c:pt idx="15">
                    <c:v>2025</c:v>
                  </c:pt>
                  <c:pt idx="16">
                    <c:v>2024</c:v>
                  </c:pt>
                  <c:pt idx="17">
                    <c:v>2025</c:v>
                  </c:pt>
                  <c:pt idx="18">
                    <c:v>2025</c:v>
                  </c:pt>
                  <c:pt idx="19">
                    <c:v>2026</c:v>
                  </c:pt>
                  <c:pt idx="20">
                    <c:v>2025</c:v>
                  </c:pt>
                  <c:pt idx="21">
                    <c:v>2025</c:v>
                  </c:pt>
                </c:lvl>
                <c:lvl>
                  <c:pt idx="0">
                    <c:v>April</c:v>
                  </c:pt>
                  <c:pt idx="2">
                    <c:v>May</c:v>
                  </c:pt>
                  <c:pt idx="4">
                    <c:v>June</c:v>
                  </c:pt>
                  <c:pt idx="6">
                    <c:v>July</c:v>
                  </c:pt>
                  <c:pt idx="8">
                    <c:v>August</c:v>
                  </c:pt>
                  <c:pt idx="10">
                    <c:v>September</c:v>
                  </c:pt>
                  <c:pt idx="12">
                    <c:v>October</c:v>
                  </c:pt>
                  <c:pt idx="14">
                    <c:v>November</c:v>
                  </c:pt>
                  <c:pt idx="16">
                    <c:v>December</c:v>
                  </c:pt>
                  <c:pt idx="18">
                    <c:v>January</c:v>
                  </c:pt>
                  <c:pt idx="20">
                    <c:v>February</c:v>
                  </c:pt>
                  <c:pt idx="21">
                    <c:v>March</c:v>
                  </c:pt>
                </c:lvl>
              </c:multiLvlStrCache>
            </c:multiLvlStrRef>
          </c:cat>
          <c:val>
            <c:numRef>
              <c:f>'[11.PD REPORT NOV-25 SHILPA.xlsx]Sheet3'!$F$84:$F$105</c:f>
              <c:numCache>
                <c:formatCode>0_ </c:formatCode>
                <c:ptCount val="2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  <c:pt idx="14">
                  <c:v>95</c:v>
                </c:pt>
                <c:pt idx="15">
                  <c:v>95</c:v>
                </c:pt>
                <c:pt idx="16">
                  <c:v>95</c:v>
                </c:pt>
                <c:pt idx="17">
                  <c:v>95</c:v>
                </c:pt>
                <c:pt idx="18">
                  <c:v>95</c:v>
                </c:pt>
                <c:pt idx="19">
                  <c:v>95</c:v>
                </c:pt>
                <c:pt idx="20">
                  <c:v>95</c:v>
                </c:pt>
                <c:pt idx="21">
                  <c:v>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0248490"/>
        <c:axId val="954338893"/>
      </c:lineChart>
      <c:catAx>
        <c:axId val="9099015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4670499"/>
        <c:crosses val="autoZero"/>
        <c:auto val="1"/>
        <c:lblAlgn val="ctr"/>
        <c:lblOffset val="100"/>
        <c:noMultiLvlLbl val="0"/>
      </c:catAx>
      <c:valAx>
        <c:axId val="1346704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9901508"/>
        <c:crosses val="autoZero"/>
        <c:crossBetween val="between"/>
      </c:valAx>
      <c:catAx>
        <c:axId val="410248490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4338893"/>
        <c:crosses val="autoZero"/>
        <c:auto val="1"/>
        <c:lblAlgn val="ctr"/>
        <c:lblOffset val="100"/>
        <c:noMultiLvlLbl val="0"/>
      </c:catAx>
      <c:valAx>
        <c:axId val="954338893"/>
        <c:scaling>
          <c:orientation val="minMax"/>
        </c:scaling>
        <c:delete val="0"/>
        <c:axPos val="r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10248490"/>
        <c:crosses val="max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1"/>
              <a:t>Section production out put</a:t>
            </a:r>
            <a:endParaRPr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backup.xlsx]Sheet1'!$B$69</c:f>
              <c:strCache>
                <c:ptCount val="1"/>
                <c:pt idx="0">
                  <c:v>Production Qty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backup.xlsx]Sheet1'!$A$70:$A$73</c:f>
              <c:strCache>
                <c:ptCount val="4"/>
                <c:pt idx="0">
                  <c:v>IG</c:v>
                </c:pt>
                <c:pt idx="1">
                  <c:v>EG</c:v>
                </c:pt>
                <c:pt idx="2">
                  <c:v>CG</c:v>
                </c:pt>
                <c:pt idx="3">
                  <c:v>FG</c:v>
                </c:pt>
              </c:strCache>
            </c:strRef>
          </c:cat>
          <c:val>
            <c:numRef>
              <c:f>'[All kpi backup.xlsx]Sheet1'!$B$70:$B$73</c:f>
              <c:numCache>
                <c:formatCode>0_ </c:formatCode>
                <c:ptCount val="4"/>
                <c:pt idx="0">
                  <c:v>283731</c:v>
                </c:pt>
                <c:pt idx="1">
                  <c:v>91991</c:v>
                </c:pt>
                <c:pt idx="2">
                  <c:v>584932</c:v>
                </c:pt>
                <c:pt idx="3">
                  <c:v>454175</c:v>
                </c:pt>
              </c:numCache>
            </c:numRef>
          </c:val>
        </c:ser>
        <c:ser>
          <c:idx val="1"/>
          <c:order val="1"/>
          <c:tx>
            <c:strRef>
              <c:f>'[All kpi backup.xlsx]Sheet1'!$D$69</c:f>
              <c:strCache>
                <c:ptCount val="1"/>
                <c:pt idx="0">
                  <c:v>Rejection%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backup.xlsx]Sheet1'!$A$70:$A$73</c:f>
              <c:strCache>
                <c:ptCount val="4"/>
                <c:pt idx="0">
                  <c:v>IG</c:v>
                </c:pt>
                <c:pt idx="1">
                  <c:v>EG</c:v>
                </c:pt>
                <c:pt idx="2">
                  <c:v>CG</c:v>
                </c:pt>
                <c:pt idx="3">
                  <c:v>FG</c:v>
                </c:pt>
              </c:strCache>
            </c:strRef>
          </c:cat>
          <c:val>
            <c:numRef>
              <c:f>'[All kpi backup.xlsx]Sheet1'!$D$70:$D$73</c:f>
              <c:numCache>
                <c:formatCode>0.00_ </c:formatCode>
                <c:ptCount val="4"/>
                <c:pt idx="0">
                  <c:v>1.91730900042646</c:v>
                </c:pt>
                <c:pt idx="1">
                  <c:v>0.133708732375993</c:v>
                </c:pt>
                <c:pt idx="2">
                  <c:v>0.102063145801563</c:v>
                </c:pt>
                <c:pt idx="3">
                  <c:v>0.0184950734848902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317485787"/>
        <c:axId val="465789685"/>
      </c:barChart>
      <c:catAx>
        <c:axId val="31748578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65789685"/>
        <c:crosses val="autoZero"/>
        <c:auto val="1"/>
        <c:lblAlgn val="ctr"/>
        <c:lblOffset val="100"/>
        <c:noMultiLvlLbl val="0"/>
      </c:catAx>
      <c:valAx>
        <c:axId val="46578968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74857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Section Rejection April-Feb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backup.xlsx]Feb.26'!$H$138</c:f>
              <c:strCache>
                <c:ptCount val="1"/>
                <c:pt idx="0">
                  <c:v>Reje%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backup.xlsx]Feb.26'!$A$139:$A$149</c:f>
              <c:strCache>
                <c:ptCount val="11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</c:strCache>
            </c:strRef>
          </c:cat>
          <c:val>
            <c:numRef>
              <c:f>'[All kpi backup.xlsx]Feb.26'!$H$139:$H$149</c:f>
              <c:numCache>
                <c:formatCode>0.00_ </c:formatCode>
                <c:ptCount val="11"/>
                <c:pt idx="0">
                  <c:v>1.89809562887693</c:v>
                </c:pt>
                <c:pt idx="1">
                  <c:v>1.20980817680661</c:v>
                </c:pt>
                <c:pt idx="2">
                  <c:v>1.75131348511384</c:v>
                </c:pt>
                <c:pt idx="3">
                  <c:v>1.26240644406219</c:v>
                </c:pt>
                <c:pt idx="4">
                  <c:v>1.7021162890124</c:v>
                </c:pt>
                <c:pt idx="5">
                  <c:v>1.99604886436852</c:v>
                </c:pt>
                <c:pt idx="6">
                  <c:v>1.90142868336511</c:v>
                </c:pt>
                <c:pt idx="7">
                  <c:v>1.45581550965783</c:v>
                </c:pt>
                <c:pt idx="8">
                  <c:v>1.94621984222952</c:v>
                </c:pt>
                <c:pt idx="9">
                  <c:v>2.39083336525651</c:v>
                </c:pt>
                <c:pt idx="10">
                  <c:v>1.91730900042646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844836282"/>
        <c:axId val="339351588"/>
      </c:barChart>
      <c:catAx>
        <c:axId val="84483628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9351588"/>
        <c:crosses val="autoZero"/>
        <c:auto val="1"/>
        <c:lblAlgn val="ctr"/>
        <c:lblOffset val="100"/>
        <c:noMultiLvlLbl val="0"/>
      </c:catAx>
      <c:valAx>
        <c:axId val="3393515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4483628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machine Reje%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backup.xlsx]Feb.26'!$D$76</c:f>
              <c:strCache>
                <c:ptCount val="1"/>
                <c:pt idx="0">
                  <c:v>Reje%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backup.xlsx]Feb.26'!$A$77:$A$88</c:f>
              <c:strCache>
                <c:ptCount val="12"/>
                <c:pt idx="0">
                  <c:v>IG.11</c:v>
                </c:pt>
                <c:pt idx="1">
                  <c:v>IG.17</c:v>
                </c:pt>
                <c:pt idx="2">
                  <c:v>IG.18</c:v>
                </c:pt>
                <c:pt idx="3">
                  <c:v>IG.04</c:v>
                </c:pt>
                <c:pt idx="4">
                  <c:v>IG.01</c:v>
                </c:pt>
                <c:pt idx="5">
                  <c:v>IG.15</c:v>
                </c:pt>
                <c:pt idx="6">
                  <c:v>IG.13</c:v>
                </c:pt>
                <c:pt idx="7">
                  <c:v>IG.12</c:v>
                </c:pt>
                <c:pt idx="8">
                  <c:v>IG.19</c:v>
                </c:pt>
                <c:pt idx="9">
                  <c:v>IG.16</c:v>
                </c:pt>
                <c:pt idx="10">
                  <c:v>IG.20</c:v>
                </c:pt>
                <c:pt idx="11">
                  <c:v>IG.14</c:v>
                </c:pt>
              </c:strCache>
            </c:strRef>
          </c:cat>
          <c:val>
            <c:numRef>
              <c:f>'[All kpi backup.xlsx]Feb.26'!$D$77:$D$88</c:f>
              <c:numCache>
                <c:formatCode>0.00_ </c:formatCode>
                <c:ptCount val="12"/>
                <c:pt idx="0">
                  <c:v>4.3298587553198</c:v>
                </c:pt>
                <c:pt idx="1">
                  <c:v>3.1826646351786</c:v>
                </c:pt>
                <c:pt idx="2">
                  <c:v>2.96591232275627</c:v>
                </c:pt>
                <c:pt idx="3">
                  <c:v>2.70537479777099</c:v>
                </c:pt>
                <c:pt idx="4">
                  <c:v>2.58492030326548</c:v>
                </c:pt>
                <c:pt idx="5">
                  <c:v>2.25944022368458</c:v>
                </c:pt>
                <c:pt idx="6">
                  <c:v>1.8273606370876</c:v>
                </c:pt>
                <c:pt idx="7">
                  <c:v>1.51999431777825</c:v>
                </c:pt>
                <c:pt idx="8">
                  <c:v>1.01161483701761</c:v>
                </c:pt>
                <c:pt idx="9">
                  <c:v>0.755361193611001</c:v>
                </c:pt>
                <c:pt idx="10">
                  <c:v>0.699070647257176</c:v>
                </c:pt>
                <c:pt idx="11">
                  <c:v>0.423889032617565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76205235"/>
        <c:axId val="571395267"/>
      </c:barChart>
      <c:catAx>
        <c:axId val="47620523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71395267"/>
        <c:crosses val="autoZero"/>
        <c:auto val="1"/>
        <c:lblAlgn val="ctr"/>
        <c:lblOffset val="100"/>
        <c:noMultiLvlLbl val="0"/>
      </c:catAx>
      <c:valAx>
        <c:axId val="5713952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620523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1"/>
              <a:t>IG Section Produced Qty</a:t>
            </a:r>
            <a:endParaRPr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backup.xlsx]Feb.26'!$E$138</c:f>
              <c:strCache>
                <c:ptCount val="1"/>
                <c:pt idx="0">
                  <c:v>Total Qty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backup.xlsx]Feb.26'!$A$139:$A$149</c:f>
              <c:strCache>
                <c:ptCount val="11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</c:strCache>
            </c:strRef>
          </c:cat>
          <c:val>
            <c:numRef>
              <c:f>'[All kpi backup.xlsx]Feb.26'!$E$139:$E$149</c:f>
              <c:numCache>
                <c:formatCode>General</c:formatCode>
                <c:ptCount val="11"/>
                <c:pt idx="0">
                  <c:v>207155</c:v>
                </c:pt>
                <c:pt idx="1">
                  <c:v>200445</c:v>
                </c:pt>
                <c:pt idx="2">
                  <c:v>215838</c:v>
                </c:pt>
                <c:pt idx="3">
                  <c:v>240097</c:v>
                </c:pt>
                <c:pt idx="4">
                  <c:v>187120</c:v>
                </c:pt>
                <c:pt idx="5">
                  <c:v>234363</c:v>
                </c:pt>
                <c:pt idx="6">
                  <c:v>191435</c:v>
                </c:pt>
                <c:pt idx="7">
                  <c:v>245086</c:v>
                </c:pt>
                <c:pt idx="8">
                  <c:v>277872</c:v>
                </c:pt>
                <c:pt idx="9">
                  <c:v>234939</c:v>
                </c:pt>
                <c:pt idx="10" c:formatCode="0_ ">
                  <c:v>283731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744711191"/>
        <c:axId val="288516676"/>
      </c:barChart>
      <c:catAx>
        <c:axId val="7447111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8516676"/>
        <c:crosses val="autoZero"/>
        <c:auto val="1"/>
        <c:lblAlgn val="ctr"/>
        <c:lblOffset val="100"/>
        <c:noMultiLvlLbl val="0"/>
      </c:catAx>
      <c:valAx>
        <c:axId val="2885166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471119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Most Contributor Item for Rejection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backup.xlsx]Feb.26'!$D$108</c:f>
              <c:strCache>
                <c:ptCount val="1"/>
                <c:pt idx="0">
                  <c:v>Rejection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'[All kpi backup.xlsx]Feb.26'!$A$113:$A$119</c:f>
              <c:numCache>
                <c:formatCode>0.00</c:formatCode>
                <c:ptCount val="7"/>
                <c:pt idx="0" c:formatCode="0.00">
                  <c:v>100299.14</c:v>
                </c:pt>
                <c:pt idx="1" c:formatCode="0.00">
                  <c:v>100261</c:v>
                </c:pt>
                <c:pt idx="2" c:formatCode="0.00">
                  <c:v>208417</c:v>
                </c:pt>
                <c:pt idx="3" c:formatCode="0.00">
                  <c:v>104299</c:v>
                </c:pt>
                <c:pt idx="4" c:formatCode="0.00">
                  <c:v>208448</c:v>
                </c:pt>
                <c:pt idx="5" c:formatCode="0.00">
                  <c:v>104249</c:v>
                </c:pt>
                <c:pt idx="6" c:formatCode="0.00">
                  <c:v>200827.1</c:v>
                </c:pt>
              </c:numCache>
            </c:numRef>
          </c:cat>
          <c:val>
            <c:numRef>
              <c:f>'[All kpi backup.xlsx]Feb.26'!$D$113:$D$119</c:f>
              <c:numCache>
                <c:formatCode>0.00_ </c:formatCode>
                <c:ptCount val="7"/>
                <c:pt idx="0">
                  <c:v>4.78379857690202</c:v>
                </c:pt>
                <c:pt idx="1">
                  <c:v>4.41279272981475</c:v>
                </c:pt>
                <c:pt idx="2">
                  <c:v>3.71662744461576</c:v>
                </c:pt>
                <c:pt idx="3">
                  <c:v>3.17578745904564</c:v>
                </c:pt>
                <c:pt idx="4">
                  <c:v>2.82539682539682</c:v>
                </c:pt>
                <c:pt idx="5">
                  <c:v>1.75894684440511</c:v>
                </c:pt>
                <c:pt idx="6">
                  <c:v>0.929882874327319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818538109"/>
        <c:axId val="673498300"/>
      </c:barChart>
      <c:catAx>
        <c:axId val="81853810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73498300"/>
        <c:crosses val="autoZero"/>
        <c:auto val="1"/>
        <c:lblAlgn val="ctr"/>
        <c:lblOffset val="100"/>
        <c:noMultiLvlLbl val="0"/>
      </c:catAx>
      <c:valAx>
        <c:axId val="6734983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853810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Section Down Time of January 26 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backup.xlsx]Feb.26'!$A$233</c:f>
              <c:strCache>
                <c:ptCount val="1"/>
                <c:pt idx="0">
                  <c:v>Down 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backup.xlsx]Feb.26'!$A$255:$A$269</c:f>
              <c:strCache>
                <c:ptCount val="15"/>
                <c:pt idx="0">
                  <c:v>Sum of No Operator   13</c:v>
                </c:pt>
                <c:pt idx="1">
                  <c:v>Sum of No Material  14(EXTERNAL)</c:v>
                </c:pt>
                <c:pt idx="2">
                  <c:v>Sum of RE SETTING,LODING</c:v>
                </c:pt>
                <c:pt idx="3">
                  <c:v>Sum of No Material  14(INTERNAL)</c:v>
                </c:pt>
                <c:pt idx="4">
                  <c:v>Sum of No Power   24</c:v>
                </c:pt>
                <c:pt idx="5">
                  <c:v>Sum of Other  27</c:v>
                </c:pt>
                <c:pt idx="6">
                  <c:v>Sum of Taper Problem  11Tp</c:v>
                </c:pt>
                <c:pt idx="7">
                  <c:v>Sum of Size variation Problem  11 Sv
IPG Pro</c:v>
                </c:pt>
                <c:pt idx="8">
                  <c:v>Sum of Diamond Turn  11Dt</c:v>
                </c:pt>
                <c:pt idx="9">
                  <c:v>Sum of Ovality Problem 11Ov</c:v>
                </c:pt>
                <c:pt idx="10">
                  <c:v>Sum of Raadiua Problem  11Rd</c:v>
                </c:pt>
                <c:pt idx="11">
                  <c:v>Sum of Mech.Maint.21</c:v>
                </c:pt>
                <c:pt idx="12">
                  <c:v>Sum of Tool Waiting   12</c:v>
                </c:pt>
                <c:pt idx="13">
                  <c:v>Sum of Diamond change 11Dc</c:v>
                </c:pt>
                <c:pt idx="14">
                  <c:v>Sum of Elec. Maint.  22</c:v>
                </c:pt>
              </c:strCache>
            </c:strRef>
          </c:cat>
          <c:val>
            <c:numRef>
              <c:f>'[All kpi backup.xlsx]Feb.26'!$B$255:$B$269</c:f>
              <c:numCache>
                <c:formatCode>0_ </c:formatCode>
                <c:ptCount val="15"/>
                <c:pt idx="0">
                  <c:v>25790</c:v>
                </c:pt>
                <c:pt idx="1">
                  <c:v>11760</c:v>
                </c:pt>
                <c:pt idx="2">
                  <c:v>6270</c:v>
                </c:pt>
                <c:pt idx="3">
                  <c:v>2665</c:v>
                </c:pt>
                <c:pt idx="4">
                  <c:v>2375</c:v>
                </c:pt>
                <c:pt idx="5">
                  <c:v>2095</c:v>
                </c:pt>
                <c:pt idx="6">
                  <c:v>1825</c:v>
                </c:pt>
                <c:pt idx="7">
                  <c:v>1810</c:v>
                </c:pt>
                <c:pt idx="8">
                  <c:v>1010</c:v>
                </c:pt>
                <c:pt idx="9">
                  <c:v>835</c:v>
                </c:pt>
                <c:pt idx="10">
                  <c:v>595</c:v>
                </c:pt>
                <c:pt idx="11">
                  <c:v>210</c:v>
                </c:pt>
                <c:pt idx="12">
                  <c:v>160</c:v>
                </c:pt>
                <c:pt idx="13">
                  <c:v>105</c:v>
                </c:pt>
                <c:pt idx="14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873754201"/>
        <c:axId val="370654633"/>
      </c:barChart>
      <c:catAx>
        <c:axId val="873754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70654633"/>
        <c:crosses val="autoZero"/>
        <c:auto val="1"/>
        <c:lblAlgn val="ctr"/>
        <c:lblOffset val="100"/>
        <c:noMultiLvlLbl val="0"/>
      </c:catAx>
      <c:valAx>
        <c:axId val="37065463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7375420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Section Down time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backup.xlsx]Feb.26'!$A$233</c:f>
              <c:strCache>
                <c:ptCount val="1"/>
                <c:pt idx="0">
                  <c:v>Down 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backup.xlsx]Feb.26'!$A$234:$A$249</c:f>
              <c:strCache>
                <c:ptCount val="16"/>
                <c:pt idx="0">
                  <c:v>Sum of No Operator   13</c:v>
                </c:pt>
                <c:pt idx="1">
                  <c:v>Sum of No Material  14(EXTERNAL)</c:v>
                </c:pt>
                <c:pt idx="2">
                  <c:v>Sum of RE SETTING,LODING</c:v>
                </c:pt>
                <c:pt idx="3">
                  <c:v>Sum of Mech.Maint.21</c:v>
                </c:pt>
                <c:pt idx="4">
                  <c:v>Sum of No Material  14(INTERNAL)</c:v>
                </c:pt>
                <c:pt idx="5">
                  <c:v>Sum of No Power   24</c:v>
                </c:pt>
                <c:pt idx="6">
                  <c:v>Sum of Taper Problem  11Tp</c:v>
                </c:pt>
                <c:pt idx="7">
                  <c:v>Sum of Size variation Problem  11 Sv
IPG Pro</c:v>
                </c:pt>
                <c:pt idx="8">
                  <c:v>Sum of Other  27</c:v>
                </c:pt>
                <c:pt idx="9">
                  <c:v>Sum of Ovality Problem 11Ov</c:v>
                </c:pt>
                <c:pt idx="10">
                  <c:v>Sum of Elec. Maint.  22</c:v>
                </c:pt>
                <c:pt idx="11">
                  <c:v>Sum of Diamond Turn  11Dt</c:v>
                </c:pt>
                <c:pt idx="12">
                  <c:v>Sum of Ra Problem  11Ra</c:v>
                </c:pt>
                <c:pt idx="13">
                  <c:v>Sum of Diamond change 11Dc</c:v>
                </c:pt>
                <c:pt idx="14">
                  <c:v>Sum of Tool Waiting   12</c:v>
                </c:pt>
                <c:pt idx="15">
                  <c:v>Sum of Raadiua Problem  11Rd</c:v>
                </c:pt>
              </c:strCache>
            </c:strRef>
          </c:cat>
          <c:val>
            <c:numRef>
              <c:f>'[All kpi backup.xlsx]Feb.26'!$B$234:$B$249</c:f>
              <c:numCache>
                <c:formatCode>0_ </c:formatCode>
                <c:ptCount val="16"/>
                <c:pt idx="0">
                  <c:v>65115</c:v>
                </c:pt>
                <c:pt idx="1">
                  <c:v>11520</c:v>
                </c:pt>
                <c:pt idx="2">
                  <c:v>5515</c:v>
                </c:pt>
                <c:pt idx="3">
                  <c:v>3770</c:v>
                </c:pt>
                <c:pt idx="4">
                  <c:v>3040</c:v>
                </c:pt>
                <c:pt idx="5">
                  <c:v>2900</c:v>
                </c:pt>
                <c:pt idx="6">
                  <c:v>2435</c:v>
                </c:pt>
                <c:pt idx="7">
                  <c:v>2370</c:v>
                </c:pt>
                <c:pt idx="8">
                  <c:v>2365</c:v>
                </c:pt>
                <c:pt idx="9">
                  <c:v>1530</c:v>
                </c:pt>
                <c:pt idx="10">
                  <c:v>1325</c:v>
                </c:pt>
                <c:pt idx="11">
                  <c:v>1240</c:v>
                </c:pt>
                <c:pt idx="12">
                  <c:v>290</c:v>
                </c:pt>
                <c:pt idx="13">
                  <c:v>135</c:v>
                </c:pt>
                <c:pt idx="14">
                  <c:v>110</c:v>
                </c:pt>
                <c:pt idx="15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78553683"/>
        <c:axId val="351549479"/>
      </c:barChart>
      <c:catAx>
        <c:axId val="785536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1549479"/>
        <c:crosses val="autoZero"/>
        <c:auto val="1"/>
        <c:lblAlgn val="ctr"/>
        <c:lblOffset val="100"/>
        <c:noMultiLvlLbl val="0"/>
      </c:catAx>
      <c:valAx>
        <c:axId val="351549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855368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All Section Jan-26 Down time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backup.xlsx]Feb.26'!$B$322</c:f>
              <c:strCache>
                <c:ptCount val="1"/>
                <c:pt idx="0">
                  <c:v>Total 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backup.xlsx]Feb.26'!$C$316:$S$316</c:f>
              <c:strCache>
                <c:ptCount val="17"/>
                <c:pt idx="0">
                  <c:v>Sum of RE SETTING,LODING</c:v>
                </c:pt>
                <c:pt idx="1">
                  <c:v>Sum of Ovality Problem 11Ov</c:v>
                </c:pt>
                <c:pt idx="2">
                  <c:v>Sum of Taper Problem  11Tp</c:v>
                </c:pt>
                <c:pt idx="3">
                  <c:v>Sum of Ra Problem  11Ra</c:v>
                </c:pt>
                <c:pt idx="4">
                  <c:v>Sum of Raadiua Problem  11Rd</c:v>
                </c:pt>
                <c:pt idx="5">
                  <c:v>Sum of Size variation Problem  11 Sv
IPG Pro</c:v>
                </c:pt>
                <c:pt idx="6">
                  <c:v>Sum of Diamond Turn  11Dt</c:v>
                </c:pt>
                <c:pt idx="7">
                  <c:v>Sum of Diamond change 11Dc</c:v>
                </c:pt>
                <c:pt idx="8">
                  <c:v>Sum of Tool Waiting   12</c:v>
                </c:pt>
                <c:pt idx="9">
                  <c:v>Sum of Finishing Problem 11Fn</c:v>
                </c:pt>
                <c:pt idx="10">
                  <c:v>Sum of No Operator   13</c:v>
                </c:pt>
                <c:pt idx="11">
                  <c:v>Sum of No Power   24</c:v>
                </c:pt>
                <c:pt idx="12">
                  <c:v>Sum of Mech.Maint.21</c:v>
                </c:pt>
                <c:pt idx="13">
                  <c:v>Sum of Elec. Maint.  22</c:v>
                </c:pt>
                <c:pt idx="14">
                  <c:v>Sum of No Material  14(INTERNAL)</c:v>
                </c:pt>
                <c:pt idx="15">
                  <c:v>Sum of No Material  14(EXTERNAL)</c:v>
                </c:pt>
                <c:pt idx="16">
                  <c:v>Sum of Other  27</c:v>
                </c:pt>
              </c:strCache>
            </c:strRef>
          </c:cat>
          <c:val>
            <c:numRef>
              <c:f>'[All kpi backup.xlsx]Feb.26'!$C$322:$S$322</c:f>
              <c:numCache>
                <c:formatCode>General</c:formatCode>
                <c:ptCount val="17"/>
                <c:pt idx="0">
                  <c:v>18355</c:v>
                </c:pt>
                <c:pt idx="1">
                  <c:v>1160</c:v>
                </c:pt>
                <c:pt idx="2">
                  <c:v>2745</c:v>
                </c:pt>
                <c:pt idx="3">
                  <c:v>30</c:v>
                </c:pt>
                <c:pt idx="4">
                  <c:v>595</c:v>
                </c:pt>
                <c:pt idx="5">
                  <c:v>2260</c:v>
                </c:pt>
                <c:pt idx="6">
                  <c:v>1185</c:v>
                </c:pt>
                <c:pt idx="7">
                  <c:v>115</c:v>
                </c:pt>
                <c:pt idx="8">
                  <c:v>220</c:v>
                </c:pt>
                <c:pt idx="9">
                  <c:v>0</c:v>
                </c:pt>
                <c:pt idx="10">
                  <c:v>146535</c:v>
                </c:pt>
                <c:pt idx="11">
                  <c:v>5695</c:v>
                </c:pt>
                <c:pt idx="12">
                  <c:v>4995</c:v>
                </c:pt>
                <c:pt idx="13">
                  <c:v>5555</c:v>
                </c:pt>
                <c:pt idx="14">
                  <c:v>12015</c:v>
                </c:pt>
                <c:pt idx="15">
                  <c:v>15120</c:v>
                </c:pt>
                <c:pt idx="16">
                  <c:v>7200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427142"/>
        <c:axId val="768596864"/>
      </c:barChart>
      <c:catAx>
        <c:axId val="13442714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68596864"/>
        <c:crosses val="autoZero"/>
        <c:auto val="1"/>
        <c:lblAlgn val="ctr"/>
        <c:lblOffset val="100"/>
        <c:noMultiLvlLbl val="0"/>
      </c:catAx>
      <c:valAx>
        <c:axId val="7685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442714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176122969098439"/>
          <c:y val="0.0582605076987099"/>
          <c:w val="0.806355527237974"/>
          <c:h val="0.4562213899292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backup.xlsx]Feb.26'!$A$307</c:f>
              <c:strCache>
                <c:ptCount val="1"/>
                <c:pt idx="0">
                  <c:v>Down Time All Section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backup.xlsx]Feb.26'!$C$307:$S$307</c:f>
              <c:strCache>
                <c:ptCount val="17"/>
                <c:pt idx="0">
                  <c:v>Sum of RE SETTING,LODING</c:v>
                </c:pt>
                <c:pt idx="1">
                  <c:v>Sum of No Material  14(EXTERNAL)</c:v>
                </c:pt>
                <c:pt idx="2">
                  <c:v>Sum of Ovality Problem 11Ov</c:v>
                </c:pt>
                <c:pt idx="3">
                  <c:v>Sum of No Material  14(INTERNAL)</c:v>
                </c:pt>
                <c:pt idx="4">
                  <c:v>Sum of Taper Problem  11Tp</c:v>
                </c:pt>
                <c:pt idx="5">
                  <c:v>Sum of Ra Problem  11Ra</c:v>
                </c:pt>
                <c:pt idx="6">
                  <c:v>Sum of Raadiua Problem  11Rd</c:v>
                </c:pt>
                <c:pt idx="7">
                  <c:v>Sum of Size variation Problem  11 Sv
IPG Pro</c:v>
                </c:pt>
                <c:pt idx="8">
                  <c:v>Sum of Diamond Turn  11Dt</c:v>
                </c:pt>
                <c:pt idx="9">
                  <c:v>Sum of Diamond change 11Dc</c:v>
                </c:pt>
                <c:pt idx="10">
                  <c:v>Sum of Tool Waiting   12</c:v>
                </c:pt>
                <c:pt idx="11">
                  <c:v>Sum of Finishing Problem 11Fn</c:v>
                </c:pt>
                <c:pt idx="12">
                  <c:v>Sum of No Operator   13</c:v>
                </c:pt>
                <c:pt idx="13">
                  <c:v>Sum of No Power   24</c:v>
                </c:pt>
                <c:pt idx="14">
                  <c:v>Sum of Mech.Maint.21</c:v>
                </c:pt>
                <c:pt idx="15">
                  <c:v>Sum of Elec. Maint.  22</c:v>
                </c:pt>
                <c:pt idx="16">
                  <c:v>Sum of Other  27</c:v>
                </c:pt>
              </c:strCache>
            </c:strRef>
          </c:cat>
          <c:val>
            <c:numRef>
              <c:f>'[All kpi backup.xlsx]Feb.26'!$C$313:$S$313</c:f>
              <c:numCache>
                <c:formatCode>General</c:formatCode>
                <c:ptCount val="17"/>
                <c:pt idx="0">
                  <c:v>17205</c:v>
                </c:pt>
                <c:pt idx="1">
                  <c:v>28320</c:v>
                </c:pt>
                <c:pt idx="2">
                  <c:v>1580</c:v>
                </c:pt>
                <c:pt idx="3">
                  <c:v>19690</c:v>
                </c:pt>
                <c:pt idx="4">
                  <c:v>2460</c:v>
                </c:pt>
                <c:pt idx="5">
                  <c:v>290</c:v>
                </c:pt>
                <c:pt idx="6">
                  <c:v>190</c:v>
                </c:pt>
                <c:pt idx="7">
                  <c:v>2455</c:v>
                </c:pt>
                <c:pt idx="8">
                  <c:v>1240</c:v>
                </c:pt>
                <c:pt idx="9">
                  <c:v>135</c:v>
                </c:pt>
                <c:pt idx="10">
                  <c:v>240</c:v>
                </c:pt>
                <c:pt idx="11">
                  <c:v>0</c:v>
                </c:pt>
                <c:pt idx="12">
                  <c:v>203240</c:v>
                </c:pt>
                <c:pt idx="13">
                  <c:v>6525</c:v>
                </c:pt>
                <c:pt idx="14">
                  <c:v>6310</c:v>
                </c:pt>
                <c:pt idx="15">
                  <c:v>4835</c:v>
                </c:pt>
                <c:pt idx="16">
                  <c:v>5030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993215993"/>
        <c:axId val="757256302"/>
      </c:barChart>
      <c:catAx>
        <c:axId val="9932159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7256302"/>
        <c:crosses val="autoZero"/>
        <c:auto val="1"/>
        <c:lblAlgn val="ctr"/>
        <c:lblOffset val="100"/>
        <c:noMultiLvlLbl val="0"/>
      </c:catAx>
      <c:valAx>
        <c:axId val="7572563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321599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Honning Section Down Time</a:t>
            </a:r>
          </a:p>
        </c:rich>
      </c:tx>
      <c:layout>
        <c:manualLayout>
          <c:xMode val="edge"/>
          <c:yMode val="edge"/>
          <c:x val="0.432689479360722"/>
          <c:y val="0.026761819803746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064123933719"/>
          <c:y val="0.170606601248885"/>
          <c:w val="0.840729483282675"/>
          <c:h val="0.6513380909901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'[1.PD REPORT JAN-2026 SHILPA.xlsx]Sheet3'!$B$143</c:f>
              <c:strCache>
                <c:ptCount val="1"/>
                <c:pt idx="0">
                  <c:v>Down 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'[1.PD REPORT JAN-2026 SHILPA.xlsx]Sheet3'!$A$144:$A$152</c:f>
              <c:strCache>
                <c:ptCount val="9"/>
                <c:pt idx="0">
                  <c:v>HO.09 OR</c:v>
                </c:pt>
                <c:pt idx="1">
                  <c:v>HO.09 IR</c:v>
                </c:pt>
                <c:pt idx="2">
                  <c:v>HO.07 OR</c:v>
                </c:pt>
                <c:pt idx="3">
                  <c:v>HO.06</c:v>
                </c:pt>
                <c:pt idx="4">
                  <c:v>HO.07 IR</c:v>
                </c:pt>
                <c:pt idx="5">
                  <c:v>HO.02</c:v>
                </c:pt>
                <c:pt idx="6">
                  <c:v>HO.08 IR</c:v>
                </c:pt>
                <c:pt idx="7">
                  <c:v>HO.08 OR</c:v>
                </c:pt>
                <c:pt idx="8">
                  <c:v>HO.03</c:v>
                </c:pt>
              </c:strCache>
            </c:strRef>
          </c:cat>
          <c:val>
            <c:numRef>
              <c:f>'[1.PD REPORT JAN-2026 SHILPA.xlsx]Sheet3'!$B$144:$B$152</c:f>
              <c:numCache>
                <c:formatCode>0_ </c:formatCode>
                <c:ptCount val="9"/>
                <c:pt idx="0">
                  <c:v>1875</c:v>
                </c:pt>
                <c:pt idx="1">
                  <c:v>1550</c:v>
                </c:pt>
                <c:pt idx="2">
                  <c:v>1195</c:v>
                </c:pt>
                <c:pt idx="3">
                  <c:v>1075</c:v>
                </c:pt>
                <c:pt idx="4">
                  <c:v>905</c:v>
                </c:pt>
                <c:pt idx="5">
                  <c:v>645</c:v>
                </c:pt>
                <c:pt idx="6">
                  <c:v>425</c:v>
                </c:pt>
                <c:pt idx="7">
                  <c:v>230</c:v>
                </c:pt>
                <c:pt idx="8">
                  <c:v>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0160580"/>
        <c:axId val="341209699"/>
      </c:barChart>
      <c:catAx>
        <c:axId val="6001605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41209699"/>
        <c:crosses val="autoZero"/>
        <c:auto val="1"/>
        <c:lblAlgn val="ctr"/>
        <c:lblOffset val="100"/>
        <c:noMultiLvlLbl val="0"/>
      </c:catAx>
      <c:valAx>
        <c:axId val="3412096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01605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Ho machine Re setting time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backup.xlsx]Feb.26'!$B$291</c:f>
              <c:strCache>
                <c:ptCount val="1"/>
                <c:pt idx="0">
                  <c:v>Sum of RE SETTING,LODING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backup.xlsx]Feb.26'!$A$292:$A$300</c:f>
              <c:strCache>
                <c:ptCount val="9"/>
                <c:pt idx="0">
                  <c:v>HO.09 OR</c:v>
                </c:pt>
                <c:pt idx="1">
                  <c:v>HO.09 IR</c:v>
                </c:pt>
                <c:pt idx="2">
                  <c:v>HO.07 IR</c:v>
                </c:pt>
                <c:pt idx="3">
                  <c:v>HO.08 OR</c:v>
                </c:pt>
                <c:pt idx="4">
                  <c:v>HO.02</c:v>
                </c:pt>
                <c:pt idx="5">
                  <c:v>HO.03</c:v>
                </c:pt>
                <c:pt idx="6">
                  <c:v>HO.06</c:v>
                </c:pt>
                <c:pt idx="7">
                  <c:v>HO.08 IR</c:v>
                </c:pt>
                <c:pt idx="8">
                  <c:v>HO.07 OR</c:v>
                </c:pt>
              </c:strCache>
            </c:strRef>
          </c:cat>
          <c:val>
            <c:numRef>
              <c:f>'[All kpi backup.xlsx]Feb.26'!$B$292:$B$300</c:f>
              <c:numCache>
                <c:formatCode>General</c:formatCode>
                <c:ptCount val="9"/>
                <c:pt idx="0">
                  <c:v>1435</c:v>
                </c:pt>
                <c:pt idx="1">
                  <c:v>1225</c:v>
                </c:pt>
                <c:pt idx="2">
                  <c:v>955</c:v>
                </c:pt>
                <c:pt idx="3">
                  <c:v>780</c:v>
                </c:pt>
                <c:pt idx="4">
                  <c:v>645</c:v>
                </c:pt>
                <c:pt idx="5">
                  <c:v>515</c:v>
                </c:pt>
                <c:pt idx="6">
                  <c:v>135</c:v>
                </c:pt>
                <c:pt idx="7">
                  <c:v>135</c:v>
                </c:pt>
                <c:pt idx="8">
                  <c:v>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87944066"/>
        <c:axId val="139400539"/>
      </c:barChart>
      <c:catAx>
        <c:axId val="48794406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9400539"/>
        <c:crosses val="autoZero"/>
        <c:auto val="1"/>
        <c:lblAlgn val="ctr"/>
        <c:lblOffset val="100"/>
        <c:noMultiLvlLbl val="0"/>
      </c:catAx>
      <c:valAx>
        <c:axId val="1394005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794406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OEE Only OEM item(Excluded 0 to 10%)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backup.xlsx]Feb.26'!$J$345</c:f>
              <c:strCache>
                <c:ptCount val="1"/>
                <c:pt idx="0">
                  <c:v>OEE
(Excluded 0 to 10%)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'[All kpi backup.xlsx]Feb.26'!$A$346:$A$347</c:f>
              <c:strCache>
                <c:ptCount val="2"/>
                <c:pt idx="0">
                  <c:v>Jan.26</c:v>
                </c:pt>
                <c:pt idx="1">
                  <c:v>Feb.26</c:v>
                </c:pt>
              </c:strCache>
            </c:strRef>
          </c:cat>
          <c:val>
            <c:numRef>
              <c:f>'[All kpi backup.xlsx]Feb.26'!$J$346:$J$347</c:f>
              <c:numCache>
                <c:formatCode>0.00%</c:formatCode>
                <c:ptCount val="2"/>
                <c:pt idx="0">
                  <c:v>0.6171</c:v>
                </c:pt>
                <c:pt idx="1">
                  <c:v>0.6337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419805655"/>
        <c:axId val="131241135"/>
      </c:barChart>
      <c:catAx>
        <c:axId val="4198056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1241135"/>
        <c:crosses val="autoZero"/>
        <c:auto val="1"/>
        <c:lblAlgn val="ctr"/>
        <c:lblOffset val="100"/>
        <c:noMultiLvlLbl val="0"/>
      </c:catAx>
      <c:valAx>
        <c:axId val="131241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198056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Performance Factor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backup.xlsx]Feb.26'!$K$345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'[All kpi backup.xlsx]Feb.26'!$A$346:$A$347</c:f>
              <c:strCache>
                <c:ptCount val="2"/>
                <c:pt idx="0">
                  <c:v>Jan.26</c:v>
                </c:pt>
                <c:pt idx="1">
                  <c:v>Feb.26</c:v>
                </c:pt>
              </c:strCache>
            </c:strRef>
          </c:cat>
          <c:val>
            <c:numRef>
              <c:f>'[All kpi backup.xlsx]Feb.26'!$K$346:$K$347</c:f>
              <c:numCache>
                <c:formatCode>0.00%</c:formatCode>
                <c:ptCount val="2"/>
                <c:pt idx="0">
                  <c:v>0.7923</c:v>
                </c:pt>
                <c:pt idx="1">
                  <c:v>0.83248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14136658"/>
        <c:axId val="588322180"/>
      </c:barChart>
      <c:catAx>
        <c:axId val="81413665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8322180"/>
        <c:crosses val="autoZero"/>
        <c:auto val="1"/>
        <c:lblAlgn val="ctr"/>
        <c:lblOffset val="100"/>
        <c:noMultiLvlLbl val="0"/>
      </c:catAx>
      <c:valAx>
        <c:axId val="5883221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413665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Quality Factor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backup.xlsx]Feb.26'!$L$345</c:f>
              <c:strCache>
                <c:ptCount val="1"/>
                <c:pt idx="0">
                  <c:v>Quality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'[All kpi backup.xlsx]Feb.26'!$A$346:$A$347</c:f>
              <c:strCache>
                <c:ptCount val="2"/>
                <c:pt idx="0">
                  <c:v>Jan.26</c:v>
                </c:pt>
                <c:pt idx="1">
                  <c:v>Feb.26</c:v>
                </c:pt>
              </c:strCache>
            </c:strRef>
          </c:cat>
          <c:val>
            <c:numRef>
              <c:f>'[All kpi backup.xlsx]Feb.26'!$L$346:$L$347</c:f>
              <c:numCache>
                <c:formatCode>0.00%</c:formatCode>
                <c:ptCount val="2"/>
                <c:pt idx="0">
                  <c:v>0.9198</c:v>
                </c:pt>
                <c:pt idx="1">
                  <c:v>0.9309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14136658"/>
        <c:axId val="588322180"/>
      </c:barChart>
      <c:catAx>
        <c:axId val="81413665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8322180"/>
        <c:crosses val="autoZero"/>
        <c:auto val="1"/>
        <c:lblAlgn val="ctr"/>
        <c:lblOffset val="100"/>
        <c:noMultiLvlLbl val="0"/>
      </c:catAx>
      <c:valAx>
        <c:axId val="5883221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413665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Performance * Quality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backup.xlsx]Feb.26'!$M$345</c:f>
              <c:strCache>
                <c:ptCount val="1"/>
                <c:pt idx="0">
                  <c:v>P*Q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'[All kpi backup.xlsx]Feb.26'!$A$346:$A$347</c:f>
              <c:strCache>
                <c:ptCount val="2"/>
                <c:pt idx="0">
                  <c:v>Jan.26</c:v>
                </c:pt>
                <c:pt idx="1">
                  <c:v>Feb.26</c:v>
                </c:pt>
              </c:strCache>
            </c:strRef>
          </c:cat>
          <c:val>
            <c:numRef>
              <c:f>'[All kpi backup.xlsx]Feb.26'!$M$346:$M$347</c:f>
              <c:numCache>
                <c:formatCode>0.00_ </c:formatCode>
                <c:ptCount val="2"/>
                <c:pt idx="0">
                  <c:v>72.93</c:v>
                </c:pt>
                <c:pt idx="1">
                  <c:v>77.497425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14136658"/>
        <c:axId val="588322180"/>
      </c:barChart>
      <c:catAx>
        <c:axId val="81413665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8322180"/>
        <c:crosses val="autoZero"/>
        <c:auto val="1"/>
        <c:lblAlgn val="ctr"/>
        <c:lblOffset val="100"/>
        <c:noMultiLvlLbl val="0"/>
      </c:catAx>
      <c:valAx>
        <c:axId val="5883221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413665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Section OEM Item Rejection %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backup.xlsx]Feb.26'!$G$345</c:f>
              <c:strCache>
                <c:ptCount val="1"/>
                <c:pt idx="0">
                  <c:v>In running Rej.%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'[All kpi backup.xlsx]Feb.26'!$G$346:$G$347</c:f>
              <c:numCache>
                <c:formatCode>0.00%</c:formatCode>
                <c:ptCount val="2"/>
                <c:pt idx="0">
                  <c:v>0.0233</c:v>
                </c:pt>
                <c:pt idx="1">
                  <c:v>0.0178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777097969"/>
        <c:axId val="222699643"/>
      </c:barChart>
      <c:catAx>
        <c:axId val="77709796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2699643"/>
        <c:crosses val="autoZero"/>
        <c:auto val="1"/>
        <c:lblAlgn val="ctr"/>
        <c:lblOffset val="100"/>
        <c:noMultiLvlLbl val="0"/>
      </c:catAx>
      <c:valAx>
        <c:axId val="2226996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709796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Section OEM Item Rework %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backup.xlsx]Feb.26'!$E$345</c:f>
              <c:strCache>
                <c:ptCount val="1"/>
                <c:pt idx="0">
                  <c:v>Rework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'[All kpi backup.xlsx]Feb.26'!$E$346:$E$347</c:f>
              <c:numCache>
                <c:formatCode>0.00%</c:formatCode>
                <c:ptCount val="2"/>
                <c:pt idx="0">
                  <c:v>0.0334</c:v>
                </c:pt>
                <c:pt idx="1">
                  <c:v>0.0273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777097969"/>
        <c:axId val="222699643"/>
      </c:barChart>
      <c:catAx>
        <c:axId val="77709796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2699643"/>
        <c:crosses val="autoZero"/>
        <c:auto val="1"/>
        <c:lblAlgn val="ctr"/>
        <c:lblOffset val="100"/>
        <c:noMultiLvlLbl val="0"/>
      </c:catAx>
      <c:valAx>
        <c:axId val="2226996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709796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'[All kpi backup.xlsx]Feb.26'!$B$408</c:f>
              <c:strCache>
                <c:ptCount val="1"/>
                <c:pt idx="0">
                  <c:v>Grand 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'[All kpi backup.xlsx]Feb.26'!$A$409:$A$423</c:f>
              <c:strCache>
                <c:ptCount val="15"/>
                <c:pt idx="0">
                  <c:v>Sum of No Operator   13</c:v>
                </c:pt>
                <c:pt idx="1">
                  <c:v>Sum of RE SETTING,LODING</c:v>
                </c:pt>
                <c:pt idx="2">
                  <c:v>Sum of Mech.Maint.21</c:v>
                </c:pt>
                <c:pt idx="3">
                  <c:v>Sum of No Power   24</c:v>
                </c:pt>
                <c:pt idx="4">
                  <c:v>Sum of Size variation Problem  11 Sv
IPG Pro</c:v>
                </c:pt>
                <c:pt idx="5">
                  <c:v>Sum of Other  27</c:v>
                </c:pt>
                <c:pt idx="6">
                  <c:v>Sum of Taper Problem  11Tp</c:v>
                </c:pt>
                <c:pt idx="7">
                  <c:v>Sum of Diamond Turn  11Dt</c:v>
                </c:pt>
                <c:pt idx="8">
                  <c:v>Sum of Elec. Maint.  22</c:v>
                </c:pt>
                <c:pt idx="9">
                  <c:v>Sum of Ovality Problem 11Ov</c:v>
                </c:pt>
                <c:pt idx="10">
                  <c:v>Sum of Diamond change 11Dc</c:v>
                </c:pt>
                <c:pt idx="11">
                  <c:v>Sum of Tool Waiting   12</c:v>
                </c:pt>
                <c:pt idx="12">
                  <c:v>Sum of Ra Problem  11Ra</c:v>
                </c:pt>
                <c:pt idx="13">
                  <c:v>Sum of Raadiua Problem  11Rd</c:v>
                </c:pt>
                <c:pt idx="14">
                  <c:v>Sum of Finishing Problem 11Fn</c:v>
                </c:pt>
              </c:strCache>
            </c:strRef>
          </c:cat>
          <c:val>
            <c:numRef>
              <c:f>'[All kpi backup.xlsx]Feb.26'!$B$409:$B$423</c:f>
              <c:numCache>
                <c:formatCode>0_ </c:formatCode>
                <c:ptCount val="15"/>
                <c:pt idx="0">
                  <c:v>53400</c:v>
                </c:pt>
                <c:pt idx="1">
                  <c:v>4015</c:v>
                </c:pt>
                <c:pt idx="2">
                  <c:v>3730</c:v>
                </c:pt>
                <c:pt idx="3">
                  <c:v>2060</c:v>
                </c:pt>
                <c:pt idx="4">
                  <c:v>1735</c:v>
                </c:pt>
                <c:pt idx="5">
                  <c:v>1700</c:v>
                </c:pt>
                <c:pt idx="6">
                  <c:v>1590</c:v>
                </c:pt>
                <c:pt idx="7">
                  <c:v>1040</c:v>
                </c:pt>
                <c:pt idx="8">
                  <c:v>745</c:v>
                </c:pt>
                <c:pt idx="9">
                  <c:v>365</c:v>
                </c:pt>
                <c:pt idx="10">
                  <c:v>110</c:v>
                </c:pt>
                <c:pt idx="11">
                  <c:v>110</c:v>
                </c:pt>
                <c:pt idx="12">
                  <c:v>20</c:v>
                </c:pt>
                <c:pt idx="1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1749607"/>
        <c:axId val="664616475"/>
      </c:barChart>
      <c:catAx>
        <c:axId val="8174960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4616475"/>
        <c:crosses val="autoZero"/>
        <c:auto val="1"/>
        <c:lblAlgn val="ctr"/>
        <c:lblOffset val="100"/>
        <c:noMultiLvlLbl val="0"/>
      </c:catAx>
      <c:valAx>
        <c:axId val="6646164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74960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.png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1.png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.xml"/><Relationship Id="rId2" Type="http://schemas.openxmlformats.org/officeDocument/2006/relationships/image" Target="../media/image1.png"/><Relationship Id="rId1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1.png"/><Relationship Id="rId1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2" Type="http://schemas.openxmlformats.org/officeDocument/2006/relationships/image" Target="../media/image1.png"/><Relationship Id="rId1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image" Target="../media/image1.png"/><Relationship Id="rId1" Type="http://schemas.openxmlformats.org/officeDocument/2006/relationships/chart" Target="../charts/chart1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.xml"/><Relationship Id="rId3" Type="http://schemas.openxmlformats.org/officeDocument/2006/relationships/image" Target="../media/image1.png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8290" y="728345"/>
            <a:ext cx="11643360" cy="599313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u="sng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MRS BEARINGS PRIVATE LIMITED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en-I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February</a:t>
            </a:r>
            <a:r>
              <a:rPr lang="en-I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-2026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b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UNIT-I</a:t>
            </a:r>
            <a:endParaRPr lang="en-US" sz="4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4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02260" y="4431665"/>
            <a:ext cx="116154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charset="0"/>
                <a:cs typeface="Comic Sans MS" panose="030F0702030302020204" charset="0"/>
              </a:rPr>
              <a:t>Production 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74955" y="-13335"/>
            <a:ext cx="4878070" cy="6235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Production Unit 01 KPI Data</a:t>
            </a:r>
            <a:endParaRPr lang="en-US" sz="240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507365" y="942975"/>
          <a:ext cx="10845800" cy="5412740"/>
        </p:xfrm>
        <a:graphic>
          <a:graphicData uri="http://schemas.openxmlformats.org/drawingml/2006/table">
            <a:tbl>
              <a:tblPr/>
              <a:tblGrid>
                <a:gridCol w="948690"/>
                <a:gridCol w="5837555"/>
                <a:gridCol w="1288415"/>
                <a:gridCol w="948690"/>
                <a:gridCol w="1822450"/>
              </a:tblGrid>
              <a:tr h="339090">
                <a:tc gridSpan="5"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Production KPI Data Feb-2026</a:t>
                      </a:r>
                      <a:endParaRPr sz="1200" b="1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PD-01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Process capability Index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≥ 1.67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1.67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1.17</a:t>
                      </a:r>
                      <a:endParaRPr sz="9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PD-02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Production achievement against planned rings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&gt;95 %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95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85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PD-04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Rejection of IR / OR  Face Grinding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 400 ppm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400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187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PD-05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Soft Machining Rejection IR / OR while Face Grinding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&lt;150 ppm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150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2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PD-06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Turning Rejection of IR / OR while Center less Grinding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&lt;1000 ppm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1000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6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PD-07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Rejection of IR-OR / IG Grinding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&lt;1500 ppm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1500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18747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PD-08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Rejection of IR -OR EG Grinding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&lt;1500 ppm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1500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1460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PD-09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Rework of IR/OR IG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&lt;7500 ppm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7500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32343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92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PD-10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Rework of IR/OR EG 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&lt;3000 ppm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3000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6147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PD-11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Turning Rejection of IR/OR while IG/EG Grinding</a:t>
                      </a:r>
                      <a:b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</a:br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operation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&lt;700 ppm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700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79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PD-13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Average output per person Production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&gt;5000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5000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7626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89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PD-15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Lead time monitoring of route card up to WIP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&gt;90% within 25</a:t>
                      </a:r>
                      <a:b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</a:br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days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FF"/>
                          </a:solidFill>
                          <a:latin typeface="Cambria" panose="02040503050406030204"/>
                          <a:ea typeface="Cambria" panose="02040503050406030204"/>
                        </a:rPr>
                        <a:t>90</a:t>
                      </a:r>
                      <a:endParaRPr sz="1000" b="0" i="0">
                        <a:solidFill>
                          <a:srgbClr val="0000FF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61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PD-16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OEE Monitoring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1C07BB"/>
                          </a:solidFill>
                          <a:latin typeface="Cambria" panose="02040503050406030204"/>
                          <a:ea typeface="Cambria" panose="02040503050406030204"/>
                        </a:rPr>
                        <a:t>&gt; 65%</a:t>
                      </a:r>
                      <a:endParaRPr sz="1000" b="0" i="0">
                        <a:solidFill>
                          <a:srgbClr val="1C07BB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65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56 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49250" y="7918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31800" y="78740"/>
            <a:ext cx="4878070" cy="6235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Plan vs Achievement YOY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5309870" y="1198880"/>
          <a:ext cx="6373495" cy="4568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724535" y="1198880"/>
          <a:ext cx="3199130" cy="2149475"/>
        </p:xfrm>
        <a:graphic>
          <a:graphicData uri="http://schemas.openxmlformats.org/drawingml/2006/table">
            <a:tbl>
              <a:tblPr/>
              <a:tblGrid>
                <a:gridCol w="737235"/>
                <a:gridCol w="785495"/>
                <a:gridCol w="745490"/>
                <a:gridCol w="930910"/>
              </a:tblGrid>
              <a:tr h="510540">
                <a:tc gridSpan="4"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 vs Achievement YOY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 Qty.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</a:t>
                      </a:r>
                      <a:b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Final Qty.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Ach.%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8780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Year.</a:t>
                      </a:r>
                      <a:endParaRPr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</a:t>
                      </a: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</a:t>
                      </a:r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</a:t>
                      </a: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</a:t>
                      </a:r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 Qty</a:t>
                      </a:r>
                      <a:endParaRPr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Achie.Qty</a:t>
                      </a:r>
                      <a:endParaRPr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Ach.%</a:t>
                      </a:r>
                      <a:endParaRPr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43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2024-2025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4553943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3465502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76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2025-2026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4234914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3131663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74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86487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4320" y="30480"/>
            <a:ext cx="4878070" cy="6235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Plan vs Achievement </a:t>
            </a:r>
            <a:endParaRPr lang="en-US" sz="2400" b="1">
              <a:solidFill>
                <a:schemeClr val="tx1"/>
              </a:solidFill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</a:rPr>
              <a:t>Apr to Feb 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393065" y="922020"/>
          <a:ext cx="3688080" cy="4227830"/>
        </p:xfrm>
        <a:graphic>
          <a:graphicData uri="http://schemas.openxmlformats.org/drawingml/2006/table">
            <a:tbl>
              <a:tblPr/>
              <a:tblGrid>
                <a:gridCol w="725805"/>
                <a:gridCol w="745490"/>
                <a:gridCol w="706120"/>
                <a:gridCol w="641985"/>
                <a:gridCol w="868680"/>
              </a:tblGrid>
              <a:tr h="410210">
                <a:tc gridSpan="5"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 V/s Ach.Data 2025-2026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28625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 Qty.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Ach. Qty.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Achi.%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Target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1178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April.25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337966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275681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May.25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304645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219345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3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Jun.25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334566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231290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Jul.25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436161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267465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3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434516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295438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404937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310693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3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363436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240741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Nov.25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404399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318999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Dec.25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396494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350693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3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Jan.26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439978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304318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305">
                <a:tc>
                  <a:txBody>
                    <a:bodyPr/>
                    <a:p>
                      <a:pPr algn="l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Feb.26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377816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320333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 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33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4234914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3134996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74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347845" y="922020"/>
          <a:ext cx="6559550" cy="5199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4320" y="46990"/>
            <a:ext cx="4878070" cy="6235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Plan vs Achievement </a:t>
            </a:r>
            <a:endParaRPr lang="en-US" sz="2400" b="1">
              <a:solidFill>
                <a:schemeClr val="tx1"/>
              </a:solidFill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</a:rPr>
              <a:t>Year to Year(2024-2025)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2" name="Chart 11"/>
          <p:cNvGraphicFramePr/>
          <p:nvPr/>
        </p:nvGraphicFramePr>
        <p:xfrm>
          <a:off x="453390" y="878205"/>
          <a:ext cx="10597515" cy="5615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97599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06705" y="2540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Feb-26 All section  Feb-26 Prod.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537210" y="1162685"/>
          <a:ext cx="3051810" cy="1421765"/>
        </p:xfrm>
        <a:graphic>
          <a:graphicData uri="http://schemas.openxmlformats.org/drawingml/2006/table">
            <a:tbl>
              <a:tblPr/>
              <a:tblGrid>
                <a:gridCol w="723900"/>
                <a:gridCol w="743585"/>
                <a:gridCol w="704215"/>
                <a:gridCol w="880110"/>
              </a:tblGrid>
              <a:tr h="50419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Section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Qty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Rework%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Rejection%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29870"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283731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3.33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1.92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EG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91991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0.55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0.13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CG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584932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0.96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FG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454175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4085590" y="1626235"/>
          <a:ext cx="7173595" cy="4088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12090" y="-1333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IG Section Rejection April-Feb 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8" name="Chart 17"/>
          <p:cNvGraphicFramePr/>
          <p:nvPr/>
        </p:nvGraphicFramePr>
        <p:xfrm>
          <a:off x="3147695" y="988695"/>
          <a:ext cx="8387715" cy="526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601980" y="988695"/>
          <a:ext cx="1863090" cy="2689860"/>
        </p:xfrm>
        <a:graphic>
          <a:graphicData uri="http://schemas.openxmlformats.org/drawingml/2006/table">
            <a:tbl>
              <a:tblPr/>
              <a:tblGrid>
                <a:gridCol w="998855"/>
                <a:gridCol w="864235"/>
              </a:tblGrid>
              <a:tr h="41402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</a:t>
                      </a:r>
                      <a:r>
                        <a:rPr sz="110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April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1.90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1.21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June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1.75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July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1.26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August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1.70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September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2.00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October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1.90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November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1.46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December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1.95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January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2.39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February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1.92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4"/>
            </p:custDataLst>
          </p:nvPr>
        </p:nvGraphicFramePr>
        <p:xfrm>
          <a:off x="2465070" y="1416685"/>
          <a:ext cx="870585" cy="2263140"/>
        </p:xfrm>
        <a:graphic>
          <a:graphicData uri="http://schemas.openxmlformats.org/drawingml/2006/table">
            <a:tbl>
              <a:tblPr/>
              <a:tblGrid>
                <a:gridCol w="870585"/>
              </a:tblGrid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3932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3031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3185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4678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3640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3568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5408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5617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740"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5440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5"/>
            </p:custDataLst>
          </p:nvPr>
        </p:nvGraphicFramePr>
        <p:xfrm>
          <a:off x="2478405" y="988695"/>
          <a:ext cx="857250" cy="427990"/>
        </p:xfrm>
        <a:graphic>
          <a:graphicData uri="http://schemas.openxmlformats.org/drawingml/2006/table">
            <a:tbl>
              <a:tblPr/>
              <a:tblGrid>
                <a:gridCol w="857250"/>
              </a:tblGrid>
              <a:tr h="42799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Rejection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Qty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74320" y="34290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IG Machine Rejection of Feb.2026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Chart 1"/>
          <p:cNvGraphicFramePr/>
          <p:nvPr/>
        </p:nvGraphicFramePr>
        <p:xfrm>
          <a:off x="4458970" y="892810"/>
          <a:ext cx="6758940" cy="5367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370840" y="906145"/>
          <a:ext cx="1428750" cy="2857500"/>
        </p:xfrm>
        <a:graphic>
          <a:graphicData uri="http://schemas.openxmlformats.org/drawingml/2006/table">
            <a:tbl>
              <a:tblPr/>
              <a:tblGrid>
                <a:gridCol w="704850"/>
                <a:gridCol w="723900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M/c2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Rejection Qty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702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188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730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IG.04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602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IG.01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1299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800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257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214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323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IG.20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IG.14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213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Grand Total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5440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1786255" y="906145"/>
          <a:ext cx="870585" cy="2667000"/>
        </p:xfrm>
        <a:graphic>
          <a:graphicData uri="http://schemas.openxmlformats.org/drawingml/2006/table">
            <a:tbl>
              <a:tblPr/>
              <a:tblGrid>
                <a:gridCol w="870585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4.33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3.18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2.97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2.71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2.58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2.26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1.83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1.52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1.01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0.76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0.42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74320" y="34290"/>
            <a:ext cx="5319395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IG Machine Production April-Feb.2026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0" name="Chart 19"/>
          <p:cNvGraphicFramePr/>
          <p:nvPr/>
        </p:nvGraphicFramePr>
        <p:xfrm>
          <a:off x="864235" y="865505"/>
          <a:ext cx="10489565" cy="5490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74320" y="34290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IG machine Most Contributor Item of rejection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1" name="Chart 10"/>
          <p:cNvGraphicFramePr/>
          <p:nvPr/>
        </p:nvGraphicFramePr>
        <p:xfrm>
          <a:off x="3552190" y="1139825"/>
          <a:ext cx="7802245" cy="5128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563245" y="1139825"/>
          <a:ext cx="2771775" cy="1888490"/>
        </p:xfrm>
        <a:graphic>
          <a:graphicData uri="http://schemas.openxmlformats.org/drawingml/2006/table">
            <a:tbl>
              <a:tblPr/>
              <a:tblGrid>
                <a:gridCol w="683260"/>
                <a:gridCol w="624840"/>
                <a:gridCol w="624205"/>
                <a:gridCol w="839470"/>
              </a:tblGrid>
              <a:tr h="41973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Item Code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Rejection Qty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Qty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Rejection 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100299.14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437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4.78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100261.00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11444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4.41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208417.00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12323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3.72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104299.00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30827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3.18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208448.00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9450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2.83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104249.00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18079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1.76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mbria" panose="02040503050406030204"/>
                          <a:ea typeface="Cambria" panose="02040503050406030204"/>
                        </a:rPr>
                        <a:t>200827.10</a:t>
                      </a:r>
                      <a:endParaRPr sz="1000" b="0" i="0">
                        <a:solidFill>
                          <a:srgbClr val="000000"/>
                        </a:solidFill>
                        <a:latin typeface="Cambria" panose="02040503050406030204"/>
                        <a:ea typeface="Cambria" panose="02040503050406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25272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0.93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Most contributor Down time IG Section Jan.26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850900" y="855345"/>
          <a:ext cx="9391650" cy="1905000"/>
        </p:xfrm>
        <a:graphic>
          <a:graphicData uri="http://schemas.openxmlformats.org/drawingml/2006/table">
            <a:tbl>
              <a:tblPr/>
              <a:tblGrid>
                <a:gridCol w="85725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14300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Operator   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Material  14(EXTERNAL)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RE SETTING,LODING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Material  14(INTERNAL)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Power   24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Other  27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Taper Problem  11Tp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Size variation Problem  11 Sv</a:t>
                      </a:r>
                      <a:b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IPG Pro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Diamond Turn  11Dt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Ovality Problem 11Ov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Raadiua Problem  11Rd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Mech.Maint.21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Tool Waiting   12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Diamond change 11Dc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Elec. Maint.  22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762000"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25790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11760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6270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2665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2375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2095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1825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1810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1010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850900" y="2961005"/>
          <a:ext cx="10369550" cy="3448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Most contributor Down time IG Section Feb.26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790575" y="937260"/>
          <a:ext cx="10610850" cy="1714500"/>
        </p:xfrm>
        <a:graphic>
          <a:graphicData uri="http://schemas.openxmlformats.org/drawingml/2006/table">
            <a:tbl>
              <a:tblPr/>
              <a:tblGrid>
                <a:gridCol w="85725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14300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Down time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Operator   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Material  14(EXTERNAL)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RE SETTING,LODING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Mech.Maint.21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Material  14(INTERNAL)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Power   24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Taper Problem  11Tp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Size variation Problem  11 Sv</a:t>
                      </a:r>
                      <a:b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IPG Pro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Other  27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Ovality Problem 11Ov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Elec. Maint.  22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Diamond Turn  11Dt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Ra Problem  11Ra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Diamond change 11Dc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Tool Waiting   12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Raadiua Problem  11Rd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Min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65115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11520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5515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3770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3040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2900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2435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2370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2365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1530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1325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790575" y="2743835"/>
          <a:ext cx="10611485" cy="3763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Most contributor Down Time of Jan.2026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549910" y="728980"/>
          <a:ext cx="1132967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820"/>
                <a:gridCol w="681355"/>
                <a:gridCol w="850265"/>
                <a:gridCol w="605155"/>
                <a:gridCol w="605155"/>
                <a:gridCol w="605155"/>
                <a:gridCol w="606425"/>
                <a:gridCol w="604520"/>
                <a:gridCol w="605155"/>
                <a:gridCol w="605790"/>
                <a:gridCol w="604520"/>
                <a:gridCol w="715010"/>
                <a:gridCol w="495935"/>
                <a:gridCol w="603885"/>
                <a:gridCol w="606425"/>
                <a:gridCol w="605790"/>
                <a:gridCol w="605155"/>
                <a:gridCol w="605155"/>
              </a:tblGrid>
              <a:tr h="143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RE SETTING,LODING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Ovality Problem 11Ov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Taper Problem  11Tp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Ra Problem  11Ra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Raadiua Problem  11Rd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Size variation Problem  11 Sv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IPG Pro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Diamond Turn  11Dt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Diamond change 11Dc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Tool Waiting   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Finishing Problem 11Fn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No Operator   13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No Power   24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Mech.Maint.21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Elec. Maint.  22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No Material  14(INTERNAL)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No Material  14(EXTERNAL)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Other  27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CG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570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7190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315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4080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4180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570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1420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FG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1640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90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60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7555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340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720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EG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1830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120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290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39110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585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30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1025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480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280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IG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6270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950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2455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595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2260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1185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105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160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43405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2985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210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1235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3285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13200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2245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HO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8045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49275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1470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675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140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7135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1440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2535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Total time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18355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1160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2745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30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595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2260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1185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115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220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146535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5695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4995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5555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12015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15120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uFillTx/>
                          <a:latin typeface="Calibri" panose="020F0502020204030204" charset="0"/>
                        </a:rPr>
                        <a:t>7200</a:t>
                      </a:r>
                      <a:endParaRPr lang="en-US" sz="900" b="0">
                        <a:solidFill>
                          <a:srgbClr val="000000"/>
                        </a:solidFill>
                        <a:uFillTx/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Chart 18"/>
          <p:cNvGraphicFramePr/>
          <p:nvPr/>
        </p:nvGraphicFramePr>
        <p:xfrm>
          <a:off x="549910" y="3644900"/>
          <a:ext cx="11398885" cy="2996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Most contributor Down Time of Feb.2026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617855" y="822833"/>
          <a:ext cx="11410950" cy="2286000"/>
        </p:xfrm>
        <a:graphic>
          <a:graphicData uri="http://schemas.openxmlformats.org/drawingml/2006/table">
            <a:tbl>
              <a:tblPr/>
              <a:tblGrid>
                <a:gridCol w="695960"/>
                <a:gridCol w="659765"/>
                <a:gridCol w="824230"/>
                <a:gridCol w="586105"/>
                <a:gridCol w="586105"/>
                <a:gridCol w="586105"/>
                <a:gridCol w="586105"/>
                <a:gridCol w="586740"/>
                <a:gridCol w="586105"/>
                <a:gridCol w="586105"/>
                <a:gridCol w="586105"/>
                <a:gridCol w="586105"/>
                <a:gridCol w="586105"/>
                <a:gridCol w="586105"/>
                <a:gridCol w="586740"/>
                <a:gridCol w="586105"/>
                <a:gridCol w="586105"/>
                <a:gridCol w="586105"/>
              </a:tblGrid>
              <a:tr h="109918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M/c2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RE SETTING,LODING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Material  14(EXTERNAL)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Ovality Problem 11Ov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Material  14(INTERNAL)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Taper Problem  11Tp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Ra Problem  11Ra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Raadiua Problem  11Rd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Size variation Problem  11 Sv</a:t>
                      </a:r>
                      <a:b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IPG Pro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Diamond Turn  11Dt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Diamond change 11Dc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Tool Waiting   12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Finishing Problem 11Fn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Operator   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No Power   24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Mech.Maint.21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Elec. Maint.  22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Other  27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18351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12960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15395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51680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1460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21375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3360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351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9075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11520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1530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2370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65115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3770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2365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351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2890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3840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1255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55995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time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17205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28320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19690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2460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2455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203240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6310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4835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5030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Chart 11"/>
          <p:cNvGraphicFramePr/>
          <p:nvPr/>
        </p:nvGraphicFramePr>
        <p:xfrm>
          <a:off x="553085" y="3429000"/>
          <a:ext cx="11036935" cy="292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86487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Most contributor item of Jan.2026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597535" y="1386205"/>
          <a:ext cx="149733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625"/>
                <a:gridCol w="814705"/>
              </a:tblGrid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Down Time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HO.09 OR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1875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HO.09 IR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1550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HO.07 OR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1195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1075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HO.07 IR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905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645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HO.08 IR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425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HO.08 OR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230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HO.03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145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2202815" y="883285"/>
          <a:ext cx="9063355" cy="5042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4"/>
            </p:custDataLst>
          </p:nvPr>
        </p:nvGraphicFramePr>
        <p:xfrm>
          <a:off x="597535" y="4647565"/>
          <a:ext cx="1496695" cy="358140"/>
        </p:xfrm>
        <a:graphic>
          <a:graphicData uri="http://schemas.openxmlformats.org/drawingml/2006/table">
            <a:tbl>
              <a:tblPr/>
              <a:tblGrid>
                <a:gridCol w="696595"/>
                <a:gridCol w="800100"/>
              </a:tblGrid>
              <a:tr h="358140">
                <a:tc>
                  <a:txBody>
                    <a:bodyPr/>
                    <a:p>
                      <a:pPr algn="l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Grand Total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8045 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  <a:sym typeface="+mn-ea"/>
              </a:rPr>
              <a:t>Most contributor item of Feb.2026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3" name="Chart 12"/>
          <p:cNvGraphicFramePr/>
          <p:nvPr/>
        </p:nvGraphicFramePr>
        <p:xfrm>
          <a:off x="2708910" y="1113790"/>
          <a:ext cx="8424545" cy="513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652145" y="876300"/>
          <a:ext cx="1575435" cy="2693035"/>
        </p:xfrm>
        <a:graphic>
          <a:graphicData uri="http://schemas.openxmlformats.org/drawingml/2006/table">
            <a:tbl>
              <a:tblPr/>
              <a:tblGrid>
                <a:gridCol w="777240"/>
                <a:gridCol w="798195"/>
              </a:tblGrid>
              <a:tr h="76962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M/c2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Sum of RE SETTING,LODING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HO.09 OR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HO.09 IR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1225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HO.07 IR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177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HO.08 OR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645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HO.08 IR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HO.07 OR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Grand Total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5915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OEE For OEM item in IG Section</a:t>
            </a:r>
            <a:endParaRPr lang="en-US" sz="2400" b="1">
              <a:solidFill>
                <a:schemeClr val="tx1"/>
              </a:solidFill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</a:rPr>
              <a:t> Jan-Feb.26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4" name="Chart 13"/>
          <p:cNvGraphicFramePr/>
          <p:nvPr/>
        </p:nvGraphicFramePr>
        <p:xfrm>
          <a:off x="5598160" y="915035"/>
          <a:ext cx="5899785" cy="4644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585470" y="915035"/>
          <a:ext cx="3947795" cy="1945640"/>
        </p:xfrm>
        <a:graphic>
          <a:graphicData uri="http://schemas.openxmlformats.org/drawingml/2006/table">
            <a:tbl>
              <a:tblPr/>
              <a:tblGrid>
                <a:gridCol w="885190"/>
                <a:gridCol w="765810"/>
                <a:gridCol w="765175"/>
                <a:gridCol w="765810"/>
                <a:gridCol w="765810"/>
              </a:tblGrid>
              <a:tr h="129730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OEE</a:t>
                      </a:r>
                      <a:b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(Excluded 0 to 10%)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Performance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Quality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P*Q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32385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Jan.26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61.71%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79.23%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91.98%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72.93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48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Feb.26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63.37%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83.25%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93.09%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77.50 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573024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Performance &amp; Quality factor Jan-Feb.26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15" name="Chart 14"/>
          <p:cNvGraphicFramePr/>
          <p:nvPr/>
        </p:nvGraphicFramePr>
        <p:xfrm>
          <a:off x="614680" y="878205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Chart 15"/>
          <p:cNvGraphicFramePr/>
          <p:nvPr/>
        </p:nvGraphicFramePr>
        <p:xfrm>
          <a:off x="614680" y="375920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/>
          <p:nvPr/>
        </p:nvGraphicFramePr>
        <p:xfrm>
          <a:off x="6153150" y="1119505"/>
          <a:ext cx="5200650" cy="4618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565912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OEM item IG section Rejection Rework Jan-Feb.26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4"/>
            </p:custDataLst>
          </p:nvPr>
        </p:nvGraphicFramePr>
        <p:xfrm>
          <a:off x="593725" y="808355"/>
          <a:ext cx="6823710" cy="1276350"/>
        </p:xfrm>
        <a:graphic>
          <a:graphicData uri="http://schemas.openxmlformats.org/drawingml/2006/table">
            <a:tbl>
              <a:tblPr/>
              <a:tblGrid>
                <a:gridCol w="798830"/>
                <a:gridCol w="820420"/>
                <a:gridCol w="777875"/>
                <a:gridCol w="971550"/>
                <a:gridCol w="690880"/>
                <a:gridCol w="690880"/>
                <a:gridCol w="691515"/>
                <a:gridCol w="690880"/>
                <a:gridCol w="690880"/>
              </a:tblGrid>
              <a:tr h="850900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Ring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OK Produced Ring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Rework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Rework 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 running Rej.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 running Rej.%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Turning Rej.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Turning Rej.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Jan.26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194407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189088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6494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3.34%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4543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2.33%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0.40%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Feb.26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260038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253958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7095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2.73%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4635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1.78%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1445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0.56%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Chart 27"/>
          <p:cNvGraphicFramePr/>
          <p:nvPr/>
        </p:nvGraphicFramePr>
        <p:xfrm>
          <a:off x="593725" y="2393950"/>
          <a:ext cx="4826000" cy="367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7" name="Chart 26"/>
          <p:cNvGraphicFramePr/>
          <p:nvPr/>
        </p:nvGraphicFramePr>
        <p:xfrm>
          <a:off x="6137275" y="2393950"/>
          <a:ext cx="4826000" cy="3680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291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2910" y="31115"/>
            <a:ext cx="4878070" cy="62357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Feb - 26</a:t>
            </a:r>
            <a:endParaRPr lang="en-US" sz="2400" b="1">
              <a:solidFill>
                <a:schemeClr val="tx1"/>
              </a:solidFill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</a:rPr>
              <a:t>IG Section - OEM item Down time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17245" y="1081405"/>
          <a:ext cx="10756900" cy="2269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0"/>
                <a:gridCol w="655320"/>
                <a:gridCol w="655955"/>
                <a:gridCol w="655955"/>
                <a:gridCol w="655320"/>
                <a:gridCol w="655955"/>
                <a:gridCol w="655320"/>
                <a:gridCol w="655320"/>
                <a:gridCol w="655955"/>
                <a:gridCol w="655955"/>
                <a:gridCol w="655955"/>
                <a:gridCol w="655320"/>
                <a:gridCol w="655320"/>
                <a:gridCol w="655955"/>
                <a:gridCol w="655320"/>
                <a:gridCol w="655955"/>
              </a:tblGrid>
              <a:tr h="17875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No Operator   13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RE SETTING,LODING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Mech.Maint.21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No Power   24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Size variation Problem  11 Sv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IPG Pro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Other  27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Taper Problem  11Tp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Diamond Turn  11Dt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Elec. Maint.  22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Ovality Problem 11Ov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Diamond change 11Dc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Tool Waiting   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Ra Problem  11Ra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Raadiua Problem  11Rd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Finishing Problem 11Fn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9D08E"/>
                    </a:solidFill>
                  </a:tcPr>
                </a:tc>
              </a:tr>
              <a:tr h="4819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Grand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53400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4015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3730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2060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1735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1700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1590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1040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745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365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/>
          <p:nvPr/>
        </p:nvGraphicFramePr>
        <p:xfrm>
          <a:off x="817245" y="3705860"/>
          <a:ext cx="10756265" cy="2761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3*426"/>
  <p:tag name="TABLE_ENDDRAG_RECT" val="39*74*854*426"/>
</p:tagLst>
</file>

<file path=ppt/tags/tag2.xml><?xml version="1.0" encoding="utf-8"?>
<p:tagLst xmlns:p="http://schemas.openxmlformats.org/presentationml/2006/main">
  <p:tag name="TABLE_ENDDRAG_ORIGIN_RECT" val="251*169"/>
  <p:tag name="TABLE_ENDDRAG_RECT" val="57*94*251*169"/>
</p:tagLst>
</file>

<file path=ppt/tags/tag3.xml><?xml version="1.0" encoding="utf-8"?>
<p:tagLst xmlns:p="http://schemas.openxmlformats.org/presentationml/2006/main">
  <p:tag name="TABLE_ENDDRAG_ORIGIN_RECT" val="290*329"/>
  <p:tag name="TABLE_ENDDRAG_RECT" val="30*72*290*329"/>
</p:tagLst>
</file>

<file path=ppt/tags/tag4.xml><?xml version="1.0" encoding="utf-8"?>
<p:tagLst xmlns:p="http://schemas.openxmlformats.org/presentationml/2006/main">
  <p:tag name="TABLE_ENDDRAG_ORIGIN_RECT" val="240*111"/>
  <p:tag name="TABLE_ENDDRAG_RECT" val="42*76*240*111"/>
</p:tagLst>
</file>

<file path=ppt/tags/tag5.xml><?xml version="1.0" encoding="utf-8"?>
<p:tagLst xmlns:p="http://schemas.openxmlformats.org/presentationml/2006/main">
  <p:tag name="TABLE_ENDDRAG_ORIGIN_RECT" val="146*211"/>
  <p:tag name="TABLE_ENDDRAG_RECT" val="47*77*146*211"/>
</p:tagLst>
</file>

<file path=ppt/tags/tag6.xml><?xml version="1.0" encoding="utf-8"?>
<p:tagLst xmlns:p="http://schemas.openxmlformats.org/presentationml/2006/main">
  <p:tag name="TABLE_ENDDRAG_ORIGIN_RECT" val="68*178"/>
  <p:tag name="TABLE_ENDDRAG_RECT" val="194*111*68*178"/>
</p:tagLst>
</file>

<file path=ppt/tags/tag7.xml><?xml version="1.0" encoding="utf-8"?>
<p:tagLst xmlns:p="http://schemas.openxmlformats.org/presentationml/2006/main">
  <p:tag name="TABLE_ENDDRAG_ORIGIN_RECT" val="67*33"/>
  <p:tag name="TABLE_ENDDRAG_RECT" val="195*77*67*33"/>
</p:tagLst>
</file>

<file path=ppt/tags/tag8.xml><?xml version="1.0" encoding="utf-8"?>
<p:tagLst xmlns:p="http://schemas.openxmlformats.org/presentationml/2006/main">
  <p:tag name="TABLE_ENDDRAG_ORIGIN_RECT" val="218*148"/>
  <p:tag name="TABLE_ENDDRAG_RECT" val="44*89*218*148"/>
</p:tagLst>
</file>

<file path=ppt/tags/tag9.xml><?xml version="1.0" encoding="utf-8"?>
<p:tagLst xmlns:p="http://schemas.openxmlformats.org/presentationml/2006/main">
  <p:tag name="TABLE_ENDDRAG_ORIGIN_RECT" val="117*296"/>
  <p:tag name="TABLE_ENDDRAG_RECT" val="47*69*117*296"/>
</p:tagLst>
</file>

<file path=ppt/tags/tag10.xml><?xml version="1.0" encoding="utf-8"?>
<p:tagLst xmlns:p="http://schemas.openxmlformats.org/presentationml/2006/main">
  <p:tag name="TABLE_ENDDRAG_ORIGIN_RECT" val="117*28"/>
  <p:tag name="TABLE_ENDDRAG_RECT" val="47*365*117*28"/>
</p:tagLst>
</file>

<file path=ppt/tags/tag11.xml><?xml version="1.0" encoding="utf-8"?>
<p:tagLst xmlns:p="http://schemas.openxmlformats.org/presentationml/2006/main">
  <p:tag name="TABLE_ENDDRAG_ORIGIN_RECT" val="124*212"/>
  <p:tag name="TABLE_ENDDRAG_RECT" val="51*69*124*212"/>
</p:tagLst>
</file>

<file path=ppt/tags/tag12.xml><?xml version="1.0" encoding="utf-8"?>
<p:tagLst xmlns:p="http://schemas.openxmlformats.org/presentationml/2006/main">
  <p:tag name="TABLE_ENDDRAG_ORIGIN_RECT" val="310*153"/>
  <p:tag name="TABLE_ENDDRAG_RECT" val="46*72*310*153"/>
</p:tagLst>
</file>

<file path=ppt/tags/tag13.xml><?xml version="1.0" encoding="utf-8"?>
<p:tagLst xmlns:p="http://schemas.openxmlformats.org/presentationml/2006/main">
  <p:tag name="TABLE_ENDDRAG_ORIGIN_RECT" val="537*100"/>
  <p:tag name="TABLE_ENDDRAG_RECT" val="46*57*537*10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6493</Words>
  <Application>WPS Presentation</Application>
  <PresentationFormat>Widescreen</PresentationFormat>
  <Paragraphs>1427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Arial Black</vt:lpstr>
      <vt:lpstr>Comic Sans MS</vt:lpstr>
      <vt:lpstr>Cambria</vt:lpstr>
      <vt:lpstr>Calibri</vt:lpstr>
      <vt:lpstr>Cambria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 08</cp:lastModifiedBy>
  <cp:revision>194</cp:revision>
  <dcterms:created xsi:type="dcterms:W3CDTF">2025-05-05T08:20:00Z</dcterms:created>
  <dcterms:modified xsi:type="dcterms:W3CDTF">2026-03-13T09:56:01Z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1033-11.2.0.8310</vt:lpwstr>
  </property>
  <property fmtid="{D5CDD505-2E9C-101B-9397-08002B2CF9AE}" pid="3" name="ICV">
    <vt:lpwstr>F02F4BC2398C4E88B980120B74E3AD9B_12</vt:lpwstr>
  </property>
</Properties>
</file>