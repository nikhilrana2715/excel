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83" r:id="rId5"/>
    <p:sldId id="294" r:id="rId6"/>
    <p:sldId id="286" r:id="rId7"/>
    <p:sldId id="287" r:id="rId8"/>
    <p:sldId id="288" r:id="rId9"/>
    <p:sldId id="289" r:id="rId10"/>
    <p:sldId id="290" r:id="rId11"/>
    <p:sldId id="29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D:\All%20Production\PD%20Hitesh\MRM\11.PD%20REPORT%20NOV-25%20SHILPA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D:\All%20Production\PD%20Hitesh\MRM\12.PD%20REPORT%20DEC-25%20SHILPA%20(2)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D:\All%20Production\PD%20Hitesh\MRM\12.PD%20REPORT%20DEC-25%20SHILPA%20(2)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D:\All%20Production\PD%20Hitesh\MRM\12.PD%20REPORT%20DEC-25%20SHILPA%20(2)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D:\All%20Production\PD%20Hitesh\MRM\12.PD%20REPORT%20DEC-25%20SHILPA%20(2)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D:\All%20Production\PD%20Hitesh\MRM\12.PD%20REPORT%20DEC-25%20SHILPA%20(2)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D:\All%20Production\PD%20Hitesh\MRM\12.PD%20REPORT%20DEC-25%20SHILPA%20(2)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D:\All%20Production\PD%20Hitesh\MRM\12.PD%20REPORT%20DEC-25%20SHILPA%20(2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'[11.PD REPORT NOV-25 SHILPA.xlsx]Sheet3'!$B$1</c:f>
              <c:strCache>
                <c:ptCount val="1"/>
                <c:pt idx="0">
                  <c:v>Plan Qty.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'[11.PD REPORT NOV-25 SHILPA.xlsx]Sheet3'!$A$5:$A$13</c:f>
              <c:strCache>
                <c:ptCount val="9"/>
                <c:pt idx="0" c:formatCode="d\-mmm">
                  <c:v>Apr</c:v>
                </c:pt>
                <c:pt idx="1" c:formatCode="d\-mmm">
                  <c:v>May</c:v>
                </c:pt>
                <c:pt idx="2" c:formatCode="d\-mmm">
                  <c:v>Jun</c:v>
                </c:pt>
                <c:pt idx="3" c:formatCode="d\-mmm">
                  <c:v>Jul</c:v>
                </c:pt>
                <c:pt idx="4" c:formatCode="d\-mmm">
                  <c:v>Aug</c:v>
                </c:pt>
                <c:pt idx="5" c:formatCode="d\-mmm">
                  <c:v>Sep</c:v>
                </c:pt>
                <c:pt idx="6" c:formatCode="d\-mmm">
                  <c:v>Oct</c:v>
                </c:pt>
                <c:pt idx="7" c:formatCode="d\-mmm">
                  <c:v>Nov</c:v>
                </c:pt>
                <c:pt idx="8" c:formatCode="d\-mmm">
                  <c:v>Dec</c:v>
                </c:pt>
              </c:strCache>
            </c:strRef>
          </c:cat>
          <c:val>
            <c:numRef>
              <c:f>'[11.PD REPORT NOV-25 SHILPA.xlsx]Sheet3'!$B$5:$B$13</c:f>
              <c:numCache>
                <c:formatCode>General</c:formatCode>
                <c:ptCount val="9"/>
                <c:pt idx="0">
                  <c:v>337966</c:v>
                </c:pt>
                <c:pt idx="1">
                  <c:v>304645</c:v>
                </c:pt>
                <c:pt idx="2">
                  <c:v>334566</c:v>
                </c:pt>
                <c:pt idx="3">
                  <c:v>436161</c:v>
                </c:pt>
                <c:pt idx="4">
                  <c:v>434516</c:v>
                </c:pt>
                <c:pt idx="5">
                  <c:v>404937</c:v>
                </c:pt>
                <c:pt idx="6">
                  <c:v>363436</c:v>
                </c:pt>
                <c:pt idx="7">
                  <c:v>404399</c:v>
                </c:pt>
                <c:pt idx="8">
                  <c:v>396494</c:v>
                </c:pt>
              </c:numCache>
            </c:numRef>
          </c:val>
        </c:ser>
        <c:ser>
          <c:idx val="1"/>
          <c:order val="1"/>
          <c:tx>
            <c:strRef>
              <c:f>'[11.PD REPORT NOV-25 SHILPA.xlsx]Sheet3'!$C$1</c:f>
              <c:strCache>
                <c:ptCount val="1"/>
                <c:pt idx="0">
                  <c:v>Ach. Qty.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'[11.PD REPORT NOV-25 SHILPA.xlsx]Sheet3'!$A$5:$A$13</c:f>
              <c:strCache>
                <c:ptCount val="9"/>
                <c:pt idx="0" c:formatCode="d\-mmm">
                  <c:v>Apr</c:v>
                </c:pt>
                <c:pt idx="1" c:formatCode="d\-mmm">
                  <c:v>May</c:v>
                </c:pt>
                <c:pt idx="2" c:formatCode="d\-mmm">
                  <c:v>Jun</c:v>
                </c:pt>
                <c:pt idx="3" c:formatCode="d\-mmm">
                  <c:v>Jul</c:v>
                </c:pt>
                <c:pt idx="4" c:formatCode="d\-mmm">
                  <c:v>Aug</c:v>
                </c:pt>
                <c:pt idx="5" c:formatCode="d\-mmm">
                  <c:v>Sep</c:v>
                </c:pt>
                <c:pt idx="6" c:formatCode="d\-mmm">
                  <c:v>Oct</c:v>
                </c:pt>
                <c:pt idx="7" c:formatCode="d\-mmm">
                  <c:v>Nov</c:v>
                </c:pt>
                <c:pt idx="8" c:formatCode="d\-mmm">
                  <c:v>Dec</c:v>
                </c:pt>
              </c:strCache>
            </c:strRef>
          </c:cat>
          <c:val>
            <c:numRef>
              <c:f>'[11.PD REPORT NOV-25 SHILPA.xlsx]Sheet3'!$C$5:$C$13</c:f>
              <c:numCache>
                <c:formatCode>General</c:formatCode>
                <c:ptCount val="9"/>
                <c:pt idx="0">
                  <c:v>275681</c:v>
                </c:pt>
                <c:pt idx="1">
                  <c:v>219345</c:v>
                </c:pt>
                <c:pt idx="2">
                  <c:v>231290</c:v>
                </c:pt>
                <c:pt idx="3">
                  <c:v>267465</c:v>
                </c:pt>
                <c:pt idx="4">
                  <c:v>295438</c:v>
                </c:pt>
                <c:pt idx="5">
                  <c:v>310693</c:v>
                </c:pt>
                <c:pt idx="6">
                  <c:v>240741</c:v>
                </c:pt>
                <c:pt idx="7">
                  <c:v>318999</c:v>
                </c:pt>
                <c:pt idx="8">
                  <c:v>350693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94870337"/>
        <c:axId val="176022969"/>
      </c:barChart>
      <c:lineChart>
        <c:grouping val="standard"/>
        <c:varyColors val="0"/>
        <c:ser>
          <c:idx val="2"/>
          <c:order val="2"/>
          <c:tx>
            <c:strRef>
              <c:f>'[11.PD REPORT NOV-25 SHILPA.xlsx]Sheet3'!$D$1</c:f>
              <c:strCache>
                <c:ptCount val="1"/>
                <c:pt idx="0">
                  <c:v>Achi.%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'[11.PD REPORT NOV-25 SHILPA.xlsx]Sheet3'!$A$5:$A$13</c:f>
              <c:strCache>
                <c:ptCount val="9"/>
                <c:pt idx="0" c:formatCode="d\-mmm">
                  <c:v>Apr</c:v>
                </c:pt>
                <c:pt idx="1" c:formatCode="d\-mmm">
                  <c:v>May</c:v>
                </c:pt>
                <c:pt idx="2" c:formatCode="d\-mmm">
                  <c:v>Jun</c:v>
                </c:pt>
                <c:pt idx="3" c:formatCode="d\-mmm">
                  <c:v>Jul</c:v>
                </c:pt>
                <c:pt idx="4" c:formatCode="d\-mmm">
                  <c:v>Aug</c:v>
                </c:pt>
                <c:pt idx="5" c:formatCode="d\-mmm">
                  <c:v>Sep</c:v>
                </c:pt>
                <c:pt idx="6" c:formatCode="d\-mmm">
                  <c:v>Oct</c:v>
                </c:pt>
                <c:pt idx="7" c:formatCode="d\-mmm">
                  <c:v>Nov</c:v>
                </c:pt>
                <c:pt idx="8" c:formatCode="d\-mmm">
                  <c:v>Dec</c:v>
                </c:pt>
              </c:strCache>
            </c:strRef>
          </c:cat>
          <c:val>
            <c:numRef>
              <c:f>'[11.PD REPORT NOV-25 SHILPA.xlsx]Sheet3'!$D$5:$D$13</c:f>
              <c:numCache>
                <c:formatCode>0_ </c:formatCode>
                <c:ptCount val="9"/>
                <c:pt idx="0">
                  <c:v>81.5706313652853</c:v>
                </c:pt>
                <c:pt idx="1">
                  <c:v>72.000196950549</c:v>
                </c:pt>
                <c:pt idx="2">
                  <c:v>69.131352259345</c:v>
                </c:pt>
                <c:pt idx="3">
                  <c:v>61.3225391541197</c:v>
                </c:pt>
                <c:pt idx="4">
                  <c:v>67.992432959891</c:v>
                </c:pt>
                <c:pt idx="5">
                  <c:v>76.7262561830606</c:v>
                </c:pt>
                <c:pt idx="6">
                  <c:v>66.2402733906382</c:v>
                </c:pt>
                <c:pt idx="7">
                  <c:v>78.8822425376917</c:v>
                </c:pt>
                <c:pt idx="8">
                  <c:v>88.4485011122489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380070610"/>
        <c:axId val="339188543"/>
      </c:lineChart>
      <c:catAx>
        <c:axId val="99487033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6022969"/>
        <c:crosses val="autoZero"/>
        <c:auto val="1"/>
        <c:lblAlgn val="ctr"/>
        <c:lblOffset val="100"/>
        <c:noMultiLvlLbl val="0"/>
      </c:catAx>
      <c:valAx>
        <c:axId val="17602296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94870337"/>
        <c:crosses val="autoZero"/>
        <c:crossBetween val="between"/>
      </c:valAx>
      <c:catAx>
        <c:axId val="380070610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39188543"/>
        <c:crosses val="autoZero"/>
        <c:auto val="1"/>
        <c:lblAlgn val="ctr"/>
        <c:lblOffset val="100"/>
        <c:noMultiLvlLbl val="0"/>
      </c:catAx>
      <c:valAx>
        <c:axId val="339188543"/>
        <c:scaling>
          <c:orientation val="minMax"/>
        </c:scaling>
        <c:delete val="0"/>
        <c:axPos val="r"/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80070610"/>
        <c:crosses val="max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IG Machine Rejection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'[12.PD REPORT DEC-25 SHILPA (2).xlsx]IG'!$D$109</c:f>
              <c:strCache>
                <c:ptCount val="1"/>
                <c:pt idx="0">
                  <c:v>Rejection 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'[12.PD REPORT DEC-25 SHILPA (2).xlsx]IG'!$A$110:$A$121</c:f>
              <c:strCache>
                <c:ptCount val="12"/>
                <c:pt idx="0">
                  <c:v>IG.17</c:v>
                </c:pt>
                <c:pt idx="1">
                  <c:v>IG.01</c:v>
                </c:pt>
                <c:pt idx="2">
                  <c:v>IG.18</c:v>
                </c:pt>
                <c:pt idx="3">
                  <c:v>IG.11</c:v>
                </c:pt>
                <c:pt idx="4">
                  <c:v>IG.15</c:v>
                </c:pt>
                <c:pt idx="5">
                  <c:v>IG.12</c:v>
                </c:pt>
                <c:pt idx="6">
                  <c:v>IG.16</c:v>
                </c:pt>
                <c:pt idx="7">
                  <c:v>IG.04</c:v>
                </c:pt>
                <c:pt idx="8">
                  <c:v>IG.13</c:v>
                </c:pt>
                <c:pt idx="9">
                  <c:v>IG 20</c:v>
                </c:pt>
                <c:pt idx="10">
                  <c:v>IG 19</c:v>
                </c:pt>
                <c:pt idx="11">
                  <c:v>IG.14</c:v>
                </c:pt>
              </c:strCache>
            </c:strRef>
          </c:cat>
          <c:val>
            <c:numRef>
              <c:f>'[12.PD REPORT DEC-25 SHILPA (2).xlsx]IG'!$D$110:$D$121</c:f>
              <c:numCache>
                <c:formatCode>0.00_ </c:formatCode>
                <c:ptCount val="12"/>
                <c:pt idx="0">
                  <c:v>3.51363584927011</c:v>
                </c:pt>
                <c:pt idx="1">
                  <c:v>3.07432139450178</c:v>
                </c:pt>
                <c:pt idx="2">
                  <c:v>2.9475004479484</c:v>
                </c:pt>
                <c:pt idx="3">
                  <c:v>2.06888444810156</c:v>
                </c:pt>
                <c:pt idx="4">
                  <c:v>1.95263062737299</c:v>
                </c:pt>
                <c:pt idx="5">
                  <c:v>1.92298447190039</c:v>
                </c:pt>
                <c:pt idx="6">
                  <c:v>1.80165816326531</c:v>
                </c:pt>
                <c:pt idx="7">
                  <c:v>1.37365128298123</c:v>
                </c:pt>
                <c:pt idx="8">
                  <c:v>1.37032536789523</c:v>
                </c:pt>
                <c:pt idx="9">
                  <c:v>0.793408605431797</c:v>
                </c:pt>
                <c:pt idx="10">
                  <c:v>0.388711809064759</c:v>
                </c:pt>
                <c:pt idx="11">
                  <c:v>0.370843591261803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9363486"/>
        <c:axId val="64638839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'[12.PD REPORT DEC-25 SHILPA (2).xlsx]IG'!$B$109</c15:sqref>
                        </c15:formulaRef>
                      </c:ext>
                    </c:extLst>
                    <c:strCache>
                      <c:ptCount val="1"/>
                      <c:pt idx="0">
                        <c:v>Sum of IN Running REJ.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'[12.PD REPORT DEC-25 SHILPA (2).xlsx]IG'!$A$110:$A$121</c15:sqref>
                        </c15:formulaRef>
                      </c:ext>
                    </c:extLst>
                    <c:strCache>
                      <c:ptCount val="12"/>
                      <c:pt idx="0">
                        <c:v>IG.17</c:v>
                      </c:pt>
                      <c:pt idx="1">
                        <c:v>IG.01</c:v>
                      </c:pt>
                      <c:pt idx="2">
                        <c:v>IG.18</c:v>
                      </c:pt>
                      <c:pt idx="3">
                        <c:v>IG.11</c:v>
                      </c:pt>
                      <c:pt idx="4">
                        <c:v>IG.15</c:v>
                      </c:pt>
                      <c:pt idx="5">
                        <c:v>IG.12</c:v>
                      </c:pt>
                      <c:pt idx="6">
                        <c:v>IG.16</c:v>
                      </c:pt>
                      <c:pt idx="7">
                        <c:v>IG.04</c:v>
                      </c:pt>
                      <c:pt idx="8">
                        <c:v>IG.13</c:v>
                      </c:pt>
                      <c:pt idx="9">
                        <c:v>IG 20</c:v>
                      </c:pt>
                      <c:pt idx="10">
                        <c:v>IG 19</c:v>
                      </c:pt>
                      <c:pt idx="11">
                        <c:v>IG.14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{621,1418,658,176,540,400,565,606,203,52,50,119}</c15:sqref>
                        </c15:formulaRef>
                      </c:ext>
                    </c:extLst>
                    <c:numCache>
                      <c:formatCode>0_ </c:formatCode>
                      <c:ptCount val="12"/>
                      <c:pt idx="0">
                        <c:v>621</c:v>
                      </c:pt>
                      <c:pt idx="1">
                        <c:v>1418</c:v>
                      </c:pt>
                      <c:pt idx="2">
                        <c:v>658</c:v>
                      </c:pt>
                      <c:pt idx="3">
                        <c:v>176</c:v>
                      </c:pt>
                      <c:pt idx="4">
                        <c:v>540</c:v>
                      </c:pt>
                      <c:pt idx="5">
                        <c:v>400</c:v>
                      </c:pt>
                      <c:pt idx="6">
                        <c:v>565</c:v>
                      </c:pt>
                      <c:pt idx="7">
                        <c:v>606</c:v>
                      </c:pt>
                      <c:pt idx="8">
                        <c:v>203</c:v>
                      </c:pt>
                      <c:pt idx="9">
                        <c:v>52</c:v>
                      </c:pt>
                      <c:pt idx="10">
                        <c:v>50</c:v>
                      </c:pt>
                      <c:pt idx="11">
                        <c:v>119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'[12.PD REPORT DEC-25 SHILPA (2).xlsx]IG'!$C$109</c15:sqref>
                        </c15:formulaRef>
                      </c:ext>
                    </c:extLst>
                    <c:strCache>
                      <c:ptCount val="1"/>
                      <c:pt idx="0">
                        <c:v>Sum of Total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'[12.PD REPORT DEC-25 SHILPA (2).xlsx]IG'!$A$110:$A$121</c15:sqref>
                        </c15:formulaRef>
                      </c:ext>
                    </c:extLst>
                    <c:strCache>
                      <c:ptCount val="12"/>
                      <c:pt idx="0">
                        <c:v>IG.17</c:v>
                      </c:pt>
                      <c:pt idx="1">
                        <c:v>IG.01</c:v>
                      </c:pt>
                      <c:pt idx="2">
                        <c:v>IG.18</c:v>
                      </c:pt>
                      <c:pt idx="3">
                        <c:v>IG.11</c:v>
                      </c:pt>
                      <c:pt idx="4">
                        <c:v>IG.15</c:v>
                      </c:pt>
                      <c:pt idx="5">
                        <c:v>IG.12</c:v>
                      </c:pt>
                      <c:pt idx="6">
                        <c:v>IG.16</c:v>
                      </c:pt>
                      <c:pt idx="7">
                        <c:v>IG.04</c:v>
                      </c:pt>
                      <c:pt idx="8">
                        <c:v>IG.13</c:v>
                      </c:pt>
                      <c:pt idx="9">
                        <c:v>IG 20</c:v>
                      </c:pt>
                      <c:pt idx="10">
                        <c:v>IG 19</c:v>
                      </c:pt>
                      <c:pt idx="11">
                        <c:v>IG.14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{17674,46124,22324,8507,27655,20801,31360,44116,14814,6554,12863,32089}</c15:sqref>
                        </c15:formulaRef>
                      </c:ext>
                    </c:extLst>
                    <c:numCache>
                      <c:formatCode>0_ </c:formatCode>
                      <c:ptCount val="12"/>
                      <c:pt idx="0">
                        <c:v>17674</c:v>
                      </c:pt>
                      <c:pt idx="1">
                        <c:v>46124</c:v>
                      </c:pt>
                      <c:pt idx="2">
                        <c:v>22324</c:v>
                      </c:pt>
                      <c:pt idx="3">
                        <c:v>8507</c:v>
                      </c:pt>
                      <c:pt idx="4">
                        <c:v>27655</c:v>
                      </c:pt>
                      <c:pt idx="5">
                        <c:v>20801</c:v>
                      </c:pt>
                      <c:pt idx="6">
                        <c:v>31360</c:v>
                      </c:pt>
                      <c:pt idx="7">
                        <c:v>44116</c:v>
                      </c:pt>
                      <c:pt idx="8">
                        <c:v>14814</c:v>
                      </c:pt>
                      <c:pt idx="9">
                        <c:v>6554</c:v>
                      </c:pt>
                      <c:pt idx="10">
                        <c:v>12863</c:v>
                      </c:pt>
                      <c:pt idx="11">
                        <c:v>32089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13936348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46388398"/>
        <c:crosses val="autoZero"/>
        <c:auto val="1"/>
        <c:lblAlgn val="ctr"/>
        <c:lblOffset val="100"/>
        <c:noMultiLvlLbl val="0"/>
      </c:catAx>
      <c:valAx>
        <c:axId val="64638839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936348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IG Machine Rework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'[12.PD REPORT DEC-25 SHILPA (2).xlsx]IG'!$D$125</c:f>
              <c:strCache>
                <c:ptCount val="1"/>
                <c:pt idx="0">
                  <c:v>Rework 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'[12.PD REPORT DEC-25 SHILPA (2).xlsx]IG'!$A$126:$A$137</c:f>
              <c:strCache>
                <c:ptCount val="12"/>
                <c:pt idx="0">
                  <c:v>IG.11</c:v>
                </c:pt>
                <c:pt idx="1">
                  <c:v>IG.17</c:v>
                </c:pt>
                <c:pt idx="2">
                  <c:v>IG.13</c:v>
                </c:pt>
                <c:pt idx="3">
                  <c:v>IG.18</c:v>
                </c:pt>
                <c:pt idx="4">
                  <c:v>IG.12</c:v>
                </c:pt>
                <c:pt idx="5">
                  <c:v>IG 20</c:v>
                </c:pt>
                <c:pt idx="6">
                  <c:v>IG.16</c:v>
                </c:pt>
                <c:pt idx="7">
                  <c:v>IG 19</c:v>
                </c:pt>
                <c:pt idx="8">
                  <c:v>IG.01</c:v>
                </c:pt>
                <c:pt idx="9">
                  <c:v>IG.14</c:v>
                </c:pt>
                <c:pt idx="10">
                  <c:v>IG.15</c:v>
                </c:pt>
                <c:pt idx="11">
                  <c:v>IG.04</c:v>
                </c:pt>
              </c:strCache>
            </c:strRef>
          </c:cat>
          <c:val>
            <c:numRef>
              <c:f>'[12.PD REPORT DEC-25 SHILPA (2).xlsx]IG'!$D$126:$D$137</c:f>
              <c:numCache>
                <c:formatCode>0.00_ </c:formatCode>
                <c:ptCount val="12"/>
                <c:pt idx="0">
                  <c:v>9.08663453626425</c:v>
                </c:pt>
                <c:pt idx="1">
                  <c:v>7.29885707819396</c:v>
                </c:pt>
                <c:pt idx="2">
                  <c:v>7.04063723504793</c:v>
                </c:pt>
                <c:pt idx="3">
                  <c:v>5.89948037986024</c:v>
                </c:pt>
                <c:pt idx="4">
                  <c:v>5.78818326042017</c:v>
                </c:pt>
                <c:pt idx="5">
                  <c:v>2.86847726579188</c:v>
                </c:pt>
                <c:pt idx="6">
                  <c:v>2.57334183673469</c:v>
                </c:pt>
                <c:pt idx="7">
                  <c:v>2.51885252273964</c:v>
                </c:pt>
                <c:pt idx="8">
                  <c:v>2.38921169022635</c:v>
                </c:pt>
                <c:pt idx="9">
                  <c:v>2.1689675589766</c:v>
                </c:pt>
                <c:pt idx="10">
                  <c:v>2.07195805460134</c:v>
                </c:pt>
                <c:pt idx="11">
                  <c:v>1.70913047420437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28780082"/>
        <c:axId val="76181309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'[12.PD REPORT DEC-25 SHILPA (2).xlsx]IG'!$B$125</c15:sqref>
                        </c15:formulaRef>
                      </c:ext>
                    </c:extLst>
                    <c:strCache>
                      <c:ptCount val="1"/>
                      <c:pt idx="0">
                        <c:v>Sum of Rework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'[12.PD REPORT DEC-25 SHILPA (2).xlsx]IG'!$A$126:$A$137</c15:sqref>
                        </c15:formulaRef>
                      </c:ext>
                    </c:extLst>
                    <c:strCache>
                      <c:ptCount val="12"/>
                      <c:pt idx="0">
                        <c:v>IG.11</c:v>
                      </c:pt>
                      <c:pt idx="1">
                        <c:v>IG.17</c:v>
                      </c:pt>
                      <c:pt idx="2">
                        <c:v>IG.13</c:v>
                      </c:pt>
                      <c:pt idx="3">
                        <c:v>IG.18</c:v>
                      </c:pt>
                      <c:pt idx="4">
                        <c:v>IG.12</c:v>
                      </c:pt>
                      <c:pt idx="5">
                        <c:v>IG 20</c:v>
                      </c:pt>
                      <c:pt idx="6">
                        <c:v>IG.16</c:v>
                      </c:pt>
                      <c:pt idx="7">
                        <c:v>IG 19</c:v>
                      </c:pt>
                      <c:pt idx="8">
                        <c:v>IG.01</c:v>
                      </c:pt>
                      <c:pt idx="9">
                        <c:v>IG.14</c:v>
                      </c:pt>
                      <c:pt idx="10">
                        <c:v>IG.15</c:v>
                      </c:pt>
                      <c:pt idx="11">
                        <c:v>IG.04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{773,1290,1043,1317,1204,188,807,324,1102,696,573,754}</c15:sqref>
                        </c15:formulaRef>
                      </c:ext>
                    </c:extLst>
                    <c:numCache>
                      <c:formatCode>0_ </c:formatCode>
                      <c:ptCount val="12"/>
                      <c:pt idx="0">
                        <c:v>773</c:v>
                      </c:pt>
                      <c:pt idx="1">
                        <c:v>1290</c:v>
                      </c:pt>
                      <c:pt idx="2">
                        <c:v>1043</c:v>
                      </c:pt>
                      <c:pt idx="3">
                        <c:v>1317</c:v>
                      </c:pt>
                      <c:pt idx="4">
                        <c:v>1204</c:v>
                      </c:pt>
                      <c:pt idx="5">
                        <c:v>188</c:v>
                      </c:pt>
                      <c:pt idx="6">
                        <c:v>807</c:v>
                      </c:pt>
                      <c:pt idx="7">
                        <c:v>324</c:v>
                      </c:pt>
                      <c:pt idx="8">
                        <c:v>1102</c:v>
                      </c:pt>
                      <c:pt idx="9">
                        <c:v>696</c:v>
                      </c:pt>
                      <c:pt idx="10">
                        <c:v>573</c:v>
                      </c:pt>
                      <c:pt idx="11">
                        <c:v>754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'[12.PD REPORT DEC-25 SHILPA (2).xlsx]IG'!$C$125</c15:sqref>
                        </c15:formulaRef>
                      </c:ext>
                    </c:extLst>
                    <c:strCache>
                      <c:ptCount val="1"/>
                      <c:pt idx="0">
                        <c:v>Sum of Total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'[12.PD REPORT DEC-25 SHILPA (2).xlsx]IG'!$A$126:$A$137</c15:sqref>
                        </c15:formulaRef>
                      </c:ext>
                    </c:extLst>
                    <c:strCache>
                      <c:ptCount val="12"/>
                      <c:pt idx="0">
                        <c:v>IG.11</c:v>
                      </c:pt>
                      <c:pt idx="1">
                        <c:v>IG.17</c:v>
                      </c:pt>
                      <c:pt idx="2">
                        <c:v>IG.13</c:v>
                      </c:pt>
                      <c:pt idx="3">
                        <c:v>IG.18</c:v>
                      </c:pt>
                      <c:pt idx="4">
                        <c:v>IG.12</c:v>
                      </c:pt>
                      <c:pt idx="5">
                        <c:v>IG 20</c:v>
                      </c:pt>
                      <c:pt idx="6">
                        <c:v>IG.16</c:v>
                      </c:pt>
                      <c:pt idx="7">
                        <c:v>IG 19</c:v>
                      </c:pt>
                      <c:pt idx="8">
                        <c:v>IG.01</c:v>
                      </c:pt>
                      <c:pt idx="9">
                        <c:v>IG.14</c:v>
                      </c:pt>
                      <c:pt idx="10">
                        <c:v>IG.15</c:v>
                      </c:pt>
                      <c:pt idx="11">
                        <c:v>IG.04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{8507,17674,14814,22324,20801,6554,31360,12863,46124,32089,27655,44116}</c15:sqref>
                        </c15:formulaRef>
                      </c:ext>
                    </c:extLst>
                    <c:numCache>
                      <c:formatCode>0_ </c:formatCode>
                      <c:ptCount val="12"/>
                      <c:pt idx="0">
                        <c:v>8507</c:v>
                      </c:pt>
                      <c:pt idx="1">
                        <c:v>17674</c:v>
                      </c:pt>
                      <c:pt idx="2">
                        <c:v>14814</c:v>
                      </c:pt>
                      <c:pt idx="3">
                        <c:v>22324</c:v>
                      </c:pt>
                      <c:pt idx="4">
                        <c:v>20801</c:v>
                      </c:pt>
                      <c:pt idx="5">
                        <c:v>6554</c:v>
                      </c:pt>
                      <c:pt idx="6">
                        <c:v>31360</c:v>
                      </c:pt>
                      <c:pt idx="7">
                        <c:v>12863</c:v>
                      </c:pt>
                      <c:pt idx="8">
                        <c:v>46124</c:v>
                      </c:pt>
                      <c:pt idx="9">
                        <c:v>32089</c:v>
                      </c:pt>
                      <c:pt idx="10">
                        <c:v>27655</c:v>
                      </c:pt>
                      <c:pt idx="11">
                        <c:v>44116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42878008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61813090"/>
        <c:crosses val="autoZero"/>
        <c:auto val="1"/>
        <c:lblAlgn val="ctr"/>
        <c:lblOffset val="100"/>
        <c:noMultiLvlLbl val="0"/>
      </c:catAx>
      <c:valAx>
        <c:axId val="76181309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878008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Top 8 contributor for rej. in Qty.</a:t>
            </a:r>
          </a:p>
        </c:rich>
      </c:tx>
      <c:layout>
        <c:manualLayout>
          <c:xMode val="edge"/>
          <c:yMode val="edge"/>
          <c:x val="0.339942028985507"/>
          <c:y val="0.031034482758620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'[12.PD REPORT DEC-25 SHILPA (2).xlsx]IG'!$C$141</c:f>
              <c:strCache>
                <c:ptCount val="1"/>
                <c:pt idx="0">
                  <c:v>Sum of IN Running REJ.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'[12.PD REPORT DEC-25 SHILPA (2).xlsx]IG'!$B$142:$B$149</c:f>
              <c:numCache>
                <c:formatCode>General</c:formatCode>
                <c:ptCount val="8"/>
                <c:pt idx="0">
                  <c:v>100299.14</c:v>
                </c:pt>
                <c:pt idx="1">
                  <c:v>104299</c:v>
                </c:pt>
                <c:pt idx="2">
                  <c:v>100261</c:v>
                </c:pt>
                <c:pt idx="3">
                  <c:v>200827.1</c:v>
                </c:pt>
                <c:pt idx="4">
                  <c:v>104328.01</c:v>
                </c:pt>
                <c:pt idx="5">
                  <c:v>100299.28</c:v>
                </c:pt>
                <c:pt idx="6">
                  <c:v>1526013.01</c:v>
                </c:pt>
                <c:pt idx="7">
                  <c:v>104737</c:v>
                </c:pt>
              </c:numCache>
            </c:numRef>
          </c:cat>
          <c:val>
            <c:numRef>
              <c:f>'[12.PD REPORT DEC-25 SHILPA (2).xlsx]IG'!$C$142:$C$149</c:f>
              <c:numCache>
                <c:formatCode>0_ </c:formatCode>
                <c:ptCount val="8"/>
                <c:pt idx="0">
                  <c:v>633</c:v>
                </c:pt>
                <c:pt idx="1">
                  <c:v>608</c:v>
                </c:pt>
                <c:pt idx="2">
                  <c:v>306</c:v>
                </c:pt>
                <c:pt idx="3">
                  <c:v>316</c:v>
                </c:pt>
                <c:pt idx="4">
                  <c:v>258</c:v>
                </c:pt>
                <c:pt idx="5">
                  <c:v>241</c:v>
                </c:pt>
                <c:pt idx="6">
                  <c:v>214</c:v>
                </c:pt>
                <c:pt idx="7">
                  <c:v>206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2294997"/>
        <c:axId val="81085076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'[12.PD REPORT DEC-25 SHILPA (2).xlsx]IG'!$B$141</c15:sqref>
                        </c15:formulaRef>
                      </c:ext>
                    </c:extLst>
                    <c:strCache>
                      <c:ptCount val="1"/>
                      <c:pt idx="0">
                        <c:v>ITEM CODE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'[12.PD REPORT DEC-25 SHILPA (2).xlsx]IG'!$B$142:$B$149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100299.14</c:v>
                      </c:pt>
                      <c:pt idx="1">
                        <c:v>104299</c:v>
                      </c:pt>
                      <c:pt idx="2">
                        <c:v>100261</c:v>
                      </c:pt>
                      <c:pt idx="3">
                        <c:v>200827.1</c:v>
                      </c:pt>
                      <c:pt idx="4">
                        <c:v>104328.01</c:v>
                      </c:pt>
                      <c:pt idx="5">
                        <c:v>100299.28</c:v>
                      </c:pt>
                      <c:pt idx="6">
                        <c:v>1526013.01</c:v>
                      </c:pt>
                      <c:pt idx="7">
                        <c:v>104737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{100299.14,104299,100261,200827.1,104328.01,100299.28,1526013.01,104737}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100299.14</c:v>
                      </c:pt>
                      <c:pt idx="1">
                        <c:v>104299</c:v>
                      </c:pt>
                      <c:pt idx="2">
                        <c:v>100261</c:v>
                      </c:pt>
                      <c:pt idx="3">
                        <c:v>200827.1</c:v>
                      </c:pt>
                      <c:pt idx="4">
                        <c:v>104328.01</c:v>
                      </c:pt>
                      <c:pt idx="5">
                        <c:v>100299.28</c:v>
                      </c:pt>
                      <c:pt idx="6">
                        <c:v>1526013.01</c:v>
                      </c:pt>
                      <c:pt idx="7">
                        <c:v>104737</c:v>
                      </c:pt>
                    </c:numCache>
                  </c:numRef>
                </c:val>
              </c15:ser>
            </c15:filteredBarSeries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'[12.PD REPORT DEC-25 SHILPA (2).xlsx]IG'!$D$141</c15:sqref>
                        </c15:formulaRef>
                      </c:ext>
                    </c:extLst>
                    <c:strCache>
                      <c:ptCount val="1"/>
                      <c:pt idx="0">
                        <c:v>Sum of Total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'[12.PD REPORT DEC-25 SHILPA (2).xlsx]IG'!$B$142:$B$149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100299.14</c:v>
                      </c:pt>
                      <c:pt idx="1">
                        <c:v>104299</c:v>
                      </c:pt>
                      <c:pt idx="2">
                        <c:v>100261</c:v>
                      </c:pt>
                      <c:pt idx="3">
                        <c:v>200827.1</c:v>
                      </c:pt>
                      <c:pt idx="4">
                        <c:v>104328.01</c:v>
                      </c:pt>
                      <c:pt idx="5">
                        <c:v>100299.28</c:v>
                      </c:pt>
                      <c:pt idx="6">
                        <c:v>1526013.01</c:v>
                      </c:pt>
                      <c:pt idx="7">
                        <c:v>104737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{8617,26726,7910,19508,2072,17968,16772,4313}</c15:sqref>
                        </c15:formulaRef>
                      </c:ext>
                    </c:extLst>
                    <c:numCache>
                      <c:formatCode>0_ </c:formatCode>
                      <c:ptCount val="8"/>
                      <c:pt idx="0">
                        <c:v>8617</c:v>
                      </c:pt>
                      <c:pt idx="1">
                        <c:v>26726</c:v>
                      </c:pt>
                      <c:pt idx="2">
                        <c:v>7910</c:v>
                      </c:pt>
                      <c:pt idx="3">
                        <c:v>19508</c:v>
                      </c:pt>
                      <c:pt idx="4">
                        <c:v>2072</c:v>
                      </c:pt>
                      <c:pt idx="5">
                        <c:v>17968</c:v>
                      </c:pt>
                      <c:pt idx="6">
                        <c:v>16772</c:v>
                      </c:pt>
                      <c:pt idx="7">
                        <c:v>4313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72229499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10850768"/>
        <c:crosses val="autoZero"/>
        <c:auto val="1"/>
        <c:lblAlgn val="ctr"/>
        <c:lblOffset val="100"/>
        <c:noMultiLvlLbl val="0"/>
      </c:catAx>
      <c:valAx>
        <c:axId val="810850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229499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EG machine Rejection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'[12.PD REPORT DEC-25 SHILPA (2).xlsx]IG'!$D$160</c:f>
              <c:strCache>
                <c:ptCount val="1"/>
                <c:pt idx="0">
                  <c:v>Rejection 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'[12.PD REPORT DEC-25 SHILPA (2).xlsx]IG'!$A$161:$A$165</c:f>
              <c:strCache>
                <c:ptCount val="5"/>
                <c:pt idx="0">
                  <c:v>EG.04</c:v>
                </c:pt>
                <c:pt idx="1">
                  <c:v>EG.05</c:v>
                </c:pt>
                <c:pt idx="2">
                  <c:v>EG 08</c:v>
                </c:pt>
                <c:pt idx="3">
                  <c:v>EG.02</c:v>
                </c:pt>
                <c:pt idx="4">
                  <c:v>EG.07</c:v>
                </c:pt>
              </c:strCache>
            </c:strRef>
          </c:cat>
          <c:val>
            <c:numRef>
              <c:f>'[12.PD REPORT DEC-25 SHILPA (2).xlsx]IG'!$D$161:$D$165</c:f>
              <c:numCache>
                <c:formatCode>0.00_ </c:formatCode>
                <c:ptCount val="5"/>
                <c:pt idx="0">
                  <c:v>1.27689347559909</c:v>
                </c:pt>
                <c:pt idx="1">
                  <c:v>0.608457560085184</c:v>
                </c:pt>
                <c:pt idx="2">
                  <c:v>0.252815444725351</c:v>
                </c:pt>
                <c:pt idx="3">
                  <c:v>0.192867677646258</c:v>
                </c:pt>
                <c:pt idx="4">
                  <c:v>0.113722517058378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44242269"/>
        <c:axId val="98344095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'[12.PD REPORT DEC-25 SHILPA (2).xlsx]IG'!$B$160</c15:sqref>
                        </c15:formulaRef>
                      </c:ext>
                    </c:extLst>
                    <c:strCache>
                      <c:ptCount val="1"/>
                      <c:pt idx="0">
                        <c:v>Sum of IN Running REJ.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'[12.PD REPORT DEC-25 SHILPA (2).xlsx]IG'!$A$161:$A$165</c15:sqref>
                        </c15:formulaRef>
                      </c:ext>
                    </c:extLst>
                    <c:strCache>
                      <c:ptCount val="5"/>
                      <c:pt idx="0">
                        <c:v>EG.04</c:v>
                      </c:pt>
                      <c:pt idx="1">
                        <c:v>EG.05</c:v>
                      </c:pt>
                      <c:pt idx="2">
                        <c:v>EG 08</c:v>
                      </c:pt>
                      <c:pt idx="3">
                        <c:v>EG.02</c:v>
                      </c:pt>
                      <c:pt idx="4">
                        <c:v>EG.07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{73,60,33,51,36}</c15:sqref>
                        </c15:formulaRef>
                      </c:ext>
                    </c:extLst>
                    <c:numCache>
                      <c:formatCode>0_ </c:formatCode>
                      <c:ptCount val="5"/>
                      <c:pt idx="0">
                        <c:v>73</c:v>
                      </c:pt>
                      <c:pt idx="1">
                        <c:v>60</c:v>
                      </c:pt>
                      <c:pt idx="2">
                        <c:v>33</c:v>
                      </c:pt>
                      <c:pt idx="3">
                        <c:v>51</c:v>
                      </c:pt>
                      <c:pt idx="4">
                        <c:v>36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'[12.PD REPORT DEC-25 SHILPA (2).xlsx]IG'!$C$160</c15:sqref>
                        </c15:formulaRef>
                      </c:ext>
                    </c:extLst>
                    <c:strCache>
                      <c:ptCount val="1"/>
                      <c:pt idx="0">
                        <c:v>Sum of Total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'[12.PD REPORT DEC-25 SHILPA (2).xlsx]IG'!$A$161:$A$165</c15:sqref>
                        </c15:formulaRef>
                      </c:ext>
                    </c:extLst>
                    <c:strCache>
                      <c:ptCount val="5"/>
                      <c:pt idx="0">
                        <c:v>EG.04</c:v>
                      </c:pt>
                      <c:pt idx="1">
                        <c:v>EG.05</c:v>
                      </c:pt>
                      <c:pt idx="2">
                        <c:v>EG 08</c:v>
                      </c:pt>
                      <c:pt idx="3">
                        <c:v>EG.02</c:v>
                      </c:pt>
                      <c:pt idx="4">
                        <c:v>EG.07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{5717,9861,13053,26443,31656}</c15:sqref>
                        </c15:formulaRef>
                      </c:ext>
                    </c:extLst>
                    <c:numCache>
                      <c:formatCode>0_ </c:formatCode>
                      <c:ptCount val="5"/>
                      <c:pt idx="0">
                        <c:v>5717</c:v>
                      </c:pt>
                      <c:pt idx="1">
                        <c:v>9861</c:v>
                      </c:pt>
                      <c:pt idx="2">
                        <c:v>13053</c:v>
                      </c:pt>
                      <c:pt idx="3">
                        <c:v>26443</c:v>
                      </c:pt>
                      <c:pt idx="4">
                        <c:v>31656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84424226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3440956"/>
        <c:crosses val="autoZero"/>
        <c:auto val="1"/>
        <c:lblAlgn val="ctr"/>
        <c:lblOffset val="100"/>
        <c:noMultiLvlLbl val="0"/>
      </c:catAx>
      <c:valAx>
        <c:axId val="9834409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4424226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EG machine Rework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'[12.PD REPORT DEC-25 SHILPA (2).xlsx]IG'!$D$168</c:f>
              <c:strCache>
                <c:ptCount val="1"/>
                <c:pt idx="0">
                  <c:v>Rework 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'[12.PD REPORT DEC-25 SHILPA (2).xlsx]IG'!$A$169:$A$173</c:f>
              <c:strCache>
                <c:ptCount val="5"/>
                <c:pt idx="0">
                  <c:v>EG.04</c:v>
                </c:pt>
                <c:pt idx="1">
                  <c:v>EG 08</c:v>
                </c:pt>
                <c:pt idx="2">
                  <c:v>EG.05</c:v>
                </c:pt>
                <c:pt idx="3">
                  <c:v>EG.02</c:v>
                </c:pt>
                <c:pt idx="4">
                  <c:v>EG.07</c:v>
                </c:pt>
              </c:strCache>
            </c:strRef>
          </c:cat>
          <c:val>
            <c:numRef>
              <c:f>'[12.PD REPORT DEC-25 SHILPA (2).xlsx]IG'!$D$169:$D$173</c:f>
              <c:numCache>
                <c:formatCode>0.00_ </c:formatCode>
                <c:ptCount val="5"/>
                <c:pt idx="0">
                  <c:v>2.86863739723631</c:v>
                </c:pt>
                <c:pt idx="1">
                  <c:v>1.65479200183866</c:v>
                </c:pt>
                <c:pt idx="2">
                  <c:v>1.3386066321874</c:v>
                </c:pt>
                <c:pt idx="3">
                  <c:v>0.419770827818326</c:v>
                </c:pt>
                <c:pt idx="4">
                  <c:v>0.142153146322972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5192301"/>
        <c:axId val="26343785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'[12.PD REPORT DEC-25 SHILPA (2).xlsx]IG'!$B$168</c15:sqref>
                        </c15:formulaRef>
                      </c:ext>
                    </c:extLst>
                    <c:strCache>
                      <c:ptCount val="1"/>
                      <c:pt idx="0">
                        <c:v>Sum of Rework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'[12.PD REPORT DEC-25 SHILPA (2).xlsx]IG'!$A$169:$A$173</c15:sqref>
                        </c15:formulaRef>
                      </c:ext>
                    </c:extLst>
                    <c:strCache>
                      <c:ptCount val="5"/>
                      <c:pt idx="0">
                        <c:v>EG.04</c:v>
                      </c:pt>
                      <c:pt idx="1">
                        <c:v>EG 08</c:v>
                      </c:pt>
                      <c:pt idx="2">
                        <c:v>EG.05</c:v>
                      </c:pt>
                      <c:pt idx="3">
                        <c:v>EG.02</c:v>
                      </c:pt>
                      <c:pt idx="4">
                        <c:v>EG.07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{164,216,132,111,45}</c15:sqref>
                        </c15:formulaRef>
                      </c:ext>
                    </c:extLst>
                    <c:numCache>
                      <c:formatCode>0_ </c:formatCode>
                      <c:ptCount val="5"/>
                      <c:pt idx="0">
                        <c:v>164</c:v>
                      </c:pt>
                      <c:pt idx="1">
                        <c:v>216</c:v>
                      </c:pt>
                      <c:pt idx="2">
                        <c:v>132</c:v>
                      </c:pt>
                      <c:pt idx="3">
                        <c:v>111</c:v>
                      </c:pt>
                      <c:pt idx="4">
                        <c:v>45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'[12.PD REPORT DEC-25 SHILPA (2).xlsx]IG'!$C$168</c15:sqref>
                        </c15:formulaRef>
                      </c:ext>
                    </c:extLst>
                    <c:strCache>
                      <c:ptCount val="1"/>
                      <c:pt idx="0">
                        <c:v>Sum of Total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'[12.PD REPORT DEC-25 SHILPA (2).xlsx]IG'!$A$169:$A$173</c15:sqref>
                        </c15:formulaRef>
                      </c:ext>
                    </c:extLst>
                    <c:strCache>
                      <c:ptCount val="5"/>
                      <c:pt idx="0">
                        <c:v>EG.04</c:v>
                      </c:pt>
                      <c:pt idx="1">
                        <c:v>EG 08</c:v>
                      </c:pt>
                      <c:pt idx="2">
                        <c:v>EG.05</c:v>
                      </c:pt>
                      <c:pt idx="3">
                        <c:v>EG.02</c:v>
                      </c:pt>
                      <c:pt idx="4">
                        <c:v>EG.07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{5717,13053,9861,26443,31656}</c15:sqref>
                        </c15:formulaRef>
                      </c:ext>
                    </c:extLst>
                    <c:numCache>
                      <c:formatCode>0_ </c:formatCode>
                      <c:ptCount val="5"/>
                      <c:pt idx="0">
                        <c:v>5717</c:v>
                      </c:pt>
                      <c:pt idx="1">
                        <c:v>13053</c:v>
                      </c:pt>
                      <c:pt idx="2">
                        <c:v>9861</c:v>
                      </c:pt>
                      <c:pt idx="3">
                        <c:v>26443</c:v>
                      </c:pt>
                      <c:pt idx="4">
                        <c:v>31656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885192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63437856"/>
        <c:crosses val="autoZero"/>
        <c:auto val="1"/>
        <c:lblAlgn val="ctr"/>
        <c:lblOffset val="100"/>
        <c:noMultiLvlLbl val="0"/>
      </c:catAx>
      <c:valAx>
        <c:axId val="263437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8519230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FG machine Rejection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'[12.PD REPORT DEC-25 SHILPA (2).xlsx]IG'!$D$191</c:f>
              <c:strCache>
                <c:ptCount val="1"/>
                <c:pt idx="0">
                  <c:v>Rejection 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'[12.PD REPORT DEC-25 SHILPA (2).xlsx]IG'!$A$192:$A$193</c:f>
              <c:strCache>
                <c:ptCount val="2"/>
                <c:pt idx="0">
                  <c:v>FG.04</c:v>
                </c:pt>
                <c:pt idx="1">
                  <c:v>FG.03</c:v>
                </c:pt>
              </c:strCache>
            </c:strRef>
          </c:cat>
          <c:val>
            <c:numRef>
              <c:f>'[12.PD REPORT DEC-25 SHILPA (2).xlsx]IG'!$D$192:$D$193</c:f>
              <c:numCache>
                <c:formatCode>0.000_ </c:formatCode>
                <c:ptCount val="2"/>
                <c:pt idx="0">
                  <c:v>0.0188400199704212</c:v>
                </c:pt>
                <c:pt idx="1">
                  <c:v>0.00438147294166616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7311247"/>
        <c:axId val="240165779"/>
      </c:barChart>
      <c:catAx>
        <c:axId val="38731124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40165779"/>
        <c:crosses val="autoZero"/>
        <c:auto val="1"/>
        <c:lblAlgn val="ctr"/>
        <c:lblOffset val="100"/>
        <c:noMultiLvlLbl val="0"/>
      </c:catAx>
      <c:valAx>
        <c:axId val="2401657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8731124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CG Machine Rejection </a:t>
            </a:r>
          </a:p>
        </c:rich>
      </c:tx>
      <c:layout>
        <c:manualLayout>
          <c:xMode val="edge"/>
          <c:yMode val="edge"/>
          <c:x val="0.406597222222222"/>
          <c:y val="0.0277777777777778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'[12.PD REPORT DEC-25 SHILPA (2).xlsx]IG'!$D$206</c:f>
              <c:strCache>
                <c:ptCount val="1"/>
                <c:pt idx="0">
                  <c:v>Rejection%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'[12.PD REPORT DEC-25 SHILPA (2).xlsx]IG'!$A$207:$A$208</c:f>
              <c:strCache>
                <c:ptCount val="2"/>
                <c:pt idx="0">
                  <c:v>CG.03</c:v>
                </c:pt>
                <c:pt idx="1">
                  <c:v>CG.04</c:v>
                </c:pt>
              </c:strCache>
            </c:strRef>
          </c:cat>
          <c:val>
            <c:numRef>
              <c:f>'[12.PD REPORT DEC-25 SHILPA (2).xlsx]IG'!$D$207:$D$208</c:f>
              <c:numCache>
                <c:formatCode>0.0000_ </c:formatCode>
                <c:ptCount val="2"/>
                <c:pt idx="0">
                  <c:v>0.0399514475401868</c:v>
                </c:pt>
                <c:pt idx="1">
                  <c:v>0.0356464277907622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9330776"/>
        <c:axId val="357684226"/>
      </c:barChart>
      <c:catAx>
        <c:axId val="36933077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7684226"/>
        <c:crosses val="autoZero"/>
        <c:auto val="1"/>
        <c:lblAlgn val="ctr"/>
        <c:lblOffset val="100"/>
        <c:noMultiLvlLbl val="0"/>
      </c:catAx>
      <c:valAx>
        <c:axId val="35768422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6933077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8290" y="728345"/>
            <a:ext cx="11643360" cy="5993130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u="sng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sym typeface="+mn-ea"/>
              </a:rPr>
              <a:t>MRS BEARINGS PRIVATE LIMITED</a:t>
            </a:r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r>
              <a:rPr lang="en-US" altLang="en-IN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Dec</a:t>
            </a:r>
            <a:r>
              <a:rPr lang="en-IN" alt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-202</a:t>
            </a:r>
            <a:r>
              <a:rPr lang="en-US" altLang="en-IN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</a:t>
            </a:r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br>
              <a:rPr 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UNIT-I</a:t>
            </a:r>
            <a:endParaRPr lang="en-US" sz="4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n-US" sz="4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302260" y="4431665"/>
            <a:ext cx="116154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charset="0"/>
                <a:cs typeface="Comic Sans MS" panose="030F0702030302020204" charset="0"/>
              </a:rPr>
              <a:t>Production </a:t>
            </a:r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7432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06375" y="-13335"/>
            <a:ext cx="4878070" cy="62357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Plan vs Achievement </a:t>
            </a:r>
            <a:endParaRPr lang="en-US" sz="2400" b="1">
              <a:solidFill>
                <a:schemeClr val="tx1"/>
              </a:solidFill>
            </a:endParaRPr>
          </a:p>
          <a:p>
            <a:pPr algn="ctr"/>
            <a:r>
              <a:rPr lang="en-US" sz="2400" b="1">
                <a:solidFill>
                  <a:schemeClr val="tx1"/>
                </a:solidFill>
              </a:rPr>
              <a:t>Apr to Dec 2025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274320" y="728345"/>
          <a:ext cx="2919095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655"/>
                <a:gridCol w="890270"/>
                <a:gridCol w="821055"/>
                <a:gridCol w="412115"/>
              </a:tblGrid>
              <a:tr h="431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Month</a:t>
                      </a:r>
                      <a:endParaRPr lang="en-US" sz="12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Plan Qty.</a:t>
                      </a:r>
                      <a:endParaRPr lang="en-US" sz="12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Ach. Qty.</a:t>
                      </a:r>
                      <a:endParaRPr lang="en-US" sz="12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Achi.%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Apr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337966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275681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82 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May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304645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219345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72 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Jun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334566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231290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69 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Jul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436161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267465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61 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Aug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434516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295438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68 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Sep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404937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310693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77 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363436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240741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66 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Nov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404399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318999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79 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Dec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396494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350693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88 </a:t>
                      </a:r>
                      <a:endParaRPr lang="en-US" sz="15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3619500" y="1030605"/>
          <a:ext cx="7771130" cy="5325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7432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69875" y="50165"/>
            <a:ext cx="4878070" cy="623570"/>
          </a:xfrm>
          <a:prstGeom prst="roundRect">
            <a:avLst/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5400000" scaled="0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IG Machine Rejection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2" name="Chart 1"/>
          <p:cNvGraphicFramePr/>
          <p:nvPr/>
        </p:nvGraphicFramePr>
        <p:xfrm>
          <a:off x="4120515" y="902970"/>
          <a:ext cx="7536815" cy="5452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Table 4"/>
          <p:cNvGraphicFramePr/>
          <p:nvPr/>
        </p:nvGraphicFramePr>
        <p:xfrm>
          <a:off x="393700" y="902970"/>
          <a:ext cx="3460115" cy="4549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/>
                <a:gridCol w="870585"/>
                <a:gridCol w="955040"/>
                <a:gridCol w="679450"/>
              </a:tblGrid>
              <a:tr h="8953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M/c2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IN Running REJ.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Total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Rejection Percentage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IG.17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621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17674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3.51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1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IG.01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1418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46124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3.07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IG.18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658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22324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2.95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1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IG.11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176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8507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2.07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IG.15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540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27655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1.95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1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IG.12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400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20801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1.92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IG.16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565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31360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1.80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1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IG.04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606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44116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1.37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IG.13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203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14814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1.37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1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 20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52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6554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0.79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 19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12863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0.39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1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IG.14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119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32089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0.37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442970" y="-13335"/>
            <a:ext cx="4878070" cy="623570"/>
          </a:xfrm>
          <a:prstGeom prst="roundRect">
            <a:avLst/>
          </a:prstGeom>
          <a:gradFill>
            <a:gsLst>
              <a:gs pos="0">
                <a:srgbClr val="FECF40"/>
              </a:gs>
              <a:gs pos="100000">
                <a:srgbClr val="846C21"/>
              </a:gs>
            </a:gsLst>
            <a:lin ang="5400000" scaled="0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IG machine Rework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2" name="Chart 1"/>
          <p:cNvGraphicFramePr/>
          <p:nvPr/>
        </p:nvGraphicFramePr>
        <p:xfrm>
          <a:off x="4561840" y="875030"/>
          <a:ext cx="7042150" cy="5658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Table 4"/>
          <p:cNvGraphicFramePr/>
          <p:nvPr/>
        </p:nvGraphicFramePr>
        <p:xfrm>
          <a:off x="441960" y="875030"/>
          <a:ext cx="3605530" cy="5356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5680"/>
                <a:gridCol w="906780"/>
                <a:gridCol w="995045"/>
                <a:gridCol w="708025"/>
              </a:tblGrid>
              <a:tr h="10541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M/c2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Rework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Total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Rework Percentage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IG.11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773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8507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9.09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IG.17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1290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17674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7.30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IG.13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1043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14814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7.04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IG.18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1317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22324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5.90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IG.12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1204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20801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5.79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 20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188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6554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2.87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IG.16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807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31360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2.57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 19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324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12863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2.52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IG.01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1102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46124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2.39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IG.14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696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32089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2.17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IG.15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573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27655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2.07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IG.04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754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44116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1.71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19405" y="34925"/>
            <a:ext cx="4878070" cy="638810"/>
          </a:xfrm>
          <a:prstGeom prst="roundRect">
            <a:avLst/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5400000" scaled="0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  Top Contributed Item 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363220" y="840105"/>
          <a:ext cx="4213860" cy="5048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760"/>
                <a:gridCol w="936625"/>
                <a:gridCol w="940435"/>
                <a:gridCol w="668020"/>
                <a:gridCol w="668020"/>
              </a:tblGrid>
              <a:tr h="899160">
                <a:tc rowSpan="9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Top 8 contributor for rej. in Qty.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ITEM CODE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IN Running REJ.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Total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Machine No.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516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100299.14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633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8617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 01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1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104299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608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26726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 01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1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100261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306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7910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 18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243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200827.1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316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19508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 12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516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104328.01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258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2072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 17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5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100299.28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241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17968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 04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516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1526013.01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214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16772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 04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1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104737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206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4313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IG 16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4907915" y="840105"/>
          <a:ext cx="6736715" cy="5398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30200" y="66040"/>
            <a:ext cx="4878070" cy="623570"/>
          </a:xfrm>
          <a:prstGeom prst="roundRect">
            <a:avLst/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5400000" scaled="0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EG Machine Rejection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330200" y="930910"/>
          <a:ext cx="3105150" cy="146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0"/>
                <a:gridCol w="781050"/>
                <a:gridCol w="857250"/>
                <a:gridCol w="609600"/>
              </a:tblGrid>
              <a:tr h="5715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M/c2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IN Running REJ.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Total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Rejection Percentage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EG.04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73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5717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1.28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EG.05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60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9861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0.61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EG 08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33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13053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0.25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EG.02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51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26443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0.19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EG.07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36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31656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0.11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4168775" y="1053465"/>
          <a:ext cx="7185025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00990" y="66040"/>
            <a:ext cx="4878070" cy="623570"/>
          </a:xfrm>
          <a:prstGeom prst="roundRect">
            <a:avLst/>
          </a:prstGeom>
          <a:gradFill>
            <a:gsLst>
              <a:gs pos="0">
                <a:srgbClr val="FECF40"/>
              </a:gs>
              <a:gs pos="100000">
                <a:srgbClr val="846C21"/>
              </a:gs>
            </a:gsLst>
            <a:lin ang="5400000" scaled="0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EG machine Rework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386715" y="866140"/>
          <a:ext cx="310515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0"/>
                <a:gridCol w="781050"/>
                <a:gridCol w="857250"/>
                <a:gridCol w="609600"/>
              </a:tblGrid>
              <a:tr h="5715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M/c2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Rework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Total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Rework Percentage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EG.04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164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5717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2.87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EG 08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216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13053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1.65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EG.05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132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9861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1.34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EG.02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111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26443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0.42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EG.07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45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31656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0.14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3710940" y="969010"/>
          <a:ext cx="7870825" cy="5484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7432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77190" y="46990"/>
            <a:ext cx="4878070" cy="623570"/>
          </a:xfrm>
          <a:prstGeom prst="roundRect">
            <a:avLst/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5400000" scaled="0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Face Machine Rejection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377190" y="851535"/>
          <a:ext cx="3185160" cy="2475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475"/>
                <a:gridCol w="800735"/>
                <a:gridCol w="879475"/>
                <a:gridCol w="625475"/>
              </a:tblGrid>
              <a:tr h="147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M/c2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IN Running REJ.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Total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Rejection Percentage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</a:tr>
              <a:tr h="5010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FG.04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40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212314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0.019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0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FG.03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8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182587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0.004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3806825" y="982345"/>
          <a:ext cx="7745095" cy="5470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94970" y="46990"/>
            <a:ext cx="4878070" cy="623570"/>
          </a:xfrm>
          <a:prstGeom prst="roundRect">
            <a:avLst/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5400000" scaled="0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tx1"/>
                </a:solidFill>
              </a:rPr>
              <a:t>Centerless Machine Rejection</a:t>
            </a:r>
            <a:endParaRPr lang="en-US" sz="2400" b="1">
              <a:solidFill>
                <a:schemeClr val="tx1"/>
              </a:solidFill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506730" y="870585"/>
          <a:ext cx="3363595" cy="2242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370"/>
                <a:gridCol w="846455"/>
                <a:gridCol w="928370"/>
                <a:gridCol w="660400"/>
              </a:tblGrid>
              <a:tr h="9721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M/c2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IN Running REJ.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Sum of Total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BF8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Rejection%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35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CG.03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157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392977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0.0400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35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CG.04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106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297365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0.0356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35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Grand Total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263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690342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4101465" y="870585"/>
          <a:ext cx="7509510" cy="5381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2077</Words>
  <Application>WPS Presentation</Application>
  <PresentationFormat>Widescreen</PresentationFormat>
  <Paragraphs>589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Arial Black</vt:lpstr>
      <vt:lpstr>Comic Sans MS</vt:lpstr>
      <vt:lpstr>Cambria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PE05</cp:lastModifiedBy>
  <cp:revision>89</cp:revision>
  <dcterms:created xsi:type="dcterms:W3CDTF">2025-05-05T08:20:00Z</dcterms:created>
  <dcterms:modified xsi:type="dcterms:W3CDTF">2026-01-05T03:13:57Z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1033-11.2.0.8310</vt:lpwstr>
  </property>
  <property fmtid="{D5CDD505-2E9C-101B-9397-08002B2CF9AE}" pid="3" name="ICV">
    <vt:lpwstr>F02F4BC2398C4E88B980120B74E3AD9B_12</vt:lpwstr>
  </property>
</Properties>
</file>