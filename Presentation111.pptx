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59" r:id="rId7"/>
    <p:sldId id="264" r:id="rId8"/>
    <p:sldId id="261" r:id="rId9"/>
    <p:sldId id="265" r:id="rId10"/>
    <p:sldId id="269" r:id="rId11"/>
    <p:sldId id="270" r:id="rId12"/>
    <p:sldId id="262" r:id="rId13"/>
    <p:sldId id="263" r:id="rId14"/>
    <p:sldId id="267" r:id="rId15"/>
    <p:sldId id="268" r:id="rId16"/>
    <p:sldId id="266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/>
          </p:nvPr>
        </p:nvSpPr>
        <p:spPr>
          <a:xfrm>
            <a:off x="496512" y="3931500"/>
            <a:ext cx="3972099" cy="3216682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slide" Target="slide18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4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6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/>
          <p:nvPr/>
        </p:nvSpPr>
        <p:spPr>
          <a:xfrm>
            <a:off x="243755" y="0"/>
            <a:ext cx="6327028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p>
            <a:endParaRPr lang="en-IN" sz="2400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1" name="LeftPanel"/>
          <p:cNvSpPr/>
          <p:nvPr/>
        </p:nvSpPr>
        <p:spPr>
          <a:xfrm>
            <a:off x="5881920" y="0"/>
            <a:ext cx="6327028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02" name="TealBar"/>
          <p:cNvSpPr/>
          <p:nvPr/>
        </p:nvSpPr>
        <p:spPr>
          <a:xfrm>
            <a:off x="0" y="0"/>
            <a:ext cx="2438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3" name="Ring1"/>
          <p:cNvSpPr/>
          <p:nvPr/>
        </p:nvSpPr>
        <p:spPr>
          <a:xfrm>
            <a:off x="7333333" y="-1066667"/>
            <a:ext cx="5333333" cy="5333333"/>
          </a:xfrm>
          <a:prstGeom prst="ellipse">
            <a:avLst/>
          </a:prstGeom>
          <a:noFill/>
          <a:ln w="57150">
            <a:solidFill>
              <a:srgbClr val="0D9488">
                <a:alpha val="18000"/>
              </a:srgbClr>
            </a:solidFill>
          </a:ln>
        </p:spPr>
      </p:sp>
      <p:sp>
        <p:nvSpPr>
          <p:cNvPr id="104" name="Ring2"/>
          <p:cNvSpPr/>
          <p:nvPr/>
        </p:nvSpPr>
        <p:spPr>
          <a:xfrm>
            <a:off x="8133333" y="-400000"/>
            <a:ext cx="3733333" cy="3733333"/>
          </a:xfrm>
          <a:prstGeom prst="ellipse">
            <a:avLst/>
          </a:prstGeom>
          <a:noFill/>
          <a:ln w="38100">
            <a:solidFill>
              <a:srgbClr val="14B8A6">
                <a:alpha val="28000"/>
              </a:srgbClr>
            </a:solidFill>
          </a:ln>
        </p:spPr>
      </p:sp>
      <p:sp>
        <p:nvSpPr>
          <p:cNvPr id="107" name="HLine"/>
          <p:cNvSpPr/>
          <p:nvPr/>
        </p:nvSpPr>
        <p:spPr>
          <a:xfrm>
            <a:off x="365760" y="2533333"/>
            <a:ext cx="5200000" cy="53333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8" name="BottomBar"/>
          <p:cNvSpPr/>
          <p:nvPr/>
        </p:nvSpPr>
        <p:spPr>
          <a:xfrm>
            <a:off x="0" y="6413333"/>
            <a:ext cx="12192000" cy="444667"/>
          </a:xfrm>
          <a:prstGeom prst="rect">
            <a:avLst/>
          </a:prstGeom>
          <a:solidFill>
            <a:srgbClr val="071225"/>
          </a:solidFill>
          <a:ln>
            <a:noFill/>
          </a:ln>
        </p:spPr>
      </p:sp>
      <p:sp>
        <p:nvSpPr>
          <p:cNvPr id="109" name="BottomTeal"/>
          <p:cNvSpPr/>
          <p:nvPr/>
        </p:nvSpPr>
        <p:spPr>
          <a:xfrm>
            <a:off x="0" y="6413333"/>
            <a:ext cx="1866667" cy="444667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0" name="CompanyLabel"/>
          <p:cNvSpPr/>
          <p:nvPr/>
        </p:nvSpPr>
        <p:spPr>
          <a:xfrm>
            <a:off x="365760" y="506667"/>
            <a:ext cx="5333333" cy="6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b="1" spc="300" dirty="0">
                <a:solidFill>
                  <a:srgbClr val="0D9488"/>
                </a:solidFill>
                <a:latin typeface="Calibri" panose="020F0502020204030204" charset="0"/>
              </a:rPr>
              <a:t>MRS BEARINGS PRIVATE LIMITED</a:t>
            </a:r>
            <a:endParaRPr lang="en-US" sz="1265" b="1" spc="300" dirty="0">
              <a:solidFill>
                <a:srgbClr val="0D9488"/>
              </a:solidFill>
              <a:latin typeface="Calibri" panose="020F0502020204030204" charset="0"/>
            </a:endParaRPr>
          </a:p>
        </p:txBody>
      </p:sp>
      <p:sp>
        <p:nvSpPr>
          <p:cNvPr id="111" name="UnitBadge"/>
          <p:cNvSpPr/>
          <p:nvPr/>
        </p:nvSpPr>
        <p:spPr>
          <a:xfrm>
            <a:off x="365760" y="1160000"/>
            <a:ext cx="2133333" cy="41333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121920" tIns="60960" rIns="121920" bIns="60960" rtlCol="0" anchor="ctr"/>
          <a:lstStyle/>
          <a:p>
            <a:pPr marL="0" indent="0" algn="ctr">
              <a:buNone/>
            </a:pPr>
            <a:r>
              <a:rPr lang="en-US" sz="1200" b="1" spc="200" dirty="0">
                <a:solidFill>
                  <a:srgbClr val="FFFFFF"/>
                </a:solidFill>
                <a:latin typeface="Calibri" panose="020F0502020204030204" charset="0"/>
              </a:rPr>
              <a:t>PRODUCTION  |  UNIT </a:t>
            </a:r>
            <a:endParaRPr lang="en-US" sz="1200" b="1" spc="200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112" name="MonthBig"/>
          <p:cNvSpPr/>
          <p:nvPr/>
        </p:nvSpPr>
        <p:spPr>
          <a:xfrm>
            <a:off x="293333" y="2640000"/>
            <a:ext cx="5466667" cy="122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altLang="en-US" sz="8800" b="1" dirty="0">
                <a:solidFill>
                  <a:srgbClr val="FFFFFF"/>
                </a:solidFill>
                <a:latin typeface="Calibri" panose="020F0502020204030204" charset="0"/>
              </a:rPr>
              <a:t>March</a:t>
            </a:r>
            <a:endParaRPr lang="en-IN" altLang="en-US" sz="8800" b="1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113" name="Year"/>
          <p:cNvSpPr/>
          <p:nvPr/>
        </p:nvSpPr>
        <p:spPr>
          <a:xfrm>
            <a:off x="365760" y="3826667"/>
            <a:ext cx="5333333" cy="66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0" dirty="0">
                <a:solidFill>
                  <a:srgbClr val="A8C4E0"/>
                </a:solidFill>
                <a:latin typeface="Calibri" panose="020F0502020204030204" charset="0"/>
              </a:rPr>
              <a:t>2026</a:t>
            </a:r>
            <a:endParaRPr lang="en-US" sz="5600" b="0" dirty="0">
              <a:solidFill>
                <a:srgbClr val="A8C4E0"/>
              </a:solidFill>
              <a:latin typeface="Calibri" panose="020F0502020204030204" charset="0"/>
            </a:endParaRPr>
          </a:p>
        </p:txBody>
      </p:sp>
      <p:sp>
        <p:nvSpPr>
          <p:cNvPr id="114" name="SubTitle"/>
          <p:cNvSpPr/>
          <p:nvPr/>
        </p:nvSpPr>
        <p:spPr>
          <a:xfrm>
            <a:off x="365760" y="4560000"/>
            <a:ext cx="5333333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5" b="0" i="1" dirty="0">
                <a:solidFill>
                  <a:srgbClr val="0D9488"/>
                </a:solidFill>
                <a:latin typeface="Calibri" panose="020F0502020204030204" charset="0"/>
              </a:rPr>
              <a:t>Performance Report</a:t>
            </a:r>
            <a:endParaRPr lang="en-US" sz="2665" b="0" i="1" dirty="0">
              <a:solidFill>
                <a:srgbClr val="0D9488"/>
              </a:solidFill>
              <a:latin typeface="Calibri" panose="020F0502020204030204" charset="0"/>
            </a:endParaRPr>
          </a:p>
        </p:txBody>
      </p:sp>
      <p:sp>
        <p:nvSpPr>
          <p:cNvPr id="115" name="BottomInfo"/>
          <p:cNvSpPr/>
          <p:nvPr/>
        </p:nvSpPr>
        <p:spPr>
          <a:xfrm>
            <a:off x="365760" y="5466667"/>
            <a:ext cx="5333333" cy="85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5" b="1" spc="200" dirty="0">
                <a:solidFill>
                  <a:srgbClr val="5A8FAA"/>
                </a:solidFill>
                <a:latin typeface="Calibri" panose="020F0502020204030204" charset="0"/>
              </a:rPr>
              <a:t>PERIOD</a:t>
            </a:r>
            <a:r>
              <a:rPr lang="en-US" sz="1065" dirty="0">
                <a:solidFill>
                  <a:srgbClr val="CCDDEE"/>
                </a:solidFill>
                <a:latin typeface="Calibri" panose="020F0502020204030204" charset="0"/>
              </a:rPr>
              <a:t>    </a:t>
            </a:r>
            <a:r>
              <a:rPr lang="en-IN" altLang="en-US" sz="1065" dirty="0">
                <a:solidFill>
                  <a:srgbClr val="CCDDEE"/>
                </a:solidFill>
                <a:latin typeface="Calibri" panose="020F0502020204030204" charset="0"/>
              </a:rPr>
              <a:t>March </a:t>
            </a:r>
            <a:r>
              <a:rPr lang="en-US" sz="1065" dirty="0">
                <a:solidFill>
                  <a:srgbClr val="CCDDEE"/>
                </a:solidFill>
                <a:latin typeface="Calibri" panose="020F0502020204030204" charset="0"/>
              </a:rPr>
              <a:t>1 – </a:t>
            </a:r>
            <a:r>
              <a:rPr lang="en-IN" altLang="en-US" sz="1065" dirty="0">
                <a:solidFill>
                  <a:srgbClr val="CCDDEE"/>
                </a:solidFill>
                <a:latin typeface="Calibri" panose="020F0502020204030204" charset="0"/>
              </a:rPr>
              <a:t>31</a:t>
            </a:r>
            <a:r>
              <a:rPr lang="en-US" sz="1065" dirty="0">
                <a:solidFill>
                  <a:srgbClr val="CCDDEE"/>
                </a:solidFill>
                <a:latin typeface="Calibri" panose="020F0502020204030204" charset="0"/>
              </a:rPr>
              <a:t>, 2026</a:t>
            </a:r>
            <a:endParaRPr lang="en-US" sz="1065" dirty="0">
              <a:solidFill>
                <a:srgbClr val="CCDDEE"/>
              </a:solidFill>
              <a:latin typeface="Calibri" panose="020F0502020204030204" charset="0"/>
            </a:endParaRPr>
          </a:p>
          <a:p>
            <a:pPr marL="0" indent="0">
              <a:buNone/>
            </a:pPr>
            <a:r>
              <a:rPr lang="en-US" sz="1065" b="1" spc="200" dirty="0">
                <a:solidFill>
                  <a:srgbClr val="5A8FAA"/>
                </a:solidFill>
                <a:latin typeface="Calibri" panose="020F0502020204030204" charset="0"/>
              </a:rPr>
              <a:t>PREPARED BY</a:t>
            </a:r>
            <a:r>
              <a:rPr lang="en-US" sz="1065" dirty="0">
                <a:solidFill>
                  <a:srgbClr val="CCDDEE"/>
                </a:solidFill>
                <a:latin typeface="Calibri" panose="020F0502020204030204" charset="0"/>
              </a:rPr>
              <a:t>    Production Management Team</a:t>
            </a:r>
            <a:endParaRPr lang="en-US" sz="1065" dirty="0">
              <a:solidFill>
                <a:srgbClr val="CCDDEE"/>
              </a:solidFill>
              <a:latin typeface="Calibri" panose="020F0502020204030204" charset="0"/>
            </a:endParaRPr>
          </a:p>
        </p:txBody>
      </p:sp>
      <p:sp>
        <p:nvSpPr>
          <p:cNvPr id="117" name="RightDivider"/>
          <p:cNvSpPr/>
          <p:nvPr/>
        </p:nvSpPr>
        <p:spPr>
          <a:xfrm>
            <a:off x="5973333" y="2533333"/>
            <a:ext cx="6218667" cy="6096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8" name="RightHeading"/>
          <p:cNvSpPr/>
          <p:nvPr/>
        </p:nvSpPr>
        <p:spPr>
          <a:xfrm>
            <a:off x="6080000" y="2606667"/>
            <a:ext cx="5866667" cy="5866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0" i="1" dirty="0">
                <a:solidFill>
                  <a:srgbClr val="FFFFFF"/>
                </a:solidFill>
                <a:latin typeface="Calibri" panose="020F0502020204030204" charset="0"/>
              </a:rPr>
              <a:t>Operational &amp; KPI Review</a:t>
            </a:r>
            <a:endParaRPr lang="en-US" sz="2935" b="0" i="1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119" name="Box1"/>
          <p:cNvSpPr/>
          <p:nvPr/>
        </p:nvSpPr>
        <p:spPr>
          <a:xfrm>
            <a:off x="6080000" y="3257333"/>
            <a:ext cx="6000000" cy="680000"/>
          </a:xfrm>
          <a:prstGeom prst="rect">
            <a:avLst/>
          </a:prstGeom>
          <a:solidFill>
            <a:srgbClr val="152B52"/>
          </a:solidFill>
          <a:ln w="19050">
            <a:solidFill>
              <a:srgbClr val="0D9488"/>
            </a:solidFill>
          </a:ln>
        </p:spPr>
      </p:sp>
      <p:sp>
        <p:nvSpPr>
          <p:cNvPr id="120" name="Box1L"/>
          <p:cNvSpPr/>
          <p:nvPr/>
        </p:nvSpPr>
        <p:spPr>
          <a:xfrm>
            <a:off x="6080000" y="3266667"/>
            <a:ext cx="101600" cy="68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21" name="Box1T"/>
          <p:cNvSpPr/>
          <p:nvPr/>
        </p:nvSpPr>
        <p:spPr>
          <a:xfrm>
            <a:off x="6266667" y="3282667"/>
            <a:ext cx="5733333" cy="65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b="1" spc="300" dirty="0">
                <a:solidFill>
                  <a:srgbClr val="0D9488"/>
                </a:solidFill>
                <a:latin typeface="Calibri" panose="020F0502020204030204" charset="0"/>
              </a:rPr>
              <a:t>COMPANY</a:t>
            </a:r>
            <a:endParaRPr lang="en-US" sz="1065" b="1" spc="300" dirty="0">
              <a:solidFill>
                <a:srgbClr val="0D9488"/>
              </a:solidFill>
              <a:latin typeface="Calibri" panose="020F050202020403020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</a:rPr>
              <a:t>MRS Bearings Private Limited</a:t>
            </a:r>
            <a:endParaRPr lang="en-US" sz="1600" b="1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122" name="Box2"/>
          <p:cNvSpPr/>
          <p:nvPr/>
        </p:nvSpPr>
        <p:spPr>
          <a:xfrm>
            <a:off x="6080000" y="4000000"/>
            <a:ext cx="6000000" cy="680000"/>
          </a:xfrm>
          <a:prstGeom prst="rect">
            <a:avLst/>
          </a:prstGeom>
          <a:solidFill>
            <a:srgbClr val="0D1F3C"/>
          </a:solidFill>
          <a:ln w="19050">
            <a:solidFill>
              <a:srgbClr val="2E86AB"/>
            </a:solidFill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23" name="Box2L"/>
          <p:cNvSpPr/>
          <p:nvPr/>
        </p:nvSpPr>
        <p:spPr>
          <a:xfrm>
            <a:off x="6080000" y="4000000"/>
            <a:ext cx="101600" cy="68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124" name="Box2T"/>
          <p:cNvSpPr/>
          <p:nvPr/>
        </p:nvSpPr>
        <p:spPr>
          <a:xfrm>
            <a:off x="6266667" y="4016000"/>
            <a:ext cx="5733333" cy="65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b="1" spc="300" dirty="0">
                <a:solidFill>
                  <a:srgbClr val="2E86AB"/>
                </a:solidFill>
                <a:latin typeface="Calibri" panose="020F0502020204030204" charset="0"/>
              </a:rPr>
              <a:t>DEPARTMENT</a:t>
            </a:r>
            <a:endParaRPr lang="en-US" sz="1065" b="1" spc="300" dirty="0">
              <a:solidFill>
                <a:srgbClr val="2E86AB"/>
              </a:solidFill>
              <a:latin typeface="Calibri" panose="020F050202020403020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</a:rPr>
              <a:t>Production </a:t>
            </a:r>
            <a:endParaRPr lang="en-US" sz="1600" b="1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125" name="Box3"/>
          <p:cNvSpPr/>
          <p:nvPr/>
        </p:nvSpPr>
        <p:spPr>
          <a:xfrm>
            <a:off x="6080000" y="4733333"/>
            <a:ext cx="6000000" cy="680000"/>
          </a:xfrm>
          <a:prstGeom prst="rect">
            <a:avLst/>
          </a:prstGeom>
          <a:solidFill>
            <a:srgbClr val="152B52"/>
          </a:solidFill>
          <a:ln w="19050">
            <a:solidFill>
              <a:srgbClr val="0D9488"/>
            </a:solidFill>
          </a:ln>
        </p:spPr>
      </p:sp>
      <p:sp>
        <p:nvSpPr>
          <p:cNvPr id="126" name="Box3L"/>
          <p:cNvSpPr/>
          <p:nvPr/>
        </p:nvSpPr>
        <p:spPr>
          <a:xfrm>
            <a:off x="6080000" y="4733333"/>
            <a:ext cx="101600" cy="68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27" name="Box3T"/>
          <p:cNvSpPr/>
          <p:nvPr/>
        </p:nvSpPr>
        <p:spPr>
          <a:xfrm>
            <a:off x="6266667" y="4749333"/>
            <a:ext cx="5733333" cy="65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b="1" spc="300" dirty="0">
                <a:solidFill>
                  <a:srgbClr val="0D9488"/>
                </a:solidFill>
                <a:latin typeface="Calibri" panose="020F0502020204030204" charset="0"/>
              </a:rPr>
              <a:t>REPORTING PERIOD</a:t>
            </a:r>
            <a:endParaRPr lang="en-US" sz="1065" b="1" spc="300" dirty="0">
              <a:solidFill>
                <a:srgbClr val="0D9488"/>
              </a:solidFill>
              <a:latin typeface="Calibri" panose="020F0502020204030204" charset="0"/>
            </a:endParaRPr>
          </a:p>
          <a:p>
            <a:pPr marL="0" indent="0">
              <a:buNone/>
            </a:pPr>
            <a:r>
              <a:rPr lang="en-IN" altLang="en-US" sz="1600" b="1" dirty="0">
                <a:solidFill>
                  <a:srgbClr val="FFFFFF"/>
                </a:solidFill>
                <a:latin typeface="Calibri" panose="020F0502020204030204" charset="0"/>
              </a:rPr>
              <a:t>March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</a:rPr>
              <a:t> 1 – </a:t>
            </a:r>
            <a:r>
              <a:rPr lang="en-IN" altLang="en-US" sz="1600" b="1" dirty="0">
                <a:solidFill>
                  <a:srgbClr val="FFFFFF"/>
                </a:solidFill>
                <a:latin typeface="Calibri" panose="020F0502020204030204" charset="0"/>
              </a:rPr>
              <a:t>31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</a:rPr>
              <a:t>, 2026</a:t>
            </a:r>
            <a:endParaRPr lang="en-US" sz="1600" b="1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128" name="Box4"/>
          <p:cNvSpPr/>
          <p:nvPr/>
        </p:nvSpPr>
        <p:spPr>
          <a:xfrm>
            <a:off x="6080000" y="5466667"/>
            <a:ext cx="6000000" cy="680000"/>
          </a:xfrm>
          <a:prstGeom prst="rect">
            <a:avLst/>
          </a:prstGeom>
          <a:solidFill>
            <a:srgbClr val="0D1F3C"/>
          </a:solidFill>
          <a:ln w="19050">
            <a:solidFill>
              <a:srgbClr val="2E86AB"/>
            </a:solidFill>
          </a:ln>
        </p:spPr>
      </p:sp>
      <p:sp>
        <p:nvSpPr>
          <p:cNvPr id="129" name="Box4L"/>
          <p:cNvSpPr/>
          <p:nvPr/>
        </p:nvSpPr>
        <p:spPr>
          <a:xfrm>
            <a:off x="6080000" y="5466667"/>
            <a:ext cx="101600" cy="68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130" name="Box4T"/>
          <p:cNvSpPr/>
          <p:nvPr/>
        </p:nvSpPr>
        <p:spPr>
          <a:xfrm>
            <a:off x="6266667" y="5482667"/>
            <a:ext cx="5733333" cy="65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5" b="1" spc="300" dirty="0">
                <a:solidFill>
                  <a:srgbClr val="2E86AB"/>
                </a:solidFill>
                <a:latin typeface="Calibri" panose="020F0502020204030204" charset="0"/>
              </a:rPr>
              <a:t>PREPARED BY</a:t>
            </a:r>
            <a:endParaRPr lang="en-US" sz="1065" b="1" spc="300" dirty="0">
              <a:solidFill>
                <a:srgbClr val="2E86AB"/>
              </a:solidFill>
              <a:latin typeface="Calibri" panose="020F050202020403020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</a:rPr>
              <a:t>Production Management Team</a:t>
            </a:r>
            <a:endParaRPr lang="en-US" sz="1600" b="1" dirty="0">
              <a:solidFill>
                <a:srgbClr val="FFFFFF"/>
              </a:solidFill>
              <a:latin typeface="Calibri" panose="020F0502020204030204" charset="0"/>
            </a:endParaRPr>
          </a:p>
        </p:txBody>
      </p:sp>
      <p:sp>
        <p:nvSpPr>
          <p:cNvPr id="131" name="FooterTxt"/>
          <p:cNvSpPr/>
          <p:nvPr/>
        </p:nvSpPr>
        <p:spPr>
          <a:xfrm>
            <a:off x="2000000" y="6440000"/>
            <a:ext cx="8000000" cy="373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5" spc="200" dirty="0">
                <a:solidFill>
                  <a:srgbClr val="4A7090"/>
                </a:solidFill>
                <a:latin typeface="Calibri" panose="020F0502020204030204" charset="0"/>
              </a:rPr>
              <a:t>CONFIDENTIAL  |  FOR MANAGEMENT REVIEW  |  MRS BEARINGS PRIVATE LIMITED</a:t>
            </a:r>
            <a:endParaRPr lang="en-US" sz="935" spc="200" dirty="0">
              <a:solidFill>
                <a:srgbClr val="4A7090"/>
              </a:solidFill>
              <a:latin typeface="Calibri" panose="020F050202020403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1244" y="483424"/>
            <a:ext cx="3655423" cy="1699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5" name="Shape 3">
            <a:hlinkClick r:id="rId1" action="ppaction://hlinksldjump"/>
          </p:cNvPr>
          <p:cNvSpPr/>
          <p:nvPr/>
        </p:nvSpPr>
        <p:spPr>
          <a:xfrm>
            <a:off x="378543" y="1151717"/>
            <a:ext cx="3183997" cy="162859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7908" y="1151717"/>
            <a:ext cx="35991" cy="162859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7" name="Shape 5"/>
          <p:cNvSpPr/>
          <p:nvPr/>
        </p:nvSpPr>
        <p:spPr>
          <a:xfrm>
            <a:off x="566861" y="1295681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26993" y="26993"/>
                </a:moveTo>
                <a:cubicBezTo>
                  <a:pt x="26993" y="19528"/>
                  <a:pt x="20962" y="13497"/>
                  <a:pt x="13497" y="13497"/>
                </a:cubicBezTo>
                <a:cubicBezTo>
                  <a:pt x="6031" y="13497"/>
                  <a:pt x="0" y="19528"/>
                  <a:pt x="0" y="26993"/>
                </a:cubicBezTo>
                <a:lnTo>
                  <a:pt x="0" y="168708"/>
                </a:lnTo>
                <a:cubicBezTo>
                  <a:pt x="0" y="187351"/>
                  <a:pt x="15099" y="202450"/>
                  <a:pt x="33742" y="202450"/>
                </a:cubicBezTo>
                <a:lnTo>
                  <a:pt x="202450" y="202450"/>
                </a:lnTo>
                <a:cubicBezTo>
                  <a:pt x="209916" y="202450"/>
                  <a:pt x="215947" y="196419"/>
                  <a:pt x="215947" y="188954"/>
                </a:cubicBezTo>
                <a:cubicBezTo>
                  <a:pt x="215947" y="181488"/>
                  <a:pt x="209916" y="175457"/>
                  <a:pt x="202450" y="175457"/>
                </a:cubicBezTo>
                <a:lnTo>
                  <a:pt x="33742" y="175457"/>
                </a:lnTo>
                <a:cubicBezTo>
                  <a:pt x="30030" y="175457"/>
                  <a:pt x="26993" y="172420"/>
                  <a:pt x="26993" y="168708"/>
                </a:cubicBezTo>
                <a:lnTo>
                  <a:pt x="26993" y="26993"/>
                </a:lnTo>
                <a:close/>
                <a:moveTo>
                  <a:pt x="198486" y="63519"/>
                </a:moveTo>
                <a:cubicBezTo>
                  <a:pt x="203758" y="58247"/>
                  <a:pt x="203758" y="49685"/>
                  <a:pt x="198486" y="44413"/>
                </a:cubicBezTo>
                <a:cubicBezTo>
                  <a:pt x="193213" y="39140"/>
                  <a:pt x="184651" y="39140"/>
                  <a:pt x="179379" y="44413"/>
                </a:cubicBezTo>
                <a:lnTo>
                  <a:pt x="134967" y="88867"/>
                </a:lnTo>
                <a:lnTo>
                  <a:pt x="110757" y="64700"/>
                </a:lnTo>
                <a:cubicBezTo>
                  <a:pt x="105485" y="59428"/>
                  <a:pt x="96923" y="59428"/>
                  <a:pt x="91651" y="64700"/>
                </a:cubicBezTo>
                <a:lnTo>
                  <a:pt x="51161" y="105190"/>
                </a:lnTo>
                <a:cubicBezTo>
                  <a:pt x="45889" y="110462"/>
                  <a:pt x="45889" y="119024"/>
                  <a:pt x="51161" y="124296"/>
                </a:cubicBezTo>
                <a:cubicBezTo>
                  <a:pt x="56433" y="129568"/>
                  <a:pt x="64995" y="129568"/>
                  <a:pt x="70267" y="124296"/>
                </a:cubicBezTo>
                <a:lnTo>
                  <a:pt x="101225" y="93338"/>
                </a:lnTo>
                <a:lnTo>
                  <a:pt x="125435" y="117548"/>
                </a:lnTo>
                <a:cubicBezTo>
                  <a:pt x="130707" y="122820"/>
                  <a:pt x="139269" y="122820"/>
                  <a:pt x="144541" y="117548"/>
                </a:cubicBezTo>
                <a:lnTo>
                  <a:pt x="198528" y="63561"/>
                </a:lnTo>
                <a:close/>
              </a:path>
            </a:pathLst>
          </a:custGeom>
          <a:solidFill>
            <a:srgbClr val="E53E3E"/>
          </a:solidFill>
        </p:spPr>
      </p:sp>
      <p:sp>
        <p:nvSpPr>
          <p:cNvPr id="8" name="Shape 6"/>
          <p:cNvSpPr/>
          <p:nvPr/>
        </p:nvSpPr>
        <p:spPr>
          <a:xfrm>
            <a:off x="2025515" y="1295681"/>
            <a:ext cx="1238189" cy="215947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2025513" y="1295681"/>
            <a:ext cx="1536388" cy="174559"/>
          </a:xfrm>
          <a:prstGeom prst="rect">
            <a:avLst/>
          </a:prstGeom>
          <a:noFill/>
        </p:spPr>
        <p:txBody>
          <a:bodyPr wrap="square" lIns="71982" tIns="35990" rIns="71982" bIns="35990" rtlCol="0" anchor="ctr"/>
          <a:lstStyle/>
          <a:p>
            <a:pPr>
              <a:lnSpc>
                <a:spcPct val="110000"/>
              </a:lnSpc>
            </a:pPr>
            <a:r>
              <a:rPr 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BELOW TARGET</a:t>
            </a:r>
            <a:endParaRPr lang="en-US" sz="1335" b="1" dirty="0">
              <a:solidFill>
                <a:srgbClr val="E53E3E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867" y="1583611"/>
            <a:ext cx="2510383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102A43">
                    <a:alpha val="7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Process Capability (Cpk)</a:t>
            </a:r>
            <a:endParaRPr lang="en-US" sz="1335" dirty="0">
              <a:solidFill>
                <a:srgbClr val="102A43">
                  <a:alpha val="7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9867" y="1889736"/>
            <a:ext cx="2600360" cy="359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sz="1335" b="1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1.59</a:t>
            </a:r>
            <a:endParaRPr sz="1335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335" b="1" dirty="0">
              <a:solidFill>
                <a:srgbClr val="1A365D"/>
              </a:solidFill>
              <a:latin typeface="Calibri" panose="020F0502020204030204" charset="0"/>
              <a:ea typeface="Quattrocento Sans" pitchFamily="34" charset="-122"/>
              <a:cs typeface="Calibri" panose="020F05020202040302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9867" y="2271041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3" name="Text 11"/>
          <p:cNvSpPr/>
          <p:nvPr/>
        </p:nvSpPr>
        <p:spPr>
          <a:xfrm>
            <a:off x="539868" y="2346623"/>
            <a:ext cx="2501385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102A43">
                    <a:alpha val="6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Target: ≥ 1.67</a:t>
            </a:r>
            <a:endParaRPr lang="en-US" sz="1335" dirty="0">
              <a:solidFill>
                <a:srgbClr val="102A43">
                  <a:alpha val="6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9867" y="2562569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15" name="Shape 13"/>
          <p:cNvSpPr/>
          <p:nvPr/>
        </p:nvSpPr>
        <p:spPr>
          <a:xfrm>
            <a:off x="539750" y="2558415"/>
            <a:ext cx="2134235" cy="76200"/>
          </a:xfrm>
          <a:custGeom>
            <a:avLst/>
            <a:gdLst/>
            <a:ahLst/>
            <a:cxnLst/>
            <a:rect l="l" t="t" r="r" b="b"/>
            <a:pathLst>
              <a:path w="1970515" h="71982">
                <a:moveTo>
                  <a:pt x="35991" y="0"/>
                </a:moveTo>
                <a:lnTo>
                  <a:pt x="1934524" y="0"/>
                </a:lnTo>
                <a:cubicBezTo>
                  <a:pt x="1954401" y="0"/>
                  <a:pt x="1970515" y="16114"/>
                  <a:pt x="1970515" y="35991"/>
                </a:cubicBezTo>
                <a:lnTo>
                  <a:pt x="1970515" y="35991"/>
                </a:lnTo>
                <a:cubicBezTo>
                  <a:pt x="1970515" y="55869"/>
                  <a:pt x="1954401" y="71982"/>
                  <a:pt x="1934524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16" name="Shape 14">
            <a:hlinkClick r:id="rId2" action="ppaction://hlinksldjump"/>
          </p:cNvPr>
          <p:cNvSpPr/>
          <p:nvPr/>
        </p:nvSpPr>
        <p:spPr>
          <a:xfrm>
            <a:off x="3947028" y="1151717"/>
            <a:ext cx="3523501" cy="162859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47028" y="1151717"/>
            <a:ext cx="60959" cy="162859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18" name="Shape 16"/>
          <p:cNvSpPr/>
          <p:nvPr/>
        </p:nvSpPr>
        <p:spPr>
          <a:xfrm>
            <a:off x="4149477" y="1295681"/>
            <a:ext cx="188955" cy="215947"/>
          </a:xfrm>
          <a:custGeom>
            <a:avLst/>
            <a:gdLst/>
            <a:ahLst/>
            <a:cxnLst/>
            <a:rect l="l" t="t" r="r" b="b"/>
            <a:pathLst>
              <a:path w="188954" h="215947">
                <a:moveTo>
                  <a:pt x="80980" y="53987"/>
                </a:moveTo>
                <a:cubicBezTo>
                  <a:pt x="80980" y="31640"/>
                  <a:pt x="62837" y="13497"/>
                  <a:pt x="40490" y="13497"/>
                </a:cubicBezTo>
                <a:cubicBezTo>
                  <a:pt x="18143" y="13497"/>
                  <a:pt x="0" y="31640"/>
                  <a:pt x="0" y="53987"/>
                </a:cubicBezTo>
                <a:cubicBezTo>
                  <a:pt x="0" y="76334"/>
                  <a:pt x="18143" y="94477"/>
                  <a:pt x="40490" y="94477"/>
                </a:cubicBezTo>
                <a:cubicBezTo>
                  <a:pt x="62837" y="94477"/>
                  <a:pt x="80980" y="76334"/>
                  <a:pt x="80980" y="53987"/>
                </a:cubicBezTo>
                <a:close/>
                <a:moveTo>
                  <a:pt x="188954" y="161960"/>
                </a:moveTo>
                <a:cubicBezTo>
                  <a:pt x="188954" y="139613"/>
                  <a:pt x="170811" y="121470"/>
                  <a:pt x="148463" y="121470"/>
                </a:cubicBezTo>
                <a:cubicBezTo>
                  <a:pt x="126116" y="121470"/>
                  <a:pt x="107973" y="139613"/>
                  <a:pt x="107973" y="161960"/>
                </a:cubicBezTo>
                <a:cubicBezTo>
                  <a:pt x="107973" y="184307"/>
                  <a:pt x="126116" y="202450"/>
                  <a:pt x="148463" y="202450"/>
                </a:cubicBezTo>
                <a:cubicBezTo>
                  <a:pt x="170811" y="202450"/>
                  <a:pt x="188954" y="184307"/>
                  <a:pt x="188954" y="161960"/>
                </a:cubicBezTo>
                <a:close/>
                <a:moveTo>
                  <a:pt x="184989" y="36525"/>
                </a:moveTo>
                <a:cubicBezTo>
                  <a:pt x="190261" y="31253"/>
                  <a:pt x="190261" y="22691"/>
                  <a:pt x="184989" y="17419"/>
                </a:cubicBezTo>
                <a:cubicBezTo>
                  <a:pt x="179717" y="12147"/>
                  <a:pt x="171155" y="12147"/>
                  <a:pt x="165883" y="17419"/>
                </a:cubicBezTo>
                <a:lnTo>
                  <a:pt x="3922" y="179379"/>
                </a:lnTo>
                <a:cubicBezTo>
                  <a:pt x="-1350" y="184651"/>
                  <a:pt x="-1350" y="193213"/>
                  <a:pt x="3922" y="198486"/>
                </a:cubicBezTo>
                <a:cubicBezTo>
                  <a:pt x="9195" y="203758"/>
                  <a:pt x="17757" y="203758"/>
                  <a:pt x="23029" y="198486"/>
                </a:cubicBezTo>
                <a:lnTo>
                  <a:pt x="184989" y="36525"/>
                </a:lnTo>
                <a:close/>
              </a:path>
            </a:pathLst>
          </a:custGeom>
          <a:solidFill>
            <a:srgbClr val="E53E3E"/>
          </a:solidFill>
        </p:spPr>
      </p:sp>
      <p:sp>
        <p:nvSpPr>
          <p:cNvPr id="19" name="Shape 17"/>
          <p:cNvSpPr/>
          <p:nvPr/>
        </p:nvSpPr>
        <p:spPr>
          <a:xfrm>
            <a:off x="5594633" y="1295681"/>
            <a:ext cx="1504861" cy="180068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594635" y="1295681"/>
            <a:ext cx="1504861" cy="180068"/>
          </a:xfrm>
          <a:prstGeom prst="rect">
            <a:avLst/>
          </a:prstGeom>
          <a:noFill/>
        </p:spPr>
        <p:txBody>
          <a:bodyPr wrap="square" lIns="71982" tIns="35990" rIns="71982" bIns="35990" rtlCol="0" anchor="ctr"/>
          <a:lstStyle/>
          <a:p>
            <a:pPr>
              <a:lnSpc>
                <a:spcPct val="110000"/>
              </a:lnSpc>
            </a:pPr>
            <a:r>
              <a:rPr 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BELOW TARGET</a:t>
            </a:r>
            <a:endParaRPr lang="en-US" sz="1335" b="1" dirty="0">
              <a:solidFill>
                <a:srgbClr val="E53E3E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08987" y="1583611"/>
            <a:ext cx="2510383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102A43">
                    <a:alpha val="7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Production Achievement</a:t>
            </a:r>
            <a:endParaRPr lang="en-US" sz="1335" dirty="0">
              <a:solidFill>
                <a:srgbClr val="102A43">
                  <a:alpha val="7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08987" y="1916829"/>
            <a:ext cx="2600360" cy="359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sz="1335" b="1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86%</a:t>
            </a:r>
            <a:endParaRPr sz="1335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335" b="1" dirty="0">
              <a:solidFill>
                <a:srgbClr val="1A365D"/>
              </a:solidFill>
              <a:latin typeface="Calibri" panose="020F0502020204030204" charset="0"/>
              <a:ea typeface="Quattrocento Sans" pitchFamily="34" charset="-122"/>
              <a:cs typeface="Calibri" panose="020F05020202040302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08987" y="2271041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24" name="Text 22"/>
          <p:cNvSpPr/>
          <p:nvPr/>
        </p:nvSpPr>
        <p:spPr>
          <a:xfrm>
            <a:off x="4108988" y="2346623"/>
            <a:ext cx="2501385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102A43">
                    <a:alpha val="6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Target: &gt;95%</a:t>
            </a:r>
            <a:endParaRPr lang="en-US" sz="1335" dirty="0">
              <a:solidFill>
                <a:srgbClr val="102A43">
                  <a:alpha val="6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08987" y="2562569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26" name="Shape 24"/>
          <p:cNvSpPr/>
          <p:nvPr/>
        </p:nvSpPr>
        <p:spPr>
          <a:xfrm>
            <a:off x="4109085" y="2562860"/>
            <a:ext cx="1911985" cy="76200"/>
          </a:xfrm>
          <a:custGeom>
            <a:avLst/>
            <a:gdLst/>
            <a:ahLst/>
            <a:cxnLst/>
            <a:rect l="l" t="t" r="r" b="b"/>
            <a:pathLst>
              <a:path w="1781562" h="71982">
                <a:moveTo>
                  <a:pt x="35991" y="0"/>
                </a:moveTo>
                <a:lnTo>
                  <a:pt x="1745570" y="0"/>
                </a:lnTo>
                <a:cubicBezTo>
                  <a:pt x="1765448" y="0"/>
                  <a:pt x="1781562" y="16114"/>
                  <a:pt x="1781562" y="35991"/>
                </a:cubicBezTo>
                <a:lnTo>
                  <a:pt x="1781562" y="35991"/>
                </a:lnTo>
                <a:cubicBezTo>
                  <a:pt x="1781562" y="55869"/>
                  <a:pt x="1765448" y="71982"/>
                  <a:pt x="1745570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49" name="Shape 47">
            <a:hlinkClick r:id="" action="ppaction://noaction"/>
          </p:cNvPr>
          <p:cNvSpPr/>
          <p:nvPr/>
        </p:nvSpPr>
        <p:spPr>
          <a:xfrm>
            <a:off x="377907" y="2922481"/>
            <a:ext cx="3183996" cy="1808555"/>
          </a:xfrm>
          <a:custGeom>
            <a:avLst/>
            <a:gdLst/>
            <a:ahLst/>
            <a:cxnLst/>
            <a:rect l="l" t="t" r="r" b="b"/>
            <a:pathLst>
              <a:path w="2744325" h="1808555">
                <a:moveTo>
                  <a:pt x="35991" y="0"/>
                </a:moveTo>
                <a:lnTo>
                  <a:pt x="2636354" y="0"/>
                </a:lnTo>
                <a:cubicBezTo>
                  <a:pt x="2695985" y="0"/>
                  <a:pt x="2744325" y="48340"/>
                  <a:pt x="2744325" y="107971"/>
                </a:cubicBezTo>
                <a:lnTo>
                  <a:pt x="2744325" y="1700584"/>
                </a:lnTo>
                <a:cubicBezTo>
                  <a:pt x="2744325" y="1760215"/>
                  <a:pt x="2695985" y="1808555"/>
                  <a:pt x="2636354" y="1808555"/>
                </a:cubicBez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77908" y="2922481"/>
            <a:ext cx="35991" cy="1808555"/>
          </a:xfrm>
          <a:custGeom>
            <a:avLst/>
            <a:gdLst/>
            <a:ahLst/>
            <a:cxnLst/>
            <a:rect l="l" t="t" r="r" b="b"/>
            <a:pathLst>
              <a:path w="35991" h="1808555">
                <a:moveTo>
                  <a:pt x="35991" y="0"/>
                </a:moveTo>
                <a:lnTo>
                  <a:pt x="35991" y="0"/>
                </a:lnTo>
                <a:lnTo>
                  <a:pt x="35991" y="1808555"/>
                </a:ln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51" name="Shape 49"/>
          <p:cNvSpPr/>
          <p:nvPr/>
        </p:nvSpPr>
        <p:spPr>
          <a:xfrm>
            <a:off x="566861" y="3066447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cubicBezTo>
                  <a:pt x="114173" y="0"/>
                  <a:pt x="119867" y="3416"/>
                  <a:pt x="122820" y="8857"/>
                </a:cubicBezTo>
                <a:lnTo>
                  <a:pt x="213922" y="177566"/>
                </a:lnTo>
                <a:cubicBezTo>
                  <a:pt x="216748" y="182796"/>
                  <a:pt x="216622" y="189122"/>
                  <a:pt x="213585" y="194226"/>
                </a:cubicBezTo>
                <a:cubicBezTo>
                  <a:pt x="210548" y="199329"/>
                  <a:pt x="205023" y="202450"/>
                  <a:pt x="199076" y="202450"/>
                </a:cubicBezTo>
                <a:lnTo>
                  <a:pt x="16871" y="202450"/>
                </a:lnTo>
                <a:cubicBezTo>
                  <a:pt x="10924" y="202450"/>
                  <a:pt x="5441" y="199329"/>
                  <a:pt x="2362" y="194226"/>
                </a:cubicBezTo>
                <a:cubicBezTo>
                  <a:pt x="-717" y="189122"/>
                  <a:pt x="-801" y="182796"/>
                  <a:pt x="2025" y="177566"/>
                </a:cubicBezTo>
                <a:lnTo>
                  <a:pt x="93127" y="8857"/>
                </a:lnTo>
                <a:cubicBezTo>
                  <a:pt x="96079" y="3416"/>
                  <a:pt x="101773" y="0"/>
                  <a:pt x="107973" y="0"/>
                </a:cubicBezTo>
                <a:close/>
                <a:moveTo>
                  <a:pt x="107973" y="70858"/>
                </a:moveTo>
                <a:cubicBezTo>
                  <a:pt x="102364" y="70858"/>
                  <a:pt x="97851" y="75371"/>
                  <a:pt x="97851" y="80980"/>
                </a:cubicBezTo>
                <a:lnTo>
                  <a:pt x="97851" y="128218"/>
                </a:lnTo>
                <a:cubicBezTo>
                  <a:pt x="97851" y="133828"/>
                  <a:pt x="102364" y="138341"/>
                  <a:pt x="107973" y="138341"/>
                </a:cubicBezTo>
                <a:cubicBezTo>
                  <a:pt x="113583" y="138341"/>
                  <a:pt x="118096" y="133828"/>
                  <a:pt x="118096" y="128218"/>
                </a:cubicBezTo>
                <a:lnTo>
                  <a:pt x="118096" y="80980"/>
                </a:lnTo>
                <a:cubicBezTo>
                  <a:pt x="118096" y="75371"/>
                  <a:pt x="113583" y="70858"/>
                  <a:pt x="107973" y="70858"/>
                </a:cubicBezTo>
                <a:close/>
                <a:moveTo>
                  <a:pt x="119235" y="161960"/>
                </a:moveTo>
                <a:cubicBezTo>
                  <a:pt x="119491" y="157780"/>
                  <a:pt x="117406" y="153803"/>
                  <a:pt x="113823" y="151636"/>
                </a:cubicBezTo>
                <a:cubicBezTo>
                  <a:pt x="110240" y="149468"/>
                  <a:pt x="105749" y="149468"/>
                  <a:pt x="102166" y="151636"/>
                </a:cubicBezTo>
                <a:cubicBezTo>
                  <a:pt x="98583" y="153803"/>
                  <a:pt x="96498" y="157780"/>
                  <a:pt x="96754" y="161960"/>
                </a:cubicBezTo>
                <a:cubicBezTo>
                  <a:pt x="96498" y="166140"/>
                  <a:pt x="98583" y="170117"/>
                  <a:pt x="102166" y="172285"/>
                </a:cubicBezTo>
                <a:cubicBezTo>
                  <a:pt x="105749" y="174452"/>
                  <a:pt x="110240" y="174452"/>
                  <a:pt x="113823" y="172285"/>
                </a:cubicBezTo>
                <a:cubicBezTo>
                  <a:pt x="117406" y="170117"/>
                  <a:pt x="119491" y="166140"/>
                  <a:pt x="119235" y="16196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52" name="Shape 50"/>
          <p:cNvSpPr/>
          <p:nvPr/>
        </p:nvSpPr>
        <p:spPr>
          <a:xfrm>
            <a:off x="2025515" y="3066445"/>
            <a:ext cx="1238189" cy="212349"/>
          </a:xfrm>
          <a:custGeom>
            <a:avLst/>
            <a:gdLst/>
            <a:ahLst/>
            <a:cxnLst/>
            <a:rect l="l" t="t" r="r" b="b"/>
            <a:pathLst>
              <a:path w="611849" h="215947">
                <a:moveTo>
                  <a:pt x="35992" y="0"/>
                </a:moveTo>
                <a:lnTo>
                  <a:pt x="575858" y="0"/>
                </a:lnTo>
                <a:cubicBezTo>
                  <a:pt x="595722" y="0"/>
                  <a:pt x="611849" y="16127"/>
                  <a:pt x="611849" y="35992"/>
                </a:cubicBezTo>
                <a:lnTo>
                  <a:pt x="611849" y="179955"/>
                </a:lnTo>
                <a:cubicBezTo>
                  <a:pt x="611849" y="199819"/>
                  <a:pt x="595722" y="215947"/>
                  <a:pt x="575858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2014576" y="3057068"/>
            <a:ext cx="1238189" cy="212348"/>
          </a:xfrm>
          <a:prstGeom prst="rect">
            <a:avLst/>
          </a:prstGeom>
          <a:noFill/>
        </p:spPr>
        <p:txBody>
          <a:bodyPr wrap="square" lIns="71982" tIns="35990" rIns="71982" bIns="35990" rtlCol="0" anchor="ctr"/>
          <a:lstStyle/>
          <a:p>
            <a:pPr>
              <a:lnSpc>
                <a:spcPct val="110000"/>
              </a:lnSpc>
            </a:pPr>
            <a:r>
              <a:rPr 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CRITICAL</a:t>
            </a:r>
            <a:endParaRPr lang="en-US" sz="1335" b="1" dirty="0">
              <a:solidFill>
                <a:srgbClr val="E53E3E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39867" y="3354376"/>
            <a:ext cx="2510383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102A43">
                    <a:alpha val="7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IG Rejection (ppm)</a:t>
            </a:r>
            <a:endParaRPr lang="en-US" sz="1335" dirty="0">
              <a:solidFill>
                <a:srgbClr val="102A43">
                  <a:alpha val="7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39867" y="3660500"/>
            <a:ext cx="2600360" cy="359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sz="1335" b="1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11,113</a:t>
            </a:r>
            <a:endParaRPr sz="1335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335" b="1" dirty="0">
              <a:solidFill>
                <a:srgbClr val="1A365D"/>
              </a:solidFill>
              <a:latin typeface="Calibri" panose="020F0502020204030204" charset="0"/>
              <a:ea typeface="Quattrocento Sans" pitchFamily="34" charset="-122"/>
              <a:cs typeface="Calibri" panose="020F050202020403020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39867" y="4041805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57" name="Text 55"/>
          <p:cNvSpPr/>
          <p:nvPr/>
        </p:nvSpPr>
        <p:spPr>
          <a:xfrm>
            <a:off x="539868" y="4117387"/>
            <a:ext cx="2501385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102A43">
                    <a:alpha val="6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Target: &lt;1,500 ppm</a:t>
            </a:r>
            <a:endParaRPr lang="en-US" sz="1335" dirty="0">
              <a:solidFill>
                <a:srgbClr val="102A43">
                  <a:alpha val="6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39867" y="4333333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59" name="Shape 57"/>
          <p:cNvSpPr/>
          <p:nvPr/>
        </p:nvSpPr>
        <p:spPr>
          <a:xfrm>
            <a:off x="539867" y="4333333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60" name="Text 58"/>
          <p:cNvSpPr/>
          <p:nvPr/>
        </p:nvSpPr>
        <p:spPr>
          <a:xfrm>
            <a:off x="539868" y="4441308"/>
            <a:ext cx="2492387" cy="143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GB" alt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7</a:t>
            </a:r>
            <a:r>
              <a:rPr lang="en-US" sz="1000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× </a:t>
            </a:r>
            <a:r>
              <a:rPr 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OVER TARGET</a:t>
            </a:r>
            <a:endParaRPr lang="en-US" sz="1335" b="1" dirty="0">
              <a:solidFill>
                <a:srgbClr val="E53E3E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73" name="Shape 71">
            <a:hlinkClick r:id="" action="ppaction://noaction"/>
          </p:cNvPr>
          <p:cNvSpPr/>
          <p:nvPr/>
        </p:nvSpPr>
        <p:spPr>
          <a:xfrm>
            <a:off x="7998095" y="1093679"/>
            <a:ext cx="3408841" cy="1808555"/>
          </a:xfrm>
          <a:custGeom>
            <a:avLst/>
            <a:gdLst/>
            <a:ahLst/>
            <a:cxnLst/>
            <a:rect l="l" t="t" r="r" b="b"/>
            <a:pathLst>
              <a:path w="2744325" h="1808555">
                <a:moveTo>
                  <a:pt x="35991" y="0"/>
                </a:moveTo>
                <a:lnTo>
                  <a:pt x="2636354" y="0"/>
                </a:lnTo>
                <a:cubicBezTo>
                  <a:pt x="2695985" y="0"/>
                  <a:pt x="2744325" y="48340"/>
                  <a:pt x="2744325" y="107971"/>
                </a:cubicBezTo>
                <a:lnTo>
                  <a:pt x="2744325" y="1700584"/>
                </a:lnTo>
                <a:cubicBezTo>
                  <a:pt x="2744325" y="1760215"/>
                  <a:pt x="2695985" y="1808555"/>
                  <a:pt x="2636354" y="1808555"/>
                </a:cubicBez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976929" y="1093679"/>
            <a:ext cx="35991" cy="1808555"/>
          </a:xfrm>
          <a:custGeom>
            <a:avLst/>
            <a:gdLst/>
            <a:ahLst/>
            <a:cxnLst/>
            <a:rect l="l" t="t" r="r" b="b"/>
            <a:pathLst>
              <a:path w="35991" h="1808555">
                <a:moveTo>
                  <a:pt x="35991" y="0"/>
                </a:moveTo>
                <a:lnTo>
                  <a:pt x="35991" y="0"/>
                </a:lnTo>
                <a:lnTo>
                  <a:pt x="35991" y="1808555"/>
                </a:ln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75" name="Shape 73"/>
          <p:cNvSpPr/>
          <p:nvPr/>
        </p:nvSpPr>
        <p:spPr>
          <a:xfrm>
            <a:off x="8165883" y="1237644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70436" y="70436"/>
                </a:moveTo>
                <a:cubicBezTo>
                  <a:pt x="74400" y="66471"/>
                  <a:pt x="80811" y="66471"/>
                  <a:pt x="84734" y="70436"/>
                </a:cubicBezTo>
                <a:lnTo>
                  <a:pt x="107931" y="93633"/>
                </a:lnTo>
                <a:lnTo>
                  <a:pt x="131129" y="70436"/>
                </a:lnTo>
                <a:cubicBezTo>
                  <a:pt x="135093" y="66471"/>
                  <a:pt x="141504" y="66471"/>
                  <a:pt x="145427" y="70436"/>
                </a:cubicBezTo>
                <a:cubicBezTo>
                  <a:pt x="149349" y="74400"/>
                  <a:pt x="149391" y="80811"/>
                  <a:pt x="145427" y="84734"/>
                </a:cubicBezTo>
                <a:lnTo>
                  <a:pt x="122229" y="107931"/>
                </a:lnTo>
                <a:lnTo>
                  <a:pt x="145427" y="131129"/>
                </a:lnTo>
                <a:cubicBezTo>
                  <a:pt x="149391" y="135093"/>
                  <a:pt x="149391" y="141504"/>
                  <a:pt x="145427" y="145427"/>
                </a:cubicBezTo>
                <a:cubicBezTo>
                  <a:pt x="141462" y="149349"/>
                  <a:pt x="135051" y="149391"/>
                  <a:pt x="131129" y="145427"/>
                </a:cubicBezTo>
                <a:lnTo>
                  <a:pt x="107931" y="122229"/>
                </a:lnTo>
                <a:lnTo>
                  <a:pt x="84734" y="145427"/>
                </a:lnTo>
                <a:cubicBezTo>
                  <a:pt x="80769" y="149391"/>
                  <a:pt x="74358" y="149391"/>
                  <a:pt x="70436" y="145427"/>
                </a:cubicBezTo>
                <a:cubicBezTo>
                  <a:pt x="66513" y="141462"/>
                  <a:pt x="66471" y="135051"/>
                  <a:pt x="70436" y="131129"/>
                </a:cubicBezTo>
                <a:lnTo>
                  <a:pt x="93633" y="107931"/>
                </a:lnTo>
                <a:lnTo>
                  <a:pt x="70436" y="84734"/>
                </a:lnTo>
                <a:cubicBezTo>
                  <a:pt x="66471" y="80769"/>
                  <a:pt x="66471" y="74358"/>
                  <a:pt x="70436" y="70436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76" name="Shape 74"/>
          <p:cNvSpPr/>
          <p:nvPr/>
        </p:nvSpPr>
        <p:spPr>
          <a:xfrm>
            <a:off x="9960603" y="1237644"/>
            <a:ext cx="1254655" cy="238105"/>
          </a:xfrm>
          <a:custGeom>
            <a:avLst/>
            <a:gdLst/>
            <a:ahLst/>
            <a:cxnLst/>
            <a:rect l="l" t="t" r="r" b="b"/>
            <a:pathLst>
              <a:path w="611849" h="215947">
                <a:moveTo>
                  <a:pt x="35992" y="0"/>
                </a:moveTo>
                <a:lnTo>
                  <a:pt x="575858" y="0"/>
                </a:lnTo>
                <a:cubicBezTo>
                  <a:pt x="595722" y="0"/>
                  <a:pt x="611849" y="16127"/>
                  <a:pt x="611849" y="35992"/>
                </a:cubicBezTo>
                <a:lnTo>
                  <a:pt x="611849" y="179955"/>
                </a:lnTo>
                <a:cubicBezTo>
                  <a:pt x="611849" y="199819"/>
                  <a:pt x="595722" y="215947"/>
                  <a:pt x="575858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</p:spPr>
      </p:sp>
      <p:sp>
        <p:nvSpPr>
          <p:cNvPr id="77" name="Text 75"/>
          <p:cNvSpPr/>
          <p:nvPr/>
        </p:nvSpPr>
        <p:spPr>
          <a:xfrm>
            <a:off x="9960604" y="1237643"/>
            <a:ext cx="1050960" cy="238105"/>
          </a:xfrm>
          <a:prstGeom prst="rect">
            <a:avLst/>
          </a:prstGeom>
          <a:noFill/>
        </p:spPr>
        <p:txBody>
          <a:bodyPr wrap="square" lIns="71982" tIns="35990" rIns="71982" bIns="35990" rtlCol="0" anchor="ctr"/>
          <a:lstStyle/>
          <a:p>
            <a:pPr>
              <a:lnSpc>
                <a:spcPct val="110000"/>
              </a:lnSpc>
            </a:pPr>
            <a:r>
              <a:rPr 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CRITICAL</a:t>
            </a:r>
            <a:endParaRPr lang="en-US" sz="1335" b="1" dirty="0">
              <a:solidFill>
                <a:srgbClr val="E53E3E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8138889" y="1525573"/>
            <a:ext cx="2510383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102A43">
                    <a:alpha val="7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IG Rework (ppm)</a:t>
            </a:r>
            <a:endParaRPr lang="en-US" sz="1335" dirty="0">
              <a:solidFill>
                <a:srgbClr val="102A43">
                  <a:alpha val="7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8138889" y="1899431"/>
            <a:ext cx="2600360" cy="359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sz="1335" b="1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27,609</a:t>
            </a:r>
            <a:endParaRPr sz="1335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335" b="1" dirty="0">
              <a:solidFill>
                <a:srgbClr val="1A365D"/>
              </a:solidFill>
              <a:latin typeface="Calibri" panose="020F0502020204030204" charset="0"/>
              <a:ea typeface="Quattrocento Sans" pitchFamily="34" charset="-122"/>
              <a:cs typeface="Calibri" panose="020F050202020403020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8138889" y="2288584"/>
            <a:ext cx="2501385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102A43">
                    <a:alpha val="6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Target: &lt;7,500 ppm</a:t>
            </a:r>
            <a:endParaRPr lang="en-US" sz="1335" dirty="0">
              <a:solidFill>
                <a:srgbClr val="102A43">
                  <a:alpha val="6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138889" y="2504531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83" name="Shape 81"/>
          <p:cNvSpPr/>
          <p:nvPr/>
        </p:nvSpPr>
        <p:spPr>
          <a:xfrm>
            <a:off x="8138889" y="2504531"/>
            <a:ext cx="2872675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84" name="Text 82"/>
          <p:cNvSpPr/>
          <p:nvPr/>
        </p:nvSpPr>
        <p:spPr>
          <a:xfrm>
            <a:off x="8138891" y="2612505"/>
            <a:ext cx="2492387" cy="143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GB" alt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3</a:t>
            </a:r>
            <a:r>
              <a:rPr lang="en-US" sz="1000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×</a:t>
            </a:r>
            <a:r>
              <a:rPr 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 OVER TARGET</a:t>
            </a:r>
            <a:endParaRPr lang="en-US" sz="1335" b="1" dirty="0">
              <a:solidFill>
                <a:srgbClr val="E53E3E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97" name="Shape 95">
            <a:hlinkClick r:id="" action="ppaction://noaction"/>
          </p:cNvPr>
          <p:cNvSpPr/>
          <p:nvPr/>
        </p:nvSpPr>
        <p:spPr>
          <a:xfrm>
            <a:off x="3969843" y="2931755"/>
            <a:ext cx="3500687" cy="1808555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3969844" y="2931753"/>
            <a:ext cx="60959" cy="1785567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8BB78"/>
          </a:solidFill>
        </p:spPr>
      </p:sp>
      <p:sp>
        <p:nvSpPr>
          <p:cNvPr id="99" name="Shape 97"/>
          <p:cNvSpPr/>
          <p:nvPr/>
        </p:nvSpPr>
        <p:spPr>
          <a:xfrm>
            <a:off x="4158797" y="3075717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143571" y="89711"/>
                </a:moveTo>
                <a:lnTo>
                  <a:pt x="109829" y="143697"/>
                </a:lnTo>
                <a:cubicBezTo>
                  <a:pt x="108058" y="146523"/>
                  <a:pt x="105021" y="148295"/>
                  <a:pt x="101689" y="148463"/>
                </a:cubicBezTo>
                <a:cubicBezTo>
                  <a:pt x="98357" y="148632"/>
                  <a:pt x="95152" y="147114"/>
                  <a:pt x="93169" y="144414"/>
                </a:cubicBezTo>
                <a:lnTo>
                  <a:pt x="72924" y="117421"/>
                </a:lnTo>
                <a:cubicBezTo>
                  <a:pt x="69550" y="112950"/>
                  <a:pt x="70478" y="106624"/>
                  <a:pt x="74949" y="103250"/>
                </a:cubicBezTo>
                <a:cubicBezTo>
                  <a:pt x="79420" y="99875"/>
                  <a:pt x="85746" y="100803"/>
                  <a:pt x="89120" y="105274"/>
                </a:cubicBezTo>
                <a:lnTo>
                  <a:pt x="100508" y="120458"/>
                </a:lnTo>
                <a:lnTo>
                  <a:pt x="126405" y="78998"/>
                </a:lnTo>
                <a:cubicBezTo>
                  <a:pt x="129357" y="74274"/>
                  <a:pt x="135599" y="72798"/>
                  <a:pt x="140365" y="75792"/>
                </a:cubicBezTo>
                <a:cubicBezTo>
                  <a:pt x="145131" y="78787"/>
                  <a:pt x="146565" y="84987"/>
                  <a:pt x="143571" y="89753"/>
                </a:cubicBezTo>
                <a:close/>
              </a:path>
            </a:pathLst>
          </a:custGeom>
          <a:solidFill>
            <a:srgbClr val="48BB78"/>
          </a:solidFill>
        </p:spPr>
      </p:sp>
      <p:sp>
        <p:nvSpPr>
          <p:cNvPr id="100" name="Shape 98"/>
          <p:cNvSpPr/>
          <p:nvPr/>
        </p:nvSpPr>
        <p:spPr>
          <a:xfrm>
            <a:off x="5594635" y="3075717"/>
            <a:ext cx="1584579" cy="197297"/>
          </a:xfrm>
          <a:custGeom>
            <a:avLst/>
            <a:gdLst/>
            <a:ahLst/>
            <a:cxnLst/>
            <a:rect l="l" t="t" r="r" b="b"/>
            <a:pathLst>
              <a:path w="728821" h="215947">
                <a:moveTo>
                  <a:pt x="35992" y="0"/>
                </a:moveTo>
                <a:lnTo>
                  <a:pt x="692829" y="0"/>
                </a:lnTo>
                <a:cubicBezTo>
                  <a:pt x="712693" y="0"/>
                  <a:pt x="728821" y="16127"/>
                  <a:pt x="728821" y="35992"/>
                </a:cubicBezTo>
                <a:lnTo>
                  <a:pt x="728821" y="179955"/>
                </a:lnTo>
                <a:cubicBezTo>
                  <a:pt x="728821" y="199819"/>
                  <a:pt x="712693" y="215947"/>
                  <a:pt x="692829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48BB78">
              <a:alpha val="10196"/>
            </a:srgbClr>
          </a:solidFill>
        </p:spPr>
      </p:sp>
      <p:sp>
        <p:nvSpPr>
          <p:cNvPr id="101" name="Text 99"/>
          <p:cNvSpPr/>
          <p:nvPr/>
        </p:nvSpPr>
        <p:spPr>
          <a:xfrm>
            <a:off x="5835648" y="3075719"/>
            <a:ext cx="1137245" cy="155149"/>
          </a:xfrm>
          <a:prstGeom prst="rect">
            <a:avLst/>
          </a:prstGeom>
          <a:noFill/>
        </p:spPr>
        <p:txBody>
          <a:bodyPr wrap="square" lIns="71982" tIns="35990" rIns="71982" bIns="35990" rtlCol="0" anchor="ctr"/>
          <a:lstStyle/>
          <a:p>
            <a:pPr>
              <a:lnSpc>
                <a:spcPct val="110000"/>
              </a:lnSpc>
            </a:pPr>
            <a:r>
              <a:rPr lang="en-US" sz="1335" b="1" dirty="0">
                <a:solidFill>
                  <a:srgbClr val="48BB78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ON TARGET</a:t>
            </a:r>
            <a:endParaRPr lang="en-US" sz="1335" b="1" dirty="0">
              <a:solidFill>
                <a:srgbClr val="48BB78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4131803" y="3363645"/>
            <a:ext cx="2787495" cy="232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102A43">
                    <a:alpha val="7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Average Output per person Production</a:t>
            </a:r>
            <a:endParaRPr lang="en-US" sz="1335" dirty="0">
              <a:solidFill>
                <a:srgbClr val="102A43">
                  <a:alpha val="7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131803" y="3683319"/>
            <a:ext cx="2600360" cy="359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sz="1335" b="1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7,467</a:t>
            </a:r>
            <a:endParaRPr sz="1335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en-US" sz="1335" b="1" dirty="0">
              <a:solidFill>
                <a:srgbClr val="1A365D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131803" y="4051077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05" name="Text 103"/>
          <p:cNvSpPr/>
          <p:nvPr/>
        </p:nvSpPr>
        <p:spPr>
          <a:xfrm>
            <a:off x="4131804" y="4126659"/>
            <a:ext cx="2501385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102A43">
                    <a:alpha val="6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Target: &gt;5000 </a:t>
            </a:r>
            <a:endParaRPr lang="en-US" sz="1335" dirty="0">
              <a:solidFill>
                <a:srgbClr val="102A43">
                  <a:alpha val="6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131803" y="4342605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107" name="Shape 105"/>
          <p:cNvSpPr/>
          <p:nvPr/>
        </p:nvSpPr>
        <p:spPr>
          <a:xfrm>
            <a:off x="4131804" y="4342605"/>
            <a:ext cx="557863" cy="71983"/>
          </a:xfrm>
          <a:custGeom>
            <a:avLst/>
            <a:gdLst/>
            <a:ahLst/>
            <a:cxnLst/>
            <a:rect l="l" t="t" r="r" b="b"/>
            <a:pathLst>
              <a:path w="557863" h="71982">
                <a:moveTo>
                  <a:pt x="35991" y="0"/>
                </a:moveTo>
                <a:lnTo>
                  <a:pt x="521872" y="0"/>
                </a:lnTo>
                <a:cubicBezTo>
                  <a:pt x="541749" y="0"/>
                  <a:pt x="557863" y="16114"/>
                  <a:pt x="557863" y="35991"/>
                </a:cubicBezTo>
                <a:lnTo>
                  <a:pt x="557863" y="35991"/>
                </a:lnTo>
                <a:cubicBezTo>
                  <a:pt x="557863" y="55869"/>
                  <a:pt x="541749" y="71982"/>
                  <a:pt x="521872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8BB78"/>
          </a:solidFill>
        </p:spPr>
      </p:sp>
      <p:sp>
        <p:nvSpPr>
          <p:cNvPr id="108" name="Shape 106">
            <a:hlinkClick r:id="rId3" action="ppaction://hlinksldjump"/>
          </p:cNvPr>
          <p:cNvSpPr/>
          <p:nvPr/>
        </p:nvSpPr>
        <p:spPr>
          <a:xfrm>
            <a:off x="7962251" y="2997404"/>
            <a:ext cx="3408840" cy="162859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962251" y="2997404"/>
            <a:ext cx="35991" cy="162859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110" name="Shape 108"/>
          <p:cNvSpPr/>
          <p:nvPr/>
        </p:nvSpPr>
        <p:spPr>
          <a:xfrm>
            <a:off x="8151204" y="314136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3497" y="13497"/>
                </a:moveTo>
                <a:cubicBezTo>
                  <a:pt x="20962" y="13497"/>
                  <a:pt x="26993" y="19528"/>
                  <a:pt x="26993" y="26993"/>
                </a:cubicBezTo>
                <a:lnTo>
                  <a:pt x="26993" y="168708"/>
                </a:lnTo>
                <a:cubicBezTo>
                  <a:pt x="26993" y="172420"/>
                  <a:pt x="30030" y="175457"/>
                  <a:pt x="33742" y="175457"/>
                </a:cubicBezTo>
                <a:lnTo>
                  <a:pt x="202450" y="175457"/>
                </a:lnTo>
                <a:cubicBezTo>
                  <a:pt x="209916" y="175457"/>
                  <a:pt x="215947" y="181488"/>
                  <a:pt x="215947" y="188954"/>
                </a:cubicBezTo>
                <a:cubicBezTo>
                  <a:pt x="215947" y="196419"/>
                  <a:pt x="209916" y="202450"/>
                  <a:pt x="202450" y="202450"/>
                </a:cubicBezTo>
                <a:lnTo>
                  <a:pt x="33742" y="202450"/>
                </a:lnTo>
                <a:cubicBezTo>
                  <a:pt x="15099" y="202450"/>
                  <a:pt x="0" y="187351"/>
                  <a:pt x="0" y="168708"/>
                </a:cubicBezTo>
                <a:lnTo>
                  <a:pt x="0" y="26993"/>
                </a:lnTo>
                <a:cubicBezTo>
                  <a:pt x="0" y="19528"/>
                  <a:pt x="6031" y="13497"/>
                  <a:pt x="13497" y="13497"/>
                </a:cubicBezTo>
                <a:close/>
                <a:moveTo>
                  <a:pt x="53987" y="40490"/>
                </a:moveTo>
                <a:cubicBezTo>
                  <a:pt x="53987" y="33025"/>
                  <a:pt x="60018" y="26993"/>
                  <a:pt x="67483" y="26993"/>
                </a:cubicBezTo>
                <a:lnTo>
                  <a:pt x="148463" y="26993"/>
                </a:lnTo>
                <a:cubicBezTo>
                  <a:pt x="155929" y="26993"/>
                  <a:pt x="161960" y="33025"/>
                  <a:pt x="161960" y="40490"/>
                </a:cubicBezTo>
                <a:cubicBezTo>
                  <a:pt x="161960" y="47955"/>
                  <a:pt x="155929" y="53987"/>
                  <a:pt x="148463" y="53987"/>
                </a:cubicBezTo>
                <a:lnTo>
                  <a:pt x="67483" y="53987"/>
                </a:lnTo>
                <a:cubicBezTo>
                  <a:pt x="60018" y="53987"/>
                  <a:pt x="53987" y="47955"/>
                  <a:pt x="53987" y="40490"/>
                </a:cubicBezTo>
                <a:close/>
                <a:moveTo>
                  <a:pt x="67483" y="74232"/>
                </a:moveTo>
                <a:lnTo>
                  <a:pt x="121470" y="74232"/>
                </a:lnTo>
                <a:cubicBezTo>
                  <a:pt x="128935" y="74232"/>
                  <a:pt x="134967" y="80263"/>
                  <a:pt x="134967" y="87728"/>
                </a:cubicBezTo>
                <a:cubicBezTo>
                  <a:pt x="134967" y="95194"/>
                  <a:pt x="128935" y="101225"/>
                  <a:pt x="121470" y="101225"/>
                </a:cubicBezTo>
                <a:lnTo>
                  <a:pt x="67483" y="101225"/>
                </a:lnTo>
                <a:cubicBezTo>
                  <a:pt x="60018" y="101225"/>
                  <a:pt x="53987" y="95194"/>
                  <a:pt x="53987" y="87728"/>
                </a:cubicBezTo>
                <a:cubicBezTo>
                  <a:pt x="53987" y="80263"/>
                  <a:pt x="60018" y="74232"/>
                  <a:pt x="67483" y="74232"/>
                </a:cubicBezTo>
                <a:close/>
                <a:moveTo>
                  <a:pt x="67483" y="121470"/>
                </a:moveTo>
                <a:lnTo>
                  <a:pt x="175457" y="121470"/>
                </a:lnTo>
                <a:cubicBezTo>
                  <a:pt x="182922" y="121470"/>
                  <a:pt x="188954" y="127501"/>
                  <a:pt x="188954" y="134967"/>
                </a:cubicBezTo>
                <a:cubicBezTo>
                  <a:pt x="188954" y="142432"/>
                  <a:pt x="182922" y="148463"/>
                  <a:pt x="175457" y="148463"/>
                </a:cubicBezTo>
                <a:lnTo>
                  <a:pt x="67483" y="148463"/>
                </a:lnTo>
                <a:cubicBezTo>
                  <a:pt x="60018" y="148463"/>
                  <a:pt x="53987" y="142432"/>
                  <a:pt x="53987" y="134967"/>
                </a:cubicBezTo>
                <a:cubicBezTo>
                  <a:pt x="53987" y="127501"/>
                  <a:pt x="60018" y="121470"/>
                  <a:pt x="67483" y="12147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111" name="Shape 109"/>
          <p:cNvSpPr/>
          <p:nvPr/>
        </p:nvSpPr>
        <p:spPr>
          <a:xfrm>
            <a:off x="9966240" y="3141368"/>
            <a:ext cx="1285009" cy="187132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</p:spPr>
      </p:sp>
      <p:sp>
        <p:nvSpPr>
          <p:cNvPr id="112" name="Text 110"/>
          <p:cNvSpPr/>
          <p:nvPr/>
        </p:nvSpPr>
        <p:spPr>
          <a:xfrm>
            <a:off x="9919349" y="3141368"/>
            <a:ext cx="1451741" cy="161375"/>
          </a:xfrm>
          <a:prstGeom prst="rect">
            <a:avLst/>
          </a:prstGeom>
          <a:noFill/>
        </p:spPr>
        <p:txBody>
          <a:bodyPr wrap="square" lIns="71982" tIns="35990" rIns="71982" bIns="35990" rtlCol="0" anchor="ctr"/>
          <a:lstStyle/>
          <a:p>
            <a:pPr>
              <a:lnSpc>
                <a:spcPct val="110000"/>
              </a:lnSpc>
            </a:pPr>
            <a:r>
              <a:rPr lang="en-US" sz="1335" b="1" dirty="0">
                <a:solidFill>
                  <a:srgbClr val="E53E3E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BELOW TARGET</a:t>
            </a:r>
            <a:endParaRPr lang="en-US" sz="1335" b="1" dirty="0">
              <a:solidFill>
                <a:srgbClr val="E53E3E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8124209" y="3429297"/>
            <a:ext cx="2510383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102A43">
                    <a:alpha val="7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OEE – IG Machines Avg.</a:t>
            </a:r>
            <a:endParaRPr lang="en-US" sz="1335" dirty="0">
              <a:solidFill>
                <a:srgbClr val="102A43">
                  <a:alpha val="7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8124209" y="3681236"/>
            <a:ext cx="2600360" cy="359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335" b="1" dirty="0">
                <a:solidFill>
                  <a:srgbClr val="1A365D"/>
                </a:solidFill>
                <a:latin typeface="Calibri" panose="020F0502020204030204" charset="0"/>
                <a:ea typeface="Quattrocento Sans" pitchFamily="34" charset="-122"/>
                <a:cs typeface="Calibri" panose="020F0502020204030204" charset="0"/>
              </a:rPr>
              <a:t>58 %</a:t>
            </a:r>
            <a:endParaRPr lang="en-US" sz="1335" b="1" dirty="0">
              <a:solidFill>
                <a:srgbClr val="1A365D"/>
              </a:solidFill>
              <a:latin typeface="Calibri" panose="020F0502020204030204" charset="0"/>
              <a:ea typeface="Quattrocento Sans" pitchFamily="34" charset="-122"/>
              <a:cs typeface="Calibri" panose="020F0502020204030204" charset="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8124209" y="4116728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16" name="Text 114"/>
          <p:cNvSpPr/>
          <p:nvPr/>
        </p:nvSpPr>
        <p:spPr>
          <a:xfrm>
            <a:off x="8124211" y="4192309"/>
            <a:ext cx="2501385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102A43">
                    <a:alpha val="6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Target: &gt;65%</a:t>
            </a:r>
            <a:endParaRPr lang="en-US" sz="1335" dirty="0">
              <a:solidFill>
                <a:srgbClr val="102A43">
                  <a:alpha val="6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8124209" y="4408256"/>
            <a:ext cx="2887355" cy="60959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118" name="Shape 116"/>
          <p:cNvSpPr/>
          <p:nvPr/>
        </p:nvSpPr>
        <p:spPr>
          <a:xfrm>
            <a:off x="8124209" y="4408256"/>
            <a:ext cx="2096484" cy="71983"/>
          </a:xfrm>
          <a:custGeom>
            <a:avLst/>
            <a:gdLst/>
            <a:ahLst/>
            <a:cxnLst/>
            <a:rect l="l" t="t" r="r" b="b"/>
            <a:pathLst>
              <a:path w="2096484" h="71982">
                <a:moveTo>
                  <a:pt x="35991" y="0"/>
                </a:moveTo>
                <a:lnTo>
                  <a:pt x="2060493" y="0"/>
                </a:lnTo>
                <a:cubicBezTo>
                  <a:pt x="2080370" y="0"/>
                  <a:pt x="2096484" y="16114"/>
                  <a:pt x="2096484" y="35991"/>
                </a:cubicBezTo>
                <a:lnTo>
                  <a:pt x="2096484" y="35991"/>
                </a:lnTo>
                <a:cubicBezTo>
                  <a:pt x="2096484" y="55869"/>
                  <a:pt x="2080370" y="71982"/>
                  <a:pt x="2060493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</p:spPr>
      </p:sp>
      <p:sp>
        <p:nvSpPr>
          <p:cNvPr id="119" name="Shape 117"/>
          <p:cNvSpPr/>
          <p:nvPr/>
        </p:nvSpPr>
        <p:spPr>
          <a:xfrm>
            <a:off x="428041" y="4894479"/>
            <a:ext cx="6142161" cy="1628599"/>
          </a:xfrm>
          <a:custGeom>
            <a:avLst/>
            <a:gdLst/>
            <a:ahLst/>
            <a:cxnLst/>
            <a:rect l="l" t="t" r="r" b="b"/>
            <a:pathLst>
              <a:path w="5659607" h="1628599">
                <a:moveTo>
                  <a:pt x="107976" y="0"/>
                </a:moveTo>
                <a:lnTo>
                  <a:pt x="5551631" y="0"/>
                </a:lnTo>
                <a:cubicBezTo>
                  <a:pt x="5611265" y="0"/>
                  <a:pt x="5659607" y="48343"/>
                  <a:pt x="5659607" y="107976"/>
                </a:cubicBezTo>
                <a:lnTo>
                  <a:pt x="5659607" y="1520623"/>
                </a:lnTo>
                <a:cubicBezTo>
                  <a:pt x="5659607" y="1580257"/>
                  <a:pt x="5611265" y="1628599"/>
                  <a:pt x="5551631" y="1628599"/>
                </a:cubicBezTo>
                <a:lnTo>
                  <a:pt x="107976" y="1628599"/>
                </a:lnTo>
                <a:cubicBezTo>
                  <a:pt x="48343" y="1628599"/>
                  <a:pt x="0" y="1580257"/>
                  <a:pt x="0" y="1520623"/>
                </a:cubicBezTo>
                <a:lnTo>
                  <a:pt x="0" y="107976"/>
                </a:lnTo>
                <a:cubicBezTo>
                  <a:pt x="0" y="48343"/>
                  <a:pt x="48343" y="0"/>
                  <a:pt x="107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0" scaled="1"/>
          </a:gradFill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576503" y="5524529"/>
            <a:ext cx="242940" cy="323920"/>
          </a:xfrm>
          <a:custGeom>
            <a:avLst/>
            <a:gdLst/>
            <a:ahLst/>
            <a:cxnLst/>
            <a:rect l="l" t="t" r="r" b="b"/>
            <a:pathLst>
              <a:path w="242940" h="323920">
                <a:moveTo>
                  <a:pt x="185305" y="242940"/>
                </a:moveTo>
                <a:cubicBezTo>
                  <a:pt x="189924" y="228832"/>
                  <a:pt x="199160" y="216052"/>
                  <a:pt x="209599" y="205044"/>
                </a:cubicBezTo>
                <a:cubicBezTo>
                  <a:pt x="230287" y="183281"/>
                  <a:pt x="242940" y="153862"/>
                  <a:pt x="242940" y="121470"/>
                </a:cubicBezTo>
                <a:cubicBezTo>
                  <a:pt x="242940" y="54408"/>
                  <a:pt x="188532" y="0"/>
                  <a:pt x="121470" y="0"/>
                </a:cubicBezTo>
                <a:cubicBezTo>
                  <a:pt x="54408" y="0"/>
                  <a:pt x="0" y="54408"/>
                  <a:pt x="0" y="121470"/>
                </a:cubicBezTo>
                <a:cubicBezTo>
                  <a:pt x="0" y="153862"/>
                  <a:pt x="12653" y="183281"/>
                  <a:pt x="33341" y="205044"/>
                </a:cubicBezTo>
                <a:cubicBezTo>
                  <a:pt x="43780" y="216052"/>
                  <a:pt x="53080" y="228832"/>
                  <a:pt x="57635" y="242940"/>
                </a:cubicBezTo>
                <a:lnTo>
                  <a:pt x="185242" y="242940"/>
                </a:lnTo>
                <a:close/>
                <a:moveTo>
                  <a:pt x="182205" y="273308"/>
                </a:moveTo>
                <a:lnTo>
                  <a:pt x="60735" y="273308"/>
                </a:lnTo>
                <a:lnTo>
                  <a:pt x="60735" y="283430"/>
                </a:lnTo>
                <a:cubicBezTo>
                  <a:pt x="60735" y="311394"/>
                  <a:pt x="83384" y="334043"/>
                  <a:pt x="111348" y="334043"/>
                </a:cubicBezTo>
                <a:lnTo>
                  <a:pt x="131593" y="334043"/>
                </a:lnTo>
                <a:cubicBezTo>
                  <a:pt x="159556" y="334043"/>
                  <a:pt x="182205" y="311394"/>
                  <a:pt x="182205" y="283430"/>
                </a:cubicBezTo>
                <a:lnTo>
                  <a:pt x="182205" y="273308"/>
                </a:lnTo>
                <a:close/>
                <a:moveTo>
                  <a:pt x="116409" y="70858"/>
                </a:moveTo>
                <a:cubicBezTo>
                  <a:pt x="91229" y="70858"/>
                  <a:pt x="70858" y="91229"/>
                  <a:pt x="70858" y="116409"/>
                </a:cubicBezTo>
                <a:cubicBezTo>
                  <a:pt x="70858" y="124823"/>
                  <a:pt x="64088" y="131593"/>
                  <a:pt x="55674" y="131593"/>
                </a:cubicBezTo>
                <a:cubicBezTo>
                  <a:pt x="47259" y="131593"/>
                  <a:pt x="40490" y="124823"/>
                  <a:pt x="40490" y="116409"/>
                </a:cubicBezTo>
                <a:cubicBezTo>
                  <a:pt x="40490" y="74464"/>
                  <a:pt x="74464" y="40490"/>
                  <a:pt x="116409" y="40490"/>
                </a:cubicBezTo>
                <a:cubicBezTo>
                  <a:pt x="124823" y="40490"/>
                  <a:pt x="131593" y="47259"/>
                  <a:pt x="131593" y="55674"/>
                </a:cubicBezTo>
                <a:cubicBezTo>
                  <a:pt x="131593" y="64088"/>
                  <a:pt x="124823" y="70858"/>
                  <a:pt x="116409" y="70858"/>
                </a:cubicBezTo>
                <a:close/>
              </a:path>
            </a:pathLst>
          </a:custGeom>
          <a:solidFill>
            <a:srgbClr val="4299E1"/>
          </a:solidFill>
        </p:spPr>
      </p:sp>
      <p:sp>
        <p:nvSpPr>
          <p:cNvPr id="121" name="Text 119"/>
          <p:cNvSpPr/>
          <p:nvPr/>
        </p:nvSpPr>
        <p:spPr>
          <a:xfrm>
            <a:off x="964533" y="5326577"/>
            <a:ext cx="5065755" cy="2519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FFFFF"/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Key Insight</a:t>
            </a:r>
            <a:endParaRPr lang="en-US" sz="1275" b="1" dirty="0">
              <a:solidFill>
                <a:srgbClr val="FFFFFF"/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964533" y="5614505"/>
            <a:ext cx="5056756" cy="431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dirty="0">
                <a:solidFill>
                  <a:srgbClr val="FFFFFF">
                    <a:alpha val="90000"/>
                  </a:srgbClr>
                </a:solidFill>
                <a:latin typeface="Calibri" panose="020F0502020204030204" charset="0"/>
                <a:ea typeface="Liter" pitchFamily="34" charset="-122"/>
                <a:cs typeface="Calibri" panose="020F0502020204030204" charset="0"/>
              </a:rPr>
              <a:t>IG section requires immediate attention with 14× rejection and 5× rework over targets. </a:t>
            </a:r>
            <a:endParaRPr lang="en-US" sz="1135" dirty="0">
              <a:solidFill>
                <a:srgbClr val="FFFFFF">
                  <a:alpha val="90000"/>
                </a:srgbClr>
              </a:solidFill>
              <a:latin typeface="Calibri" panose="020F0502020204030204" charset="0"/>
              <a:ea typeface="Liter" pitchFamily="34" charset="-122"/>
              <a:cs typeface="Calibri" panose="020F050202020403020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256883" y="186832"/>
            <a:ext cx="882666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</a:rPr>
              <a:t>Key Performance Indicators – </a:t>
            </a:r>
            <a:r>
              <a:rPr lang="en-IN" altLang="en-US" sz="2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</a:rPr>
              <a:t>March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charset="0"/>
              </a:rPr>
              <a:t> 2026</a:t>
            </a:r>
            <a:endParaRPr lang="en-US" sz="24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charset="0"/>
            </a:endParaRPr>
          </a:p>
        </p:txBody>
      </p:sp>
      <p:sp>
        <p:nvSpPr>
          <p:cNvPr id="3" name="Shape 21"/>
          <p:cNvSpPr/>
          <p:nvPr/>
        </p:nvSpPr>
        <p:spPr>
          <a:xfrm>
            <a:off x="8148603" y="2235143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3" name="object 2" descr="$PPTXTitle"/>
          <p:cNvSpPr txBox="1">
            <a:spLocks noGrp="1"/>
          </p:cNvSpPr>
          <p:nvPr/>
        </p:nvSpPr>
        <p:spPr>
          <a:xfrm>
            <a:off x="1077941" y="6308431"/>
            <a:ext cx="6715760" cy="4267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 panose="020F0502020204030204"/>
                <a:ea typeface="+mj-ea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65" dirty="0"/>
              <a:t>Process</a:t>
            </a:r>
            <a:r>
              <a:rPr sz="2665" spc="-60" dirty="0"/>
              <a:t> </a:t>
            </a:r>
            <a:r>
              <a:rPr sz="2665" dirty="0"/>
              <a:t>Capability</a:t>
            </a:r>
            <a:r>
              <a:rPr sz="2665" spc="-60" dirty="0"/>
              <a:t> </a:t>
            </a:r>
            <a:r>
              <a:rPr sz="2665" dirty="0"/>
              <a:t>(Cpk)</a:t>
            </a:r>
            <a:r>
              <a:rPr sz="2665" spc="-60" dirty="0"/>
              <a:t> </a:t>
            </a:r>
            <a:r>
              <a:rPr sz="2665" dirty="0"/>
              <a:t>–</a:t>
            </a:r>
            <a:r>
              <a:rPr sz="2665" spc="-60" dirty="0"/>
              <a:t> </a:t>
            </a:r>
            <a:r>
              <a:rPr sz="2665" dirty="0"/>
              <a:t>March</a:t>
            </a:r>
            <a:r>
              <a:rPr sz="2665" spc="-70" dirty="0"/>
              <a:t> </a:t>
            </a:r>
            <a:r>
              <a:rPr sz="2665" spc="-20" dirty="0"/>
              <a:t>2026</a:t>
            </a:r>
            <a:endParaRPr sz="2665" spc="-20" dirty="0"/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361527" y="1162050"/>
          <a:ext cx="11367770" cy="403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165"/>
                <a:gridCol w="947420"/>
                <a:gridCol w="947420"/>
                <a:gridCol w="946785"/>
                <a:gridCol w="947420"/>
                <a:gridCol w="947420"/>
                <a:gridCol w="947420"/>
                <a:gridCol w="946785"/>
                <a:gridCol w="947420"/>
                <a:gridCol w="947420"/>
                <a:gridCol w="947420"/>
                <a:gridCol w="1082675"/>
              </a:tblGrid>
              <a:tr h="38925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01-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06-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08-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09-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15-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17-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18-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19-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20-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22-</a:t>
                      </a:r>
                      <a:r>
                        <a:rPr sz="93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Mar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Average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2.45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0.95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2.15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20" dirty="0">
                          <a:solidFill>
                            <a:srgbClr val="0E756D"/>
                          </a:solidFill>
                          <a:latin typeface="Calibri" panose="020F0502020204030204"/>
                          <a:cs typeface="Calibri" panose="020F0502020204030204"/>
                        </a:rPr>
                        <a:t>1.85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IG.04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1.50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0.85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1.03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2.11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20" dirty="0">
                          <a:solidFill>
                            <a:srgbClr val="0E756D"/>
                          </a:solidFill>
                          <a:latin typeface="Calibri" panose="020F0502020204030204"/>
                          <a:cs typeface="Calibri" panose="020F0502020204030204"/>
                        </a:rPr>
                        <a:t>1.37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IG.12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1.10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0.70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1.68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2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1.16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IG.13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IG.14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IG.15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1.18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1.31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1.34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2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1.28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IG.16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1.72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20" dirty="0">
                          <a:solidFill>
                            <a:srgbClr val="0E756D"/>
                          </a:solidFill>
                          <a:latin typeface="Calibri" panose="020F0502020204030204"/>
                          <a:cs typeface="Calibri" panose="020F0502020204030204"/>
                        </a:rPr>
                        <a:t>1.72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IG.17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1.91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20" dirty="0">
                          <a:solidFill>
                            <a:srgbClr val="0E756D"/>
                          </a:solidFill>
                          <a:latin typeface="Calibri" panose="020F0502020204030204"/>
                          <a:cs typeface="Calibri" panose="020F0502020204030204"/>
                        </a:rPr>
                        <a:t>1.91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IG.18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1.81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5" b="1" spc="-20" dirty="0">
                          <a:solidFill>
                            <a:srgbClr val="0E756D"/>
                          </a:solidFill>
                          <a:latin typeface="Calibri" panose="020F0502020204030204"/>
                          <a:cs typeface="Calibri" panose="020F0502020204030204"/>
                        </a:rPr>
                        <a:t>1.81</a:t>
                      </a:r>
                      <a:endParaRPr sz="93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8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D0F9E4"/>
                    </a:solidFill>
                  </a:tcPr>
                </a:tc>
              </a:tr>
            </a:tbl>
          </a:graphicData>
        </a:graphic>
      </p:graphicFrame>
      <p:sp>
        <p:nvSpPr>
          <p:cNvPr id="5" name="object 4"/>
          <p:cNvSpPr/>
          <p:nvPr/>
        </p:nvSpPr>
        <p:spPr>
          <a:xfrm>
            <a:off x="670085" y="5348768"/>
            <a:ext cx="243840" cy="24384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182511" y="0"/>
                </a:moveTo>
                <a:lnTo>
                  <a:pt x="0" y="0"/>
                </a:lnTo>
                <a:lnTo>
                  <a:pt x="0" y="182511"/>
                </a:lnTo>
                <a:lnTo>
                  <a:pt x="91439" y="182511"/>
                </a:lnTo>
                <a:lnTo>
                  <a:pt x="182511" y="182511"/>
                </a:lnTo>
                <a:lnTo>
                  <a:pt x="182511" y="0"/>
                </a:lnTo>
                <a:close/>
              </a:path>
            </a:pathLst>
          </a:custGeom>
          <a:solidFill>
            <a:srgbClr val="D0F9E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5"/>
          <p:cNvSpPr txBox="1"/>
          <p:nvPr/>
        </p:nvSpPr>
        <p:spPr>
          <a:xfrm>
            <a:off x="1138901" y="5372627"/>
            <a:ext cx="1021927" cy="1803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Cpk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≥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1.33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(Good)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3474245" y="5348768"/>
            <a:ext cx="243840" cy="24384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182511" y="0"/>
                </a:moveTo>
                <a:lnTo>
                  <a:pt x="0" y="0"/>
                </a:lnTo>
                <a:lnTo>
                  <a:pt x="0" y="182511"/>
                </a:lnTo>
                <a:lnTo>
                  <a:pt x="91439" y="182511"/>
                </a:lnTo>
                <a:lnTo>
                  <a:pt x="182511" y="182511"/>
                </a:lnTo>
                <a:lnTo>
                  <a:pt x="182511" y="0"/>
                </a:lnTo>
                <a:close/>
              </a:path>
            </a:pathLst>
          </a:custGeom>
          <a:solidFill>
            <a:srgbClr val="FDF2C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7"/>
          <p:cNvSpPr txBox="1"/>
          <p:nvPr/>
        </p:nvSpPr>
        <p:spPr>
          <a:xfrm>
            <a:off x="3943061" y="5372627"/>
            <a:ext cx="1545167" cy="1803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1.00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≤</a:t>
            </a:r>
            <a:r>
              <a:rPr sz="1065" spc="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Cpk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&lt;</a:t>
            </a:r>
            <a:r>
              <a:rPr sz="1065" spc="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1.33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(Monitor)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6766085" y="5348768"/>
            <a:ext cx="243840" cy="24384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182511" y="0"/>
                </a:moveTo>
                <a:lnTo>
                  <a:pt x="0" y="0"/>
                </a:lnTo>
                <a:lnTo>
                  <a:pt x="0" y="182511"/>
                </a:lnTo>
                <a:lnTo>
                  <a:pt x="91440" y="182511"/>
                </a:lnTo>
                <a:lnTo>
                  <a:pt x="182511" y="182511"/>
                </a:lnTo>
                <a:lnTo>
                  <a:pt x="182511" y="0"/>
                </a:lnTo>
                <a:close/>
              </a:path>
            </a:pathLst>
          </a:custGeom>
          <a:solidFill>
            <a:srgbClr val="FDE1E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9"/>
          <p:cNvSpPr txBox="1"/>
          <p:nvPr/>
        </p:nvSpPr>
        <p:spPr>
          <a:xfrm>
            <a:off x="7234901" y="5372627"/>
            <a:ext cx="1541780" cy="1803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Cpk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&lt;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1.00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(Action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Needed)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609125" y="5729768"/>
            <a:ext cx="10972800" cy="487680"/>
          </a:xfrm>
          <a:custGeom>
            <a:avLst/>
            <a:gdLst/>
            <a:ahLst/>
            <a:cxnLst/>
            <a:rect l="l" t="t" r="r" b="b"/>
            <a:pathLst>
              <a:path w="8229600" h="365760">
                <a:moveTo>
                  <a:pt x="8229231" y="0"/>
                </a:moveTo>
                <a:lnTo>
                  <a:pt x="0" y="0"/>
                </a:lnTo>
                <a:lnTo>
                  <a:pt x="0" y="365391"/>
                </a:lnTo>
                <a:lnTo>
                  <a:pt x="4114800" y="365391"/>
                </a:lnTo>
                <a:lnTo>
                  <a:pt x="8229231" y="365391"/>
                </a:lnTo>
                <a:lnTo>
                  <a:pt x="8229231" y="0"/>
                </a:lnTo>
                <a:close/>
              </a:path>
            </a:pathLst>
          </a:custGeom>
          <a:solidFill>
            <a:srgbClr val="E7EFF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1"/>
          <p:cNvSpPr txBox="1"/>
          <p:nvPr/>
        </p:nvSpPr>
        <p:spPr>
          <a:xfrm>
            <a:off x="956021" y="5864997"/>
            <a:ext cx="6777567" cy="2006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Fleet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Average: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1.59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Cpk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(Target: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≥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1.67)</a:t>
            </a:r>
            <a:r>
              <a:rPr sz="1200" spc="18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200" spc="17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Best: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IG.17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1.91</a:t>
            </a:r>
            <a:r>
              <a:rPr sz="1200" spc="17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200" spc="17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Danger</a:t>
            </a:r>
            <a:r>
              <a:rPr sz="1200" spc="-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Zone:</a:t>
            </a:r>
            <a:r>
              <a:rPr sz="1200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IG.12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1.16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1200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monitoring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-473" y="6339368"/>
            <a:ext cx="12192000" cy="51816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3"/>
          <p:cNvSpPr txBox="1">
            <a:spLocks noGrp="1"/>
          </p:cNvSpPr>
          <p:nvPr/>
        </p:nvSpPr>
        <p:spPr>
          <a:xfrm>
            <a:off x="4093785" y="6378976"/>
            <a:ext cx="4000500" cy="276860"/>
          </a:xfrm>
          <a:prstGeom prst="rect">
            <a:avLst/>
          </a:prstGeom>
        </p:spPr>
        <p:txBody>
          <a:bodyPr vert="horz" wrap="square" lIns="0" tIns="132926" rIns="0" bIns="0" rtlCol="0">
            <a:spAutoFit/>
          </a:bodyPr>
          <a:lstStyle>
            <a:lvl1pPr marL="0">
              <a:defRPr sz="700" b="0" i="0">
                <a:solidFill>
                  <a:schemeClr val="bg1"/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35" dirty="0"/>
              <a:t>CONFIDENTIAL</a:t>
            </a:r>
            <a:r>
              <a:rPr sz="935" spc="150" dirty="0"/>
              <a:t> </a:t>
            </a:r>
            <a:r>
              <a:rPr sz="935" dirty="0"/>
              <a:t>|</a:t>
            </a:r>
            <a:r>
              <a:rPr sz="935" spc="135" dirty="0"/>
              <a:t> </a:t>
            </a:r>
            <a:r>
              <a:rPr sz="935" dirty="0"/>
              <a:t>FOR</a:t>
            </a:r>
            <a:r>
              <a:rPr sz="935" spc="-5" dirty="0"/>
              <a:t> </a:t>
            </a:r>
            <a:r>
              <a:rPr sz="935" spc="-10" dirty="0"/>
              <a:t>MANAGEMENT</a:t>
            </a:r>
            <a:r>
              <a:rPr sz="935" spc="-15" dirty="0"/>
              <a:t> </a:t>
            </a:r>
            <a:r>
              <a:rPr sz="935" dirty="0"/>
              <a:t>REVIEW</a:t>
            </a:r>
            <a:r>
              <a:rPr sz="935" spc="130" dirty="0"/>
              <a:t> </a:t>
            </a:r>
            <a:r>
              <a:rPr sz="935" dirty="0"/>
              <a:t>|</a:t>
            </a:r>
            <a:r>
              <a:rPr sz="935" spc="145" dirty="0"/>
              <a:t> </a:t>
            </a:r>
            <a:r>
              <a:rPr sz="935" dirty="0"/>
              <a:t>MRS</a:t>
            </a:r>
            <a:r>
              <a:rPr sz="935" spc="-20" dirty="0"/>
              <a:t> </a:t>
            </a:r>
            <a:r>
              <a:rPr sz="935" dirty="0"/>
              <a:t>BEARINGS</a:t>
            </a:r>
            <a:r>
              <a:rPr sz="935" spc="-10" dirty="0"/>
              <a:t> </a:t>
            </a:r>
            <a:r>
              <a:rPr sz="935" spc="-20" dirty="0"/>
              <a:t>PRIVATE</a:t>
            </a:r>
            <a:r>
              <a:rPr sz="935" spc="-15" dirty="0"/>
              <a:t> </a:t>
            </a:r>
            <a:r>
              <a:rPr sz="935" spc="-10" dirty="0"/>
              <a:t>LIMITED</a:t>
            </a:r>
            <a:endParaRPr sz="935" spc="-10" dirty="0"/>
          </a:p>
        </p:txBody>
      </p:sp>
      <p:sp>
        <p:nvSpPr>
          <p:cNvPr id="21" name="Text 2"/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chemeClr val="bg1"/>
                </a:solidFill>
                <a:latin typeface="Calibri" panose="020F0502020204030204"/>
                <a:ea typeface="Liter" pitchFamily="34" charset="-122"/>
                <a:cs typeface="Liter" pitchFamily="34" charset="-120"/>
              </a:rPr>
              <a:t>Process</a:t>
            </a:r>
            <a:r>
              <a:rPr lang="en-US" sz="2400" b="1" dirty="0">
                <a:solidFill>
                  <a:schemeClr val="bg1"/>
                </a:solidFill>
                <a:latin typeface="+mj-lt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/>
                <a:ea typeface="Liter" pitchFamily="34" charset="-122"/>
                <a:cs typeface="Liter" pitchFamily="34" charset="-120"/>
              </a:rPr>
              <a:t>Capability</a:t>
            </a:r>
            <a:r>
              <a:rPr lang="en-US" sz="2400" b="1" dirty="0">
                <a:solidFill>
                  <a:schemeClr val="bg1"/>
                </a:solidFill>
                <a:latin typeface="+mj-lt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ea typeface="Liter" pitchFamily="34" charset="-122"/>
                <a:cs typeface="Liter" pitchFamily="34" charset="-120"/>
              </a:rPr>
              <a:t>(</a:t>
            </a:r>
            <a:r>
              <a:rPr lang="en-US" sz="2400" b="1" dirty="0" err="1">
                <a:solidFill>
                  <a:schemeClr val="bg1"/>
                </a:solidFill>
                <a:ea typeface="Liter" pitchFamily="34" charset="-122"/>
                <a:cs typeface="Liter" pitchFamily="34" charset="-120"/>
              </a:rPr>
              <a:t>Cpk</a:t>
            </a:r>
            <a:r>
              <a:rPr lang="en-US" sz="2400" b="1" dirty="0">
                <a:solidFill>
                  <a:schemeClr val="bg1"/>
                </a:solidFill>
                <a:ea typeface="Liter" pitchFamily="34" charset="-122"/>
                <a:cs typeface="Liter" pitchFamily="34" charset="-120"/>
              </a:rPr>
              <a:t>)</a:t>
            </a:r>
            <a:endParaRPr lang="en-US" sz="2400" b="1" dirty="0">
              <a:solidFill>
                <a:schemeClr val="bg1"/>
              </a:solidFill>
              <a:ea typeface="Liter" pitchFamily="34" charset="-122"/>
              <a:cs typeface="Liter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3990" y="264177"/>
            <a:ext cx="671576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Production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Achievement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IG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Machines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12490" y="5600939"/>
            <a:ext cx="2176632" cy="22225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335" b="1" u="sng" spc="-1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b="1" u="sng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Plan</a:t>
            </a:r>
            <a:r>
              <a:rPr sz="1335" b="1" u="sng" spc="-2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b="1" u="sng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vs</a:t>
            </a:r>
            <a:r>
              <a:rPr sz="1335" b="1" u="sng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b="1" u="sng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Good</a:t>
            </a:r>
            <a:r>
              <a:rPr sz="1335" b="1" u="sng" spc="-1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b="1" u="sng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Qty</a:t>
            </a:r>
            <a:endParaRPr sz="1335" b="1" u="sng" spc="-25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7022" y="1338621"/>
            <a:ext cx="7549720" cy="4261939"/>
            <a:chOff x="274320" y="1005841"/>
            <a:chExt cx="5669280" cy="3200400"/>
          </a:xfrm>
        </p:grpSpPr>
        <p:sp>
          <p:nvSpPr>
            <p:cNvPr id="5" name="object 5"/>
            <p:cNvSpPr/>
            <p:nvPr/>
          </p:nvSpPr>
          <p:spPr>
            <a:xfrm>
              <a:off x="274320" y="1005841"/>
              <a:ext cx="5669280" cy="3200400"/>
            </a:xfrm>
            <a:custGeom>
              <a:avLst/>
              <a:gdLst/>
              <a:ahLst/>
              <a:cxnLst/>
              <a:rect l="l" t="t" r="r" b="b"/>
              <a:pathLst>
                <a:path w="5669280" h="3200400">
                  <a:moveTo>
                    <a:pt x="5668924" y="0"/>
                  </a:moveTo>
                  <a:lnTo>
                    <a:pt x="0" y="0"/>
                  </a:lnTo>
                  <a:lnTo>
                    <a:pt x="0" y="3200044"/>
                  </a:lnTo>
                  <a:lnTo>
                    <a:pt x="2834640" y="3200044"/>
                  </a:lnTo>
                  <a:lnTo>
                    <a:pt x="5668924" y="3200044"/>
                  </a:lnTo>
                  <a:lnTo>
                    <a:pt x="5668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15683" y="3674518"/>
              <a:ext cx="5114925" cy="0"/>
            </a:xfrm>
            <a:custGeom>
              <a:avLst/>
              <a:gdLst/>
              <a:ahLst/>
              <a:cxnLst/>
              <a:rect l="l" t="t" r="r" b="b"/>
              <a:pathLst>
                <a:path w="5114925">
                  <a:moveTo>
                    <a:pt x="511451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15683" y="3309126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>
                  <a:moveTo>
                    <a:pt x="0" y="0"/>
                  </a:moveTo>
                  <a:lnTo>
                    <a:pt x="9107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928624" y="330588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1050480" y="3309126"/>
              <a:ext cx="2740025" cy="0"/>
            </a:xfrm>
            <a:custGeom>
              <a:avLst/>
              <a:gdLst/>
              <a:ahLst/>
              <a:cxnLst/>
              <a:rect l="l" t="t" r="r" b="b"/>
              <a:pathLst>
                <a:path w="2740025">
                  <a:moveTo>
                    <a:pt x="0" y="0"/>
                  </a:moveTo>
                  <a:lnTo>
                    <a:pt x="182524" y="0"/>
                  </a:lnTo>
                </a:path>
                <a:path w="2740025">
                  <a:moveTo>
                    <a:pt x="426237" y="0"/>
                  </a:moveTo>
                  <a:lnTo>
                    <a:pt x="608761" y="0"/>
                  </a:lnTo>
                </a:path>
                <a:path w="2740025">
                  <a:moveTo>
                    <a:pt x="730796" y="0"/>
                  </a:moveTo>
                  <a:lnTo>
                    <a:pt x="1034999" y="0"/>
                  </a:lnTo>
                </a:path>
                <a:path w="2740025">
                  <a:moveTo>
                    <a:pt x="1278724" y="0"/>
                  </a:moveTo>
                  <a:lnTo>
                    <a:pt x="1461236" y="0"/>
                  </a:lnTo>
                </a:path>
                <a:path w="2740025">
                  <a:moveTo>
                    <a:pt x="1704962" y="0"/>
                  </a:moveTo>
                  <a:lnTo>
                    <a:pt x="1887474" y="0"/>
                  </a:lnTo>
                </a:path>
                <a:path w="2740025">
                  <a:moveTo>
                    <a:pt x="2130844" y="0"/>
                  </a:moveTo>
                  <a:lnTo>
                    <a:pt x="2313355" y="0"/>
                  </a:lnTo>
                </a:path>
                <a:path w="2740025">
                  <a:moveTo>
                    <a:pt x="2557081" y="0"/>
                  </a:moveTo>
                  <a:lnTo>
                    <a:pt x="2739593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1942" y="330588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3799" y="3309126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524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8180" y="330588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460036" y="3309126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524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764417" y="330588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15683" y="2943722"/>
              <a:ext cx="5114925" cy="365760"/>
            </a:xfrm>
            <a:custGeom>
              <a:avLst/>
              <a:gdLst/>
              <a:ahLst/>
              <a:cxnLst/>
              <a:rect l="l" t="t" r="r" b="b"/>
              <a:pathLst>
                <a:path w="5114925" h="365760">
                  <a:moveTo>
                    <a:pt x="4170591" y="365404"/>
                  </a:moveTo>
                  <a:lnTo>
                    <a:pt x="4779352" y="365404"/>
                  </a:lnTo>
                </a:path>
                <a:path w="5114925" h="365760">
                  <a:moveTo>
                    <a:pt x="4901031" y="365404"/>
                  </a:moveTo>
                  <a:lnTo>
                    <a:pt x="5114518" y="365404"/>
                  </a:lnTo>
                </a:path>
                <a:path w="5114925" h="365760">
                  <a:moveTo>
                    <a:pt x="0" y="0"/>
                  </a:moveTo>
                  <a:lnTo>
                    <a:pt x="9107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928624" y="294048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050480" y="2943722"/>
              <a:ext cx="2740025" cy="0"/>
            </a:xfrm>
            <a:custGeom>
              <a:avLst/>
              <a:gdLst/>
              <a:ahLst/>
              <a:cxnLst/>
              <a:rect l="l" t="t" r="r" b="b"/>
              <a:pathLst>
                <a:path w="2740025">
                  <a:moveTo>
                    <a:pt x="0" y="0"/>
                  </a:moveTo>
                  <a:lnTo>
                    <a:pt x="182524" y="0"/>
                  </a:lnTo>
                </a:path>
                <a:path w="2740025">
                  <a:moveTo>
                    <a:pt x="426237" y="0"/>
                  </a:moveTo>
                  <a:lnTo>
                    <a:pt x="1034999" y="0"/>
                  </a:lnTo>
                </a:path>
                <a:path w="2740025">
                  <a:moveTo>
                    <a:pt x="1157033" y="0"/>
                  </a:moveTo>
                  <a:lnTo>
                    <a:pt x="1461236" y="0"/>
                  </a:lnTo>
                </a:path>
                <a:path w="2740025">
                  <a:moveTo>
                    <a:pt x="1583283" y="0"/>
                  </a:moveTo>
                  <a:lnTo>
                    <a:pt x="1887474" y="0"/>
                  </a:lnTo>
                </a:path>
                <a:path w="2740025">
                  <a:moveTo>
                    <a:pt x="2130844" y="0"/>
                  </a:moveTo>
                  <a:lnTo>
                    <a:pt x="2313355" y="0"/>
                  </a:lnTo>
                </a:path>
                <a:path w="2740025">
                  <a:moveTo>
                    <a:pt x="2557081" y="0"/>
                  </a:moveTo>
                  <a:lnTo>
                    <a:pt x="2739593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911942" y="294048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033799" y="2943722"/>
              <a:ext cx="608965" cy="0"/>
            </a:xfrm>
            <a:custGeom>
              <a:avLst/>
              <a:gdLst/>
              <a:ahLst/>
              <a:cxnLst/>
              <a:rect l="l" t="t" r="r" b="b"/>
              <a:pathLst>
                <a:path w="608964">
                  <a:moveTo>
                    <a:pt x="0" y="0"/>
                  </a:moveTo>
                  <a:lnTo>
                    <a:pt x="182524" y="0"/>
                  </a:lnTo>
                </a:path>
                <a:path w="608964">
                  <a:moveTo>
                    <a:pt x="304203" y="0"/>
                  </a:moveTo>
                  <a:lnTo>
                    <a:pt x="60876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764417" y="294048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15683" y="2578686"/>
              <a:ext cx="5114925" cy="365125"/>
            </a:xfrm>
            <a:custGeom>
              <a:avLst/>
              <a:gdLst/>
              <a:ahLst/>
              <a:cxnLst/>
              <a:rect l="l" t="t" r="r" b="b"/>
              <a:pathLst>
                <a:path w="5114925" h="365125">
                  <a:moveTo>
                    <a:pt x="4170591" y="365036"/>
                  </a:moveTo>
                  <a:lnTo>
                    <a:pt x="5114518" y="365036"/>
                  </a:lnTo>
                </a:path>
                <a:path w="5114925" h="365125">
                  <a:moveTo>
                    <a:pt x="0" y="0"/>
                  </a:moveTo>
                  <a:lnTo>
                    <a:pt x="9107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928624" y="257544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1050480" y="2578686"/>
              <a:ext cx="2740025" cy="0"/>
            </a:xfrm>
            <a:custGeom>
              <a:avLst/>
              <a:gdLst/>
              <a:ahLst/>
              <a:cxnLst/>
              <a:rect l="l" t="t" r="r" b="b"/>
              <a:pathLst>
                <a:path w="2740025">
                  <a:moveTo>
                    <a:pt x="0" y="0"/>
                  </a:moveTo>
                  <a:lnTo>
                    <a:pt x="182524" y="0"/>
                  </a:lnTo>
                </a:path>
                <a:path w="2740025">
                  <a:moveTo>
                    <a:pt x="304558" y="0"/>
                  </a:moveTo>
                  <a:lnTo>
                    <a:pt x="1034999" y="0"/>
                  </a:lnTo>
                </a:path>
                <a:path w="2740025">
                  <a:moveTo>
                    <a:pt x="1157033" y="0"/>
                  </a:moveTo>
                  <a:lnTo>
                    <a:pt x="1887474" y="0"/>
                  </a:lnTo>
                </a:path>
                <a:path w="2740025">
                  <a:moveTo>
                    <a:pt x="2130844" y="0"/>
                  </a:moveTo>
                  <a:lnTo>
                    <a:pt x="2313355" y="0"/>
                  </a:lnTo>
                </a:path>
                <a:path w="2740025">
                  <a:moveTo>
                    <a:pt x="2557081" y="0"/>
                  </a:moveTo>
                  <a:lnTo>
                    <a:pt x="2739593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3911942" y="257544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033799" y="2578686"/>
              <a:ext cx="608965" cy="0"/>
            </a:xfrm>
            <a:custGeom>
              <a:avLst/>
              <a:gdLst/>
              <a:ahLst/>
              <a:cxnLst/>
              <a:rect l="l" t="t" r="r" b="b"/>
              <a:pathLst>
                <a:path w="608964">
                  <a:moveTo>
                    <a:pt x="0" y="0"/>
                  </a:moveTo>
                  <a:lnTo>
                    <a:pt x="182524" y="0"/>
                  </a:lnTo>
                </a:path>
                <a:path w="608964">
                  <a:moveTo>
                    <a:pt x="304203" y="0"/>
                  </a:moveTo>
                  <a:lnTo>
                    <a:pt x="60876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4764417" y="2575446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15683" y="2213281"/>
              <a:ext cx="5114925" cy="365760"/>
            </a:xfrm>
            <a:custGeom>
              <a:avLst/>
              <a:gdLst/>
              <a:ahLst/>
              <a:cxnLst/>
              <a:rect l="l" t="t" r="r" b="b"/>
              <a:pathLst>
                <a:path w="5114925" h="365760">
                  <a:moveTo>
                    <a:pt x="4170591" y="365404"/>
                  </a:moveTo>
                  <a:lnTo>
                    <a:pt x="5114518" y="365404"/>
                  </a:lnTo>
                </a:path>
                <a:path w="5114925" h="365760">
                  <a:moveTo>
                    <a:pt x="0" y="0"/>
                  </a:moveTo>
                  <a:lnTo>
                    <a:pt x="9107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928624" y="221004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50480" y="2213281"/>
              <a:ext cx="4780280" cy="0"/>
            </a:xfrm>
            <a:custGeom>
              <a:avLst/>
              <a:gdLst/>
              <a:ahLst/>
              <a:cxnLst/>
              <a:rect l="l" t="t" r="r" b="b"/>
              <a:pathLst>
                <a:path w="4780280">
                  <a:moveTo>
                    <a:pt x="0" y="0"/>
                  </a:moveTo>
                  <a:lnTo>
                    <a:pt x="1887474" y="0"/>
                  </a:lnTo>
                </a:path>
                <a:path w="4780280">
                  <a:moveTo>
                    <a:pt x="2130844" y="0"/>
                  </a:moveTo>
                  <a:lnTo>
                    <a:pt x="2313355" y="0"/>
                  </a:lnTo>
                </a:path>
                <a:path w="4780280">
                  <a:moveTo>
                    <a:pt x="2435402" y="0"/>
                  </a:moveTo>
                  <a:lnTo>
                    <a:pt x="2739593" y="0"/>
                  </a:lnTo>
                </a:path>
                <a:path w="4780280">
                  <a:moveTo>
                    <a:pt x="2861284" y="0"/>
                  </a:moveTo>
                  <a:lnTo>
                    <a:pt x="3592080" y="0"/>
                  </a:lnTo>
                </a:path>
                <a:path w="4780280">
                  <a:moveTo>
                    <a:pt x="3713759" y="0"/>
                  </a:moveTo>
                  <a:lnTo>
                    <a:pt x="477972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15683" y="1847877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>
                  <a:moveTo>
                    <a:pt x="0" y="0"/>
                  </a:moveTo>
                  <a:lnTo>
                    <a:pt x="91071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928624" y="1844637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79"/>
                  </a:lnTo>
                </a:path>
              </a:pathLst>
            </a:custGeom>
            <a:ln w="3175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715683" y="1482485"/>
              <a:ext cx="5114925" cy="365760"/>
            </a:xfrm>
            <a:custGeom>
              <a:avLst/>
              <a:gdLst/>
              <a:ahLst/>
              <a:cxnLst/>
              <a:rect l="l" t="t" r="r" b="b"/>
              <a:pathLst>
                <a:path w="5114925" h="365760">
                  <a:moveTo>
                    <a:pt x="334797" y="365391"/>
                  </a:moveTo>
                  <a:lnTo>
                    <a:pt x="2222271" y="365391"/>
                  </a:lnTo>
                </a:path>
                <a:path w="5114925" h="365760">
                  <a:moveTo>
                    <a:pt x="2344318" y="365391"/>
                  </a:moveTo>
                  <a:lnTo>
                    <a:pt x="2648153" y="365391"/>
                  </a:lnTo>
                </a:path>
                <a:path w="5114925" h="365760">
                  <a:moveTo>
                    <a:pt x="2770200" y="365391"/>
                  </a:moveTo>
                  <a:lnTo>
                    <a:pt x="3074390" y="365391"/>
                  </a:lnTo>
                </a:path>
                <a:path w="5114925" h="365760">
                  <a:moveTo>
                    <a:pt x="3196081" y="365391"/>
                  </a:moveTo>
                  <a:lnTo>
                    <a:pt x="5114518" y="365391"/>
                  </a:lnTo>
                </a:path>
                <a:path w="5114925" h="365760">
                  <a:moveTo>
                    <a:pt x="0" y="0"/>
                  </a:moveTo>
                  <a:lnTo>
                    <a:pt x="91071" y="0"/>
                  </a:lnTo>
                </a:path>
                <a:path w="5114925" h="365760">
                  <a:moveTo>
                    <a:pt x="212763" y="0"/>
                  </a:moveTo>
                  <a:lnTo>
                    <a:pt x="2222271" y="0"/>
                  </a:lnTo>
                </a:path>
                <a:path w="5114925" h="365760">
                  <a:moveTo>
                    <a:pt x="2344318" y="0"/>
                  </a:moveTo>
                  <a:lnTo>
                    <a:pt x="5114518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715683" y="1117081"/>
              <a:ext cx="5114925" cy="0"/>
            </a:xfrm>
            <a:custGeom>
              <a:avLst/>
              <a:gdLst/>
              <a:ahLst/>
              <a:cxnLst/>
              <a:rect l="l" t="t" r="r" b="b"/>
              <a:pathLst>
                <a:path w="5114925">
                  <a:moveTo>
                    <a:pt x="511451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61682" y="1117081"/>
              <a:ext cx="5168900" cy="2611755"/>
            </a:xfrm>
            <a:custGeom>
              <a:avLst/>
              <a:gdLst/>
              <a:ahLst/>
              <a:cxnLst/>
              <a:rect l="l" t="t" r="r" b="b"/>
              <a:pathLst>
                <a:path w="5168900" h="2611754">
                  <a:moveTo>
                    <a:pt x="54000" y="2611437"/>
                  </a:moveTo>
                  <a:lnTo>
                    <a:pt x="54000" y="2557437"/>
                  </a:lnTo>
                </a:path>
                <a:path w="5168900" h="2611754">
                  <a:moveTo>
                    <a:pt x="480237" y="2611437"/>
                  </a:moveTo>
                  <a:lnTo>
                    <a:pt x="480237" y="2557437"/>
                  </a:lnTo>
                </a:path>
                <a:path w="5168900" h="2611754">
                  <a:moveTo>
                    <a:pt x="906475" y="2611437"/>
                  </a:moveTo>
                  <a:lnTo>
                    <a:pt x="906475" y="2557437"/>
                  </a:lnTo>
                </a:path>
                <a:path w="5168900" h="2611754">
                  <a:moveTo>
                    <a:pt x="1332712" y="2611437"/>
                  </a:moveTo>
                  <a:lnTo>
                    <a:pt x="1332712" y="2557437"/>
                  </a:lnTo>
                </a:path>
                <a:path w="5168900" h="2611754">
                  <a:moveTo>
                    <a:pt x="1758962" y="2611437"/>
                  </a:moveTo>
                  <a:lnTo>
                    <a:pt x="1758962" y="2557437"/>
                  </a:lnTo>
                </a:path>
                <a:path w="5168900" h="2611754">
                  <a:moveTo>
                    <a:pt x="2184831" y="2611437"/>
                  </a:moveTo>
                  <a:lnTo>
                    <a:pt x="2184831" y="2557437"/>
                  </a:lnTo>
                </a:path>
                <a:path w="5168900" h="2611754">
                  <a:moveTo>
                    <a:pt x="2611081" y="2611437"/>
                  </a:moveTo>
                  <a:lnTo>
                    <a:pt x="2611081" y="2557437"/>
                  </a:lnTo>
                </a:path>
                <a:path w="5168900" h="2611754">
                  <a:moveTo>
                    <a:pt x="3036951" y="2611437"/>
                  </a:moveTo>
                  <a:lnTo>
                    <a:pt x="3036951" y="2557437"/>
                  </a:lnTo>
                </a:path>
                <a:path w="5168900" h="2611754">
                  <a:moveTo>
                    <a:pt x="3463556" y="2611437"/>
                  </a:moveTo>
                  <a:lnTo>
                    <a:pt x="3463556" y="2557437"/>
                  </a:lnTo>
                </a:path>
                <a:path w="5168900" h="2611754">
                  <a:moveTo>
                    <a:pt x="3889794" y="2611437"/>
                  </a:moveTo>
                  <a:lnTo>
                    <a:pt x="3889794" y="2557437"/>
                  </a:lnTo>
                </a:path>
                <a:path w="5168900" h="2611754">
                  <a:moveTo>
                    <a:pt x="4315675" y="2611437"/>
                  </a:moveTo>
                  <a:lnTo>
                    <a:pt x="4315675" y="2557437"/>
                  </a:lnTo>
                </a:path>
                <a:path w="5168900" h="2611754">
                  <a:moveTo>
                    <a:pt x="4742281" y="2611437"/>
                  </a:moveTo>
                  <a:lnTo>
                    <a:pt x="4742281" y="2557437"/>
                  </a:lnTo>
                </a:path>
                <a:path w="5168900" h="2611754">
                  <a:moveTo>
                    <a:pt x="5168519" y="2611437"/>
                  </a:moveTo>
                  <a:lnTo>
                    <a:pt x="5168519" y="2557437"/>
                  </a:lnTo>
                </a:path>
                <a:path w="5168900" h="2611754">
                  <a:moveTo>
                    <a:pt x="54000" y="2557437"/>
                  </a:moveTo>
                  <a:lnTo>
                    <a:pt x="5168519" y="2557437"/>
                  </a:lnTo>
                </a:path>
                <a:path w="5168900" h="2611754">
                  <a:moveTo>
                    <a:pt x="0" y="2557437"/>
                  </a:moveTo>
                  <a:lnTo>
                    <a:pt x="54000" y="2557437"/>
                  </a:lnTo>
                </a:path>
                <a:path w="5168900" h="2611754">
                  <a:moveTo>
                    <a:pt x="0" y="2192045"/>
                  </a:moveTo>
                  <a:lnTo>
                    <a:pt x="54000" y="2192045"/>
                  </a:lnTo>
                </a:path>
                <a:path w="5168900" h="2611754">
                  <a:moveTo>
                    <a:pt x="0" y="1826641"/>
                  </a:moveTo>
                  <a:lnTo>
                    <a:pt x="54000" y="1826641"/>
                  </a:lnTo>
                </a:path>
                <a:path w="5168900" h="2611754">
                  <a:moveTo>
                    <a:pt x="0" y="1461604"/>
                  </a:moveTo>
                  <a:lnTo>
                    <a:pt x="54000" y="1461604"/>
                  </a:lnTo>
                </a:path>
                <a:path w="5168900" h="2611754">
                  <a:moveTo>
                    <a:pt x="0" y="1096200"/>
                  </a:moveTo>
                  <a:lnTo>
                    <a:pt x="54000" y="1096200"/>
                  </a:lnTo>
                </a:path>
                <a:path w="5168900" h="2611754">
                  <a:moveTo>
                    <a:pt x="0" y="730796"/>
                  </a:moveTo>
                  <a:lnTo>
                    <a:pt x="54000" y="730796"/>
                  </a:lnTo>
                </a:path>
                <a:path w="5168900" h="2611754">
                  <a:moveTo>
                    <a:pt x="0" y="365404"/>
                  </a:moveTo>
                  <a:lnTo>
                    <a:pt x="54000" y="365404"/>
                  </a:lnTo>
                </a:path>
                <a:path w="5168900" h="2611754">
                  <a:moveTo>
                    <a:pt x="0" y="0"/>
                  </a:moveTo>
                  <a:lnTo>
                    <a:pt x="54000" y="0"/>
                  </a:lnTo>
                </a:path>
                <a:path w="5168900" h="2611754">
                  <a:moveTo>
                    <a:pt x="54000" y="2557437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806754" y="1317245"/>
              <a:ext cx="4810125" cy="2357755"/>
            </a:xfrm>
            <a:custGeom>
              <a:avLst/>
              <a:gdLst/>
              <a:ahLst/>
              <a:cxnLst/>
              <a:rect l="l" t="t" r="r" b="b"/>
              <a:pathLst>
                <a:path w="4810125" h="2357754">
                  <a:moveTo>
                    <a:pt x="121691" y="0"/>
                  </a:moveTo>
                  <a:lnTo>
                    <a:pt x="0" y="0"/>
                  </a:lnTo>
                  <a:lnTo>
                    <a:pt x="0" y="2357272"/>
                  </a:lnTo>
                  <a:lnTo>
                    <a:pt x="121691" y="2357272"/>
                  </a:lnTo>
                  <a:lnTo>
                    <a:pt x="121691" y="0"/>
                  </a:lnTo>
                  <a:close/>
                </a:path>
                <a:path w="4810125" h="2357754">
                  <a:moveTo>
                    <a:pt x="548284" y="969111"/>
                  </a:moveTo>
                  <a:lnTo>
                    <a:pt x="426250" y="969111"/>
                  </a:lnTo>
                  <a:lnTo>
                    <a:pt x="426250" y="2357272"/>
                  </a:lnTo>
                  <a:lnTo>
                    <a:pt x="548284" y="2357272"/>
                  </a:lnTo>
                  <a:lnTo>
                    <a:pt x="548284" y="969111"/>
                  </a:lnTo>
                  <a:close/>
                </a:path>
                <a:path w="4810125" h="2357754">
                  <a:moveTo>
                    <a:pt x="974521" y="1759673"/>
                  </a:moveTo>
                  <a:lnTo>
                    <a:pt x="852487" y="1759673"/>
                  </a:lnTo>
                  <a:lnTo>
                    <a:pt x="852487" y="2357272"/>
                  </a:lnTo>
                  <a:lnTo>
                    <a:pt x="974521" y="2357272"/>
                  </a:lnTo>
                  <a:lnTo>
                    <a:pt x="974521" y="1759673"/>
                  </a:lnTo>
                  <a:close/>
                </a:path>
                <a:path w="4810125" h="2357754">
                  <a:moveTo>
                    <a:pt x="1400759" y="1088999"/>
                  </a:moveTo>
                  <a:lnTo>
                    <a:pt x="1278724" y="1088999"/>
                  </a:lnTo>
                  <a:lnTo>
                    <a:pt x="1278724" y="2357272"/>
                  </a:lnTo>
                  <a:lnTo>
                    <a:pt x="1400759" y="2357272"/>
                  </a:lnTo>
                  <a:lnTo>
                    <a:pt x="1400759" y="1088999"/>
                  </a:lnTo>
                  <a:close/>
                </a:path>
                <a:path w="4810125" h="2357754">
                  <a:moveTo>
                    <a:pt x="1827009" y="1592275"/>
                  </a:moveTo>
                  <a:lnTo>
                    <a:pt x="1704962" y="1592275"/>
                  </a:lnTo>
                  <a:lnTo>
                    <a:pt x="1704962" y="2357272"/>
                  </a:lnTo>
                  <a:lnTo>
                    <a:pt x="1827009" y="2357272"/>
                  </a:lnTo>
                  <a:lnTo>
                    <a:pt x="1827009" y="1592275"/>
                  </a:lnTo>
                  <a:close/>
                </a:path>
                <a:path w="4810125" h="2357754">
                  <a:moveTo>
                    <a:pt x="2253246" y="160197"/>
                  </a:moveTo>
                  <a:lnTo>
                    <a:pt x="2131199" y="160197"/>
                  </a:lnTo>
                  <a:lnTo>
                    <a:pt x="2131199" y="2357272"/>
                  </a:lnTo>
                  <a:lnTo>
                    <a:pt x="2253246" y="2357272"/>
                  </a:lnTo>
                  <a:lnTo>
                    <a:pt x="2253246" y="160197"/>
                  </a:lnTo>
                  <a:close/>
                </a:path>
                <a:path w="4810125" h="2357754">
                  <a:moveTo>
                    <a:pt x="2679128" y="474116"/>
                  </a:moveTo>
                  <a:lnTo>
                    <a:pt x="2557081" y="474116"/>
                  </a:lnTo>
                  <a:lnTo>
                    <a:pt x="2557081" y="2357272"/>
                  </a:lnTo>
                  <a:lnTo>
                    <a:pt x="2679128" y="2357272"/>
                  </a:lnTo>
                  <a:lnTo>
                    <a:pt x="2679128" y="474116"/>
                  </a:lnTo>
                  <a:close/>
                </a:path>
                <a:path w="4810125" h="2357754">
                  <a:moveTo>
                    <a:pt x="3105010" y="462597"/>
                  </a:moveTo>
                  <a:lnTo>
                    <a:pt x="2983319" y="462597"/>
                  </a:lnTo>
                  <a:lnTo>
                    <a:pt x="2983319" y="2357272"/>
                  </a:lnTo>
                  <a:lnTo>
                    <a:pt x="3105010" y="2357272"/>
                  </a:lnTo>
                  <a:lnTo>
                    <a:pt x="3105010" y="462597"/>
                  </a:lnTo>
                  <a:close/>
                </a:path>
                <a:path w="4810125" h="2357754">
                  <a:moveTo>
                    <a:pt x="3531247" y="990358"/>
                  </a:moveTo>
                  <a:lnTo>
                    <a:pt x="3409569" y="990358"/>
                  </a:lnTo>
                  <a:lnTo>
                    <a:pt x="3409569" y="2357272"/>
                  </a:lnTo>
                  <a:lnTo>
                    <a:pt x="3531247" y="2357272"/>
                  </a:lnTo>
                  <a:lnTo>
                    <a:pt x="3531247" y="990358"/>
                  </a:lnTo>
                  <a:close/>
                </a:path>
                <a:path w="4810125" h="2357754">
                  <a:moveTo>
                    <a:pt x="3957485" y="647280"/>
                  </a:moveTo>
                  <a:lnTo>
                    <a:pt x="3835806" y="647280"/>
                  </a:lnTo>
                  <a:lnTo>
                    <a:pt x="3835806" y="2357272"/>
                  </a:lnTo>
                  <a:lnTo>
                    <a:pt x="3957485" y="2357272"/>
                  </a:lnTo>
                  <a:lnTo>
                    <a:pt x="3957485" y="647280"/>
                  </a:lnTo>
                  <a:close/>
                </a:path>
                <a:path w="4810125" h="2357754">
                  <a:moveTo>
                    <a:pt x="4383722" y="2140915"/>
                  </a:moveTo>
                  <a:lnTo>
                    <a:pt x="4262044" y="2140915"/>
                  </a:lnTo>
                  <a:lnTo>
                    <a:pt x="4262044" y="2357272"/>
                  </a:lnTo>
                  <a:lnTo>
                    <a:pt x="4383722" y="2357272"/>
                  </a:lnTo>
                  <a:lnTo>
                    <a:pt x="4383722" y="2140915"/>
                  </a:lnTo>
                  <a:close/>
                </a:path>
                <a:path w="4810125" h="2357754">
                  <a:moveTo>
                    <a:pt x="4809960" y="1808276"/>
                  </a:moveTo>
                  <a:lnTo>
                    <a:pt x="4688281" y="1808276"/>
                  </a:lnTo>
                  <a:lnTo>
                    <a:pt x="4688281" y="2357272"/>
                  </a:lnTo>
                  <a:lnTo>
                    <a:pt x="4809960" y="2357272"/>
                  </a:lnTo>
                  <a:lnTo>
                    <a:pt x="4809960" y="1808276"/>
                  </a:lnTo>
                  <a:close/>
                </a:path>
              </a:pathLst>
            </a:custGeom>
            <a:solidFill>
              <a:srgbClr val="3A81F5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945013" y="1706767"/>
              <a:ext cx="4810125" cy="1967864"/>
            </a:xfrm>
            <a:custGeom>
              <a:avLst/>
              <a:gdLst/>
              <a:ahLst/>
              <a:cxnLst/>
              <a:rect l="l" t="t" r="r" b="b"/>
              <a:pathLst>
                <a:path w="4810125" h="1967864">
                  <a:moveTo>
                    <a:pt x="121678" y="0"/>
                  </a:moveTo>
                  <a:lnTo>
                    <a:pt x="0" y="0"/>
                  </a:lnTo>
                  <a:lnTo>
                    <a:pt x="0" y="1967750"/>
                  </a:lnTo>
                  <a:lnTo>
                    <a:pt x="121678" y="1967750"/>
                  </a:lnTo>
                  <a:lnTo>
                    <a:pt x="121678" y="0"/>
                  </a:lnTo>
                  <a:close/>
                </a:path>
                <a:path w="4810125" h="1967864">
                  <a:moveTo>
                    <a:pt x="547916" y="1016635"/>
                  </a:moveTo>
                  <a:lnTo>
                    <a:pt x="426237" y="1016635"/>
                  </a:lnTo>
                  <a:lnTo>
                    <a:pt x="426237" y="1967750"/>
                  </a:lnTo>
                  <a:lnTo>
                    <a:pt x="547916" y="1967750"/>
                  </a:lnTo>
                  <a:lnTo>
                    <a:pt x="547916" y="1016635"/>
                  </a:lnTo>
                  <a:close/>
                </a:path>
                <a:path w="4810125" h="1967864">
                  <a:moveTo>
                    <a:pt x="974153" y="1681200"/>
                  </a:moveTo>
                  <a:lnTo>
                    <a:pt x="852474" y="1681200"/>
                  </a:lnTo>
                  <a:lnTo>
                    <a:pt x="852474" y="1967750"/>
                  </a:lnTo>
                  <a:lnTo>
                    <a:pt x="974153" y="1967750"/>
                  </a:lnTo>
                  <a:lnTo>
                    <a:pt x="974153" y="1681200"/>
                  </a:lnTo>
                  <a:close/>
                </a:path>
                <a:path w="4810125" h="1967864">
                  <a:moveTo>
                    <a:pt x="1400403" y="1235151"/>
                  </a:moveTo>
                  <a:lnTo>
                    <a:pt x="1278712" y="1235151"/>
                  </a:lnTo>
                  <a:lnTo>
                    <a:pt x="1278712" y="1967750"/>
                  </a:lnTo>
                  <a:lnTo>
                    <a:pt x="1400403" y="1967750"/>
                  </a:lnTo>
                  <a:lnTo>
                    <a:pt x="1400403" y="1235151"/>
                  </a:lnTo>
                  <a:close/>
                </a:path>
                <a:path w="4810125" h="1967864">
                  <a:moveTo>
                    <a:pt x="1826641" y="1591195"/>
                  </a:moveTo>
                  <a:lnTo>
                    <a:pt x="1704962" y="1591195"/>
                  </a:lnTo>
                  <a:lnTo>
                    <a:pt x="1704962" y="1967750"/>
                  </a:lnTo>
                  <a:lnTo>
                    <a:pt x="1826641" y="1967750"/>
                  </a:lnTo>
                  <a:lnTo>
                    <a:pt x="1826641" y="1591195"/>
                  </a:lnTo>
                  <a:close/>
                </a:path>
                <a:path w="4810125" h="1967864">
                  <a:moveTo>
                    <a:pt x="2252522" y="319316"/>
                  </a:moveTo>
                  <a:lnTo>
                    <a:pt x="2131199" y="319316"/>
                  </a:lnTo>
                  <a:lnTo>
                    <a:pt x="2131199" y="1967750"/>
                  </a:lnTo>
                  <a:lnTo>
                    <a:pt x="2252522" y="1967750"/>
                  </a:lnTo>
                  <a:lnTo>
                    <a:pt x="2252522" y="319316"/>
                  </a:lnTo>
                  <a:close/>
                </a:path>
                <a:path w="4810125" h="1967864">
                  <a:moveTo>
                    <a:pt x="2678760" y="588594"/>
                  </a:moveTo>
                  <a:lnTo>
                    <a:pt x="2557081" y="588594"/>
                  </a:lnTo>
                  <a:lnTo>
                    <a:pt x="2557081" y="1967750"/>
                  </a:lnTo>
                  <a:lnTo>
                    <a:pt x="2678760" y="1967750"/>
                  </a:lnTo>
                  <a:lnTo>
                    <a:pt x="2678760" y="588594"/>
                  </a:lnTo>
                  <a:close/>
                </a:path>
                <a:path w="4810125" h="1967864">
                  <a:moveTo>
                    <a:pt x="3104997" y="522351"/>
                  </a:moveTo>
                  <a:lnTo>
                    <a:pt x="2983319" y="522351"/>
                  </a:lnTo>
                  <a:lnTo>
                    <a:pt x="2983319" y="1967750"/>
                  </a:lnTo>
                  <a:lnTo>
                    <a:pt x="3104997" y="1967750"/>
                  </a:lnTo>
                  <a:lnTo>
                    <a:pt x="3104997" y="522351"/>
                  </a:lnTo>
                  <a:close/>
                </a:path>
                <a:path w="4810125" h="1967864">
                  <a:moveTo>
                    <a:pt x="3531235" y="1250988"/>
                  </a:moveTo>
                  <a:lnTo>
                    <a:pt x="3409556" y="1250988"/>
                  </a:lnTo>
                  <a:lnTo>
                    <a:pt x="3409556" y="1967750"/>
                  </a:lnTo>
                  <a:lnTo>
                    <a:pt x="3531235" y="1967750"/>
                  </a:lnTo>
                  <a:lnTo>
                    <a:pt x="3531235" y="1250988"/>
                  </a:lnTo>
                  <a:close/>
                </a:path>
                <a:path w="4810125" h="1967864">
                  <a:moveTo>
                    <a:pt x="3957472" y="866508"/>
                  </a:moveTo>
                  <a:lnTo>
                    <a:pt x="3835793" y="866508"/>
                  </a:lnTo>
                  <a:lnTo>
                    <a:pt x="3835793" y="1967750"/>
                  </a:lnTo>
                  <a:lnTo>
                    <a:pt x="3957472" y="1967750"/>
                  </a:lnTo>
                  <a:lnTo>
                    <a:pt x="3957472" y="866508"/>
                  </a:lnTo>
                  <a:close/>
                </a:path>
                <a:path w="4810125" h="1967864">
                  <a:moveTo>
                    <a:pt x="4383722" y="1891792"/>
                  </a:moveTo>
                  <a:lnTo>
                    <a:pt x="4262044" y="1891792"/>
                  </a:lnTo>
                  <a:lnTo>
                    <a:pt x="4262044" y="1967750"/>
                  </a:lnTo>
                  <a:lnTo>
                    <a:pt x="4383722" y="1967750"/>
                  </a:lnTo>
                  <a:lnTo>
                    <a:pt x="4383722" y="1891792"/>
                  </a:lnTo>
                  <a:close/>
                </a:path>
                <a:path w="4810125" h="1967864">
                  <a:moveTo>
                    <a:pt x="4809960" y="1726920"/>
                  </a:moveTo>
                  <a:lnTo>
                    <a:pt x="4688281" y="1726920"/>
                  </a:lnTo>
                  <a:lnTo>
                    <a:pt x="4688281" y="1967750"/>
                  </a:lnTo>
                  <a:lnTo>
                    <a:pt x="4809960" y="1967750"/>
                  </a:lnTo>
                  <a:lnTo>
                    <a:pt x="4809960" y="1726920"/>
                  </a:lnTo>
                  <a:close/>
                </a:path>
              </a:pathLst>
            </a:custGeom>
            <a:solidFill>
              <a:srgbClr val="0C9387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83150" y="4969875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IG.01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79308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IG.04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56414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rgbClr val="6A717F"/>
                </a:solidFill>
                <a:latin typeface="Arial MT"/>
                <a:cs typeface="Arial MT"/>
              </a:rPr>
              <a:t>I</a:t>
            </a: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G.11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13998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rgbClr val="6A717F"/>
                </a:solidFill>
                <a:latin typeface="Arial MT"/>
                <a:cs typeface="Arial MT"/>
              </a:rPr>
              <a:t>I</a:t>
            </a: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G.12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82053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rgbClr val="6A717F"/>
                </a:solidFill>
                <a:latin typeface="Arial MT"/>
                <a:cs typeface="Arial MT"/>
              </a:rPr>
              <a:t>I</a:t>
            </a: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G.13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68684" y="4979400"/>
            <a:ext cx="1451088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150" algn="l"/>
                <a:tab pos="864235" algn="l"/>
              </a:tabLst>
            </a:pPr>
            <a:r>
              <a:rPr sz="935" spc="-10" dirty="0">
                <a:solidFill>
                  <a:srgbClr val="6A717F"/>
                </a:solidFill>
                <a:latin typeface="Arial MT"/>
                <a:cs typeface="Arial MT"/>
              </a:rPr>
              <a:t>I</a:t>
            </a: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G.14</a:t>
            </a:r>
            <a:r>
              <a:rPr sz="935" dirty="0">
                <a:solidFill>
                  <a:schemeClr val="tx1"/>
                </a:solidFill>
                <a:latin typeface="Arial MT"/>
                <a:cs typeface="Arial MT"/>
              </a:rPr>
              <a:t>	</a:t>
            </a:r>
            <a:endParaRPr sz="935" spc="-2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51908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IG.17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39030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IG.18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68512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IG.19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92754" y="4979400"/>
            <a:ext cx="315416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IG.20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0492" y="4796272"/>
            <a:ext cx="99784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935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6889" y="4309736"/>
            <a:ext cx="353471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10000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6889" y="3823197"/>
            <a:ext cx="353471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20000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6889" y="3336644"/>
            <a:ext cx="353471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30000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6889" y="2850105"/>
            <a:ext cx="353471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40000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6889" y="2363552"/>
            <a:ext cx="353471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50000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6889" y="1877013"/>
            <a:ext cx="353471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60000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6889" y="1390477"/>
            <a:ext cx="353471" cy="160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5" spc="-10" dirty="0">
                <a:solidFill>
                  <a:schemeClr val="tx1"/>
                </a:solidFill>
                <a:latin typeface="Arial MT"/>
                <a:cs typeface="Arial MT"/>
              </a:rPr>
              <a:t>70000</a:t>
            </a:r>
            <a:endParaRPr sz="935" spc="-1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358515" y="5397500"/>
            <a:ext cx="1635759" cy="100965"/>
            <a:chOff x="2506675" y="4059721"/>
            <a:chExt cx="663574" cy="75724"/>
          </a:xfrm>
        </p:grpSpPr>
        <p:sp>
          <p:nvSpPr>
            <p:cNvPr id="56" name="object 56"/>
            <p:cNvSpPr/>
            <p:nvPr/>
          </p:nvSpPr>
          <p:spPr>
            <a:xfrm>
              <a:off x="2506675" y="4059721"/>
              <a:ext cx="55384" cy="6858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807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3121563" y="4059721"/>
              <a:ext cx="48686" cy="75724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8163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9" name="Text Box 58"/>
          <p:cNvSpPr txBox="1"/>
          <p:nvPr/>
        </p:nvSpPr>
        <p:spPr>
          <a:xfrm>
            <a:off x="3495040" y="5333365"/>
            <a:ext cx="59563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1000" spc="-20" dirty="0">
                <a:latin typeface="Calibri" panose="020F0502020204030204"/>
                <a:cs typeface="Calibri" panose="020F0502020204030204"/>
                <a:sym typeface="+mn-ea"/>
              </a:rPr>
              <a:t>Plan</a:t>
            </a:r>
            <a:r>
              <a:rPr sz="1000" spc="-3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000" spc="-25" dirty="0">
                <a:latin typeface="Calibri" panose="020F0502020204030204"/>
                <a:cs typeface="Calibri" panose="020F0502020204030204"/>
                <a:sym typeface="+mn-ea"/>
              </a:rPr>
              <a:t>Qty</a:t>
            </a:r>
            <a:endParaRPr lang="en-US" sz="1000" spc="-25" dirty="0"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60" name="Text Box 59"/>
          <p:cNvSpPr txBox="1"/>
          <p:nvPr/>
        </p:nvSpPr>
        <p:spPr>
          <a:xfrm>
            <a:off x="4994275" y="5333365"/>
            <a:ext cx="6527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1000" spc="-25" dirty="0">
                <a:latin typeface="Calibri" panose="020F0502020204030204"/>
                <a:cs typeface="Calibri" panose="020F0502020204030204"/>
                <a:sym typeface="+mn-ea"/>
              </a:rPr>
              <a:t>Good</a:t>
            </a:r>
            <a:r>
              <a:rPr sz="1000" spc="-2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1000" spc="-25" dirty="0">
                <a:latin typeface="Calibri" panose="020F0502020204030204"/>
                <a:cs typeface="Calibri" panose="020F0502020204030204"/>
                <a:sym typeface="+mn-ea"/>
              </a:rPr>
              <a:t>Qty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endParaRPr lang="en-US" sz="1000"/>
          </a:p>
        </p:txBody>
      </p:sp>
      <p:sp>
        <p:nvSpPr>
          <p:cNvPr id="61" name="Striped Right Arrow 60">
            <a:hlinkClick r:id="rId1" action="ppaction://hlinksldjump"/>
          </p:cNvPr>
          <p:cNvSpPr/>
          <p:nvPr/>
        </p:nvSpPr>
        <p:spPr>
          <a:xfrm>
            <a:off x="10991215" y="6090920"/>
            <a:ext cx="601980" cy="473075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Striped Right Arrow 61">
            <a:hlinkClick r:id="rId2" action="ppaction://hlinksldjump"/>
          </p:cNvPr>
          <p:cNvSpPr/>
          <p:nvPr/>
        </p:nvSpPr>
        <p:spPr>
          <a:xfrm rot="10800000">
            <a:off x="497840" y="5949315"/>
            <a:ext cx="525145" cy="447675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Shape 5"/>
          <p:cNvSpPr/>
          <p:nvPr/>
        </p:nvSpPr>
        <p:spPr>
          <a:xfrm>
            <a:off x="8764905" y="1238510"/>
            <a:ext cx="2468880" cy="3781572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p>
            <a:endParaRPr lang="en-IN" dirty="0"/>
          </a:p>
        </p:txBody>
      </p:sp>
      <p:sp>
        <p:nvSpPr>
          <p:cNvPr id="64" name="Shape 6"/>
          <p:cNvSpPr/>
          <p:nvPr/>
        </p:nvSpPr>
        <p:spPr>
          <a:xfrm>
            <a:off x="8764905" y="1223010"/>
            <a:ext cx="2468880" cy="356616"/>
          </a:xfrm>
          <a:prstGeom prst="rect">
            <a:avLst/>
          </a:prstGeom>
          <a:solidFill>
            <a:srgbClr val="2B5FA6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65" name="Text 7"/>
          <p:cNvSpPr/>
          <p:nvPr/>
        </p:nvSpPr>
        <p:spPr>
          <a:xfrm>
            <a:off x="8891905" y="1350010"/>
            <a:ext cx="2468880" cy="35661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sz="97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IG Fleet Summary</a:t>
            </a:r>
            <a:endParaRPr lang="en-US" sz="975" dirty="0"/>
          </a:p>
        </p:txBody>
      </p:sp>
      <p:sp>
        <p:nvSpPr>
          <p:cNvPr id="66" name="Shape 8"/>
          <p:cNvSpPr/>
          <p:nvPr/>
        </p:nvSpPr>
        <p:spPr>
          <a:xfrm>
            <a:off x="8799195" y="1600962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9"/>
          <p:cNvSpPr/>
          <p:nvPr/>
        </p:nvSpPr>
        <p:spPr>
          <a:xfrm>
            <a:off x="8833485" y="1634490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Planned (Target)</a:t>
            </a:r>
            <a:endParaRPr lang="en-US" sz="1000" dirty="0"/>
          </a:p>
        </p:txBody>
      </p:sp>
      <p:sp>
        <p:nvSpPr>
          <p:cNvPr id="68" name="Text 10"/>
          <p:cNvSpPr/>
          <p:nvPr/>
        </p:nvSpPr>
        <p:spPr>
          <a:xfrm>
            <a:off x="10410825" y="1634490"/>
            <a:ext cx="754380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/>
              <a:t>4,43,200</a:t>
            </a:r>
            <a:endParaRPr lang="en-IN" altLang="en-US" sz="825" dirty="0"/>
          </a:p>
        </p:txBody>
      </p:sp>
      <p:sp>
        <p:nvSpPr>
          <p:cNvPr id="69" name="Shape 13"/>
          <p:cNvSpPr/>
          <p:nvPr/>
        </p:nvSpPr>
        <p:spPr>
          <a:xfrm>
            <a:off x="8799195" y="2286000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14"/>
          <p:cNvSpPr/>
          <p:nvPr/>
        </p:nvSpPr>
        <p:spPr>
          <a:xfrm>
            <a:off x="8833485" y="2318722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Rework</a:t>
            </a:r>
            <a:endParaRPr lang="en-US" sz="1000" dirty="0"/>
          </a:p>
        </p:txBody>
      </p:sp>
      <p:sp>
        <p:nvSpPr>
          <p:cNvPr id="71" name="Text 15"/>
          <p:cNvSpPr/>
          <p:nvPr/>
        </p:nvSpPr>
        <p:spPr>
          <a:xfrm>
            <a:off x="10410825" y="2318516"/>
            <a:ext cx="754380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/>
              <a:t>8,329</a:t>
            </a:r>
            <a:endParaRPr lang="en-IN" altLang="en-US" sz="825" dirty="0"/>
          </a:p>
        </p:txBody>
      </p:sp>
      <p:sp>
        <p:nvSpPr>
          <p:cNvPr id="72" name="Shape 18">
            <a:hlinkClick r:id="rId3" action="ppaction://hlinksldjump"/>
          </p:cNvPr>
          <p:cNvSpPr/>
          <p:nvPr/>
        </p:nvSpPr>
        <p:spPr>
          <a:xfrm>
            <a:off x="8799195" y="2958084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p>
            <a:endParaRPr lang="en-IN" dirty="0"/>
          </a:p>
        </p:txBody>
      </p:sp>
      <p:sp>
        <p:nvSpPr>
          <p:cNvPr id="73" name="Text 19"/>
          <p:cNvSpPr/>
          <p:nvPr/>
        </p:nvSpPr>
        <p:spPr>
          <a:xfrm>
            <a:off x="8826558" y="2976845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Loss Qty</a:t>
            </a:r>
            <a:endParaRPr lang="en-US" sz="1000" dirty="0"/>
          </a:p>
        </p:txBody>
      </p:sp>
      <p:sp>
        <p:nvSpPr>
          <p:cNvPr id="74" name="Text 20"/>
          <p:cNvSpPr/>
          <p:nvPr/>
        </p:nvSpPr>
        <p:spPr>
          <a:xfrm>
            <a:off x="10410825" y="2983673"/>
            <a:ext cx="754380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/>
              <a:t>91,564</a:t>
            </a:r>
            <a:endParaRPr lang="en-IN" altLang="en-US" sz="825" dirty="0"/>
          </a:p>
        </p:txBody>
      </p:sp>
      <p:sp>
        <p:nvSpPr>
          <p:cNvPr id="75" name="Shape 23">
            <a:hlinkClick r:id="rId3" action="ppaction://hlinksldjump"/>
          </p:cNvPr>
          <p:cNvSpPr/>
          <p:nvPr/>
        </p:nvSpPr>
        <p:spPr>
          <a:xfrm>
            <a:off x="8799195" y="3630168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p>
            <a:endParaRPr lang="en-IN" dirty="0"/>
          </a:p>
        </p:txBody>
      </p:sp>
      <p:sp>
        <p:nvSpPr>
          <p:cNvPr id="76" name="Text 24"/>
          <p:cNvSpPr/>
          <p:nvPr/>
        </p:nvSpPr>
        <p:spPr>
          <a:xfrm>
            <a:off x="8833485" y="3981338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Achievement %</a:t>
            </a:r>
            <a:endParaRPr lang="en-US" sz="1000" dirty="0"/>
          </a:p>
        </p:txBody>
      </p:sp>
      <p:sp>
        <p:nvSpPr>
          <p:cNvPr id="79" name="Text 25"/>
          <p:cNvSpPr/>
          <p:nvPr/>
        </p:nvSpPr>
        <p:spPr>
          <a:xfrm>
            <a:off x="10410825" y="4037603"/>
            <a:ext cx="754380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sz="825" dirty="0"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68%</a:t>
            </a:r>
            <a:endParaRPr lang="en-US" sz="825" dirty="0"/>
          </a:p>
        </p:txBody>
      </p:sp>
      <p:sp>
        <p:nvSpPr>
          <p:cNvPr id="94" name="Text 27"/>
          <p:cNvSpPr/>
          <p:nvPr/>
        </p:nvSpPr>
        <p:spPr>
          <a:xfrm>
            <a:off x="10336090" y="4380679"/>
            <a:ext cx="829115" cy="288036"/>
          </a:xfrm>
          <a:prstGeom prst="rect">
            <a:avLst/>
          </a:prstGeom>
          <a:noFill/>
        </p:spPr>
        <p:txBody>
          <a:bodyPr wrap="square" rtlCol="0" anchor="ctr"/>
          <a:p>
            <a:pPr algn="r"/>
            <a:endParaRPr lang="en-US" sz="825" dirty="0"/>
          </a:p>
        </p:txBody>
      </p:sp>
      <p:sp>
        <p:nvSpPr>
          <p:cNvPr id="95" name="Shape 23"/>
          <p:cNvSpPr/>
          <p:nvPr/>
        </p:nvSpPr>
        <p:spPr>
          <a:xfrm>
            <a:off x="8799195" y="4326903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p>
            <a:endParaRPr lang="en-IN" dirty="0"/>
          </a:p>
        </p:txBody>
      </p:sp>
      <p:sp>
        <p:nvSpPr>
          <p:cNvPr id="96" name="Text 26"/>
          <p:cNvSpPr/>
          <p:nvPr/>
        </p:nvSpPr>
        <p:spPr>
          <a:xfrm>
            <a:off x="8845205" y="4308000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Efficiency Loss %</a:t>
            </a:r>
            <a:endParaRPr lang="en-US" sz="1000" dirty="0"/>
          </a:p>
        </p:txBody>
      </p:sp>
      <p:sp>
        <p:nvSpPr>
          <p:cNvPr id="97" name="Text 27"/>
          <p:cNvSpPr/>
          <p:nvPr/>
        </p:nvSpPr>
        <p:spPr>
          <a:xfrm>
            <a:off x="10362466" y="4325824"/>
            <a:ext cx="829115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/>
              <a:t>11%</a:t>
            </a:r>
            <a:endParaRPr lang="en-IN" altLang="en-US" sz="825" dirty="0"/>
          </a:p>
        </p:txBody>
      </p:sp>
      <p:sp>
        <p:nvSpPr>
          <p:cNvPr id="98" name="Text 21"/>
          <p:cNvSpPr/>
          <p:nvPr/>
        </p:nvSpPr>
        <p:spPr>
          <a:xfrm>
            <a:off x="8810037" y="3642941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Downtime (hrs)</a:t>
            </a:r>
            <a:endParaRPr lang="en-US" sz="1000" dirty="0"/>
          </a:p>
        </p:txBody>
      </p:sp>
      <p:sp>
        <p:nvSpPr>
          <p:cNvPr id="99" name="Text 22"/>
          <p:cNvSpPr/>
          <p:nvPr/>
        </p:nvSpPr>
        <p:spPr>
          <a:xfrm>
            <a:off x="10305609" y="3664049"/>
            <a:ext cx="899453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>
                <a:solidFill>
                  <a:schemeClr val="accent2">
                    <a:lumMod val="75000"/>
                  </a:schemeClr>
                </a:solidFill>
              </a:rPr>
              <a:t>1393 (21%)</a:t>
            </a:r>
            <a:endParaRPr lang="en-IN" altLang="en-US" sz="825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0" name="Text 16"/>
          <p:cNvSpPr/>
          <p:nvPr/>
        </p:nvSpPr>
        <p:spPr>
          <a:xfrm>
            <a:off x="8831458" y="2624287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Rejection</a:t>
            </a:r>
            <a:endParaRPr lang="en-US" sz="1000" dirty="0"/>
          </a:p>
        </p:txBody>
      </p:sp>
      <p:sp>
        <p:nvSpPr>
          <p:cNvPr id="101" name="Text 17"/>
          <p:cNvSpPr/>
          <p:nvPr/>
        </p:nvSpPr>
        <p:spPr>
          <a:xfrm>
            <a:off x="10401451" y="2631535"/>
            <a:ext cx="754380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/>
              <a:t>3,416</a:t>
            </a:r>
            <a:endParaRPr lang="en-IN" altLang="en-US" sz="825" dirty="0"/>
          </a:p>
        </p:txBody>
      </p:sp>
      <p:sp>
        <p:nvSpPr>
          <p:cNvPr id="102" name="Text 11"/>
          <p:cNvSpPr/>
          <p:nvPr/>
        </p:nvSpPr>
        <p:spPr>
          <a:xfrm>
            <a:off x="8845205" y="1932433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Sum of Good </a:t>
            </a:r>
            <a:endParaRPr lang="en-US" sz="1000" dirty="0"/>
          </a:p>
        </p:txBody>
      </p:sp>
      <p:sp>
        <p:nvSpPr>
          <p:cNvPr id="103" name="Text 12"/>
          <p:cNvSpPr/>
          <p:nvPr/>
        </p:nvSpPr>
        <p:spPr>
          <a:xfrm>
            <a:off x="10439544" y="1952658"/>
            <a:ext cx="754380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/>
              <a:t>2,98,904</a:t>
            </a:r>
            <a:endParaRPr lang="en-IN" altLang="en-US" sz="825" dirty="0"/>
          </a:p>
        </p:txBody>
      </p:sp>
      <p:sp>
        <p:nvSpPr>
          <p:cNvPr id="104" name="Text 11"/>
          <p:cNvSpPr/>
          <p:nvPr/>
        </p:nvSpPr>
        <p:spPr>
          <a:xfrm>
            <a:off x="8848725" y="3321011"/>
            <a:ext cx="1577340" cy="288036"/>
          </a:xfrm>
          <a:prstGeom prst="rect">
            <a:avLst/>
          </a:prstGeom>
          <a:noFill/>
        </p:spPr>
        <p:txBody>
          <a:bodyPr wrap="square" rtlCol="0" anchor="ctr"/>
          <a:p>
            <a:r>
              <a:rPr lang="en-US" sz="1000" dirty="0"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Sum of Total</a:t>
            </a:r>
            <a:endParaRPr lang="en-US" sz="1000" dirty="0"/>
          </a:p>
        </p:txBody>
      </p:sp>
      <p:sp>
        <p:nvSpPr>
          <p:cNvPr id="105" name="Text 12"/>
          <p:cNvSpPr/>
          <p:nvPr/>
        </p:nvSpPr>
        <p:spPr>
          <a:xfrm>
            <a:off x="10437495" y="3348030"/>
            <a:ext cx="754380" cy="288036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IN" altLang="en-US" sz="825" dirty="0"/>
              <a:t>3,03,082</a:t>
            </a:r>
            <a:endParaRPr lang="en-IN" altLang="en-US" sz="825" dirty="0"/>
          </a:p>
        </p:txBody>
      </p:sp>
      <p:sp>
        <p:nvSpPr>
          <p:cNvPr id="134" name="object 26"/>
          <p:cNvSpPr txBox="1"/>
          <p:nvPr/>
        </p:nvSpPr>
        <p:spPr>
          <a:xfrm>
            <a:off x="1189355" y="123761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64513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35" name="object 26"/>
          <p:cNvSpPr txBox="1"/>
          <p:nvPr/>
        </p:nvSpPr>
        <p:spPr>
          <a:xfrm>
            <a:off x="1392555" y="169799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53861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36" name="object 26"/>
          <p:cNvSpPr txBox="1"/>
          <p:nvPr/>
        </p:nvSpPr>
        <p:spPr>
          <a:xfrm>
            <a:off x="1786255" y="246316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38000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37" name="object 26"/>
          <p:cNvSpPr txBox="1"/>
          <p:nvPr/>
        </p:nvSpPr>
        <p:spPr>
          <a:xfrm>
            <a:off x="1941830" y="302831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26029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38" name="object 26"/>
          <p:cNvSpPr txBox="1"/>
          <p:nvPr/>
        </p:nvSpPr>
        <p:spPr>
          <a:xfrm>
            <a:off x="2355850" y="349758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16354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39" name="object 26"/>
          <p:cNvSpPr txBox="1"/>
          <p:nvPr/>
        </p:nvSpPr>
        <p:spPr>
          <a:xfrm>
            <a:off x="2538730" y="393128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7833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0" name="object 26"/>
          <p:cNvSpPr txBox="1"/>
          <p:nvPr/>
        </p:nvSpPr>
        <p:spPr>
          <a:xfrm>
            <a:off x="2894965" y="260858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34716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1" name="object 26"/>
          <p:cNvSpPr txBox="1"/>
          <p:nvPr/>
        </p:nvSpPr>
        <p:spPr>
          <a:xfrm>
            <a:off x="3105785" y="338391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20049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2" name="object 26"/>
          <p:cNvSpPr txBox="1"/>
          <p:nvPr/>
        </p:nvSpPr>
        <p:spPr>
          <a:xfrm>
            <a:off x="3475990" y="328866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20233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3" name="object 26"/>
          <p:cNvSpPr txBox="1"/>
          <p:nvPr/>
        </p:nvSpPr>
        <p:spPr>
          <a:xfrm>
            <a:off x="3639820" y="386842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10299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4" name="object 26"/>
          <p:cNvSpPr txBox="1"/>
          <p:nvPr/>
        </p:nvSpPr>
        <p:spPr>
          <a:xfrm>
            <a:off x="4057650" y="143827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60137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5" name="object 26"/>
          <p:cNvSpPr txBox="1"/>
          <p:nvPr/>
        </p:nvSpPr>
        <p:spPr>
          <a:xfrm>
            <a:off x="4221480" y="217106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45115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7" name="object 26"/>
          <p:cNvSpPr txBox="1"/>
          <p:nvPr/>
        </p:nvSpPr>
        <p:spPr>
          <a:xfrm>
            <a:off x="4777105" y="249555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37749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8" name="object 26"/>
          <p:cNvSpPr txBox="1"/>
          <p:nvPr/>
        </p:nvSpPr>
        <p:spPr>
          <a:xfrm>
            <a:off x="5186045" y="183959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51856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49" name="object 26"/>
          <p:cNvSpPr txBox="1"/>
          <p:nvPr/>
        </p:nvSpPr>
        <p:spPr>
          <a:xfrm>
            <a:off x="5755005" y="246951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37417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0" name="object 26"/>
          <p:cNvSpPr txBox="1"/>
          <p:nvPr/>
        </p:nvSpPr>
        <p:spPr>
          <a:xfrm>
            <a:off x="5349875" y="240538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39558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1" name="object 26"/>
          <p:cNvSpPr txBox="1"/>
          <p:nvPr/>
        </p:nvSpPr>
        <p:spPr>
          <a:xfrm>
            <a:off x="5920105" y="341566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19612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2" name="object 26"/>
          <p:cNvSpPr txBox="1"/>
          <p:nvPr/>
        </p:nvSpPr>
        <p:spPr>
          <a:xfrm>
            <a:off x="6323330" y="207581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46800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3" name="object 26"/>
          <p:cNvSpPr txBox="1"/>
          <p:nvPr/>
        </p:nvSpPr>
        <p:spPr>
          <a:xfrm>
            <a:off x="6488430" y="286956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30141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4" name="object 26"/>
          <p:cNvSpPr txBox="1"/>
          <p:nvPr/>
        </p:nvSpPr>
        <p:spPr>
          <a:xfrm>
            <a:off x="6872605" y="4069080"/>
            <a:ext cx="163830" cy="508635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5918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5" name="object 26"/>
          <p:cNvSpPr txBox="1"/>
          <p:nvPr/>
        </p:nvSpPr>
        <p:spPr>
          <a:xfrm>
            <a:off x="7066280" y="423799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2072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6" name="object 26"/>
          <p:cNvSpPr txBox="1"/>
          <p:nvPr/>
        </p:nvSpPr>
        <p:spPr>
          <a:xfrm>
            <a:off x="7631430" y="4022090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6586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7" name="object 26"/>
          <p:cNvSpPr txBox="1"/>
          <p:nvPr/>
        </p:nvSpPr>
        <p:spPr>
          <a:xfrm>
            <a:off x="7453630" y="362521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15020</a:t>
            </a:r>
            <a:endParaRPr lang="en-IN" sz="1065">
              <a:latin typeface="Arial MT"/>
              <a:cs typeface="Arial MT"/>
            </a:endParaRPr>
          </a:p>
        </p:txBody>
      </p:sp>
      <p:sp>
        <p:nvSpPr>
          <p:cNvPr id="158" name="Text Box 157"/>
          <p:cNvSpPr txBox="1"/>
          <p:nvPr/>
        </p:nvSpPr>
        <p:spPr>
          <a:xfrm>
            <a:off x="5147945" y="4965065"/>
            <a:ext cx="431800" cy="352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800" spc="-20" dirty="0">
                <a:latin typeface="Arial MT"/>
                <a:cs typeface="Arial MT"/>
                <a:sym typeface="+mn-ea"/>
              </a:rPr>
              <a:t>IG.</a:t>
            </a:r>
            <a:r>
              <a:rPr sz="900" spc="-20" dirty="0">
                <a:latin typeface="Arial MT"/>
                <a:cs typeface="Arial MT"/>
                <a:sym typeface="+mn-ea"/>
              </a:rPr>
              <a:t>16</a:t>
            </a:r>
            <a:endParaRPr sz="800" spc="-20" dirty="0">
              <a:solidFill>
                <a:schemeClr val="tx1"/>
              </a:solidFill>
              <a:latin typeface="Arial MT"/>
              <a:cs typeface="Arial MT"/>
            </a:endParaRPr>
          </a:p>
          <a:p>
            <a:endParaRPr lang="en-US" sz="800"/>
          </a:p>
        </p:txBody>
      </p:sp>
      <p:sp>
        <p:nvSpPr>
          <p:cNvPr id="159" name="Text Box 158"/>
          <p:cNvSpPr txBox="1"/>
          <p:nvPr/>
        </p:nvSpPr>
        <p:spPr>
          <a:xfrm>
            <a:off x="4638040" y="497649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900" spc="-10" dirty="0">
                <a:latin typeface="Arial MT"/>
                <a:cs typeface="Arial MT"/>
                <a:sym typeface="+mn-ea"/>
              </a:rPr>
              <a:t>IG.15</a:t>
            </a:r>
            <a:r>
              <a:rPr sz="900" dirty="0">
                <a:latin typeface="Arial MT"/>
                <a:cs typeface="Arial MT"/>
                <a:sym typeface="+mn-ea"/>
              </a:rPr>
              <a:t>	</a:t>
            </a:r>
            <a:endParaRPr sz="900" spc="-20" dirty="0">
              <a:solidFill>
                <a:schemeClr val="tx1"/>
              </a:solidFill>
              <a:latin typeface="Arial MT"/>
              <a:cs typeface="Arial MT"/>
            </a:endParaRPr>
          </a:p>
          <a:p>
            <a:endParaRPr lang="en-US" sz="900"/>
          </a:p>
        </p:txBody>
      </p:sp>
      <p:sp>
        <p:nvSpPr>
          <p:cNvPr id="160" name="object 26"/>
          <p:cNvSpPr txBox="1"/>
          <p:nvPr/>
        </p:nvSpPr>
        <p:spPr>
          <a:xfrm>
            <a:off x="4622800" y="1793875"/>
            <a:ext cx="163830" cy="514350"/>
          </a:xfrm>
          <a:prstGeom prst="rect">
            <a:avLst/>
          </a:prstGeom>
        </p:spPr>
        <p:txBody>
          <a:bodyPr vert="vert270" wrap="square" lIns="0" tIns="16912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65">
                <a:latin typeface="Arial MT"/>
                <a:cs typeface="Arial MT"/>
              </a:rPr>
              <a:t>51537</a:t>
            </a:r>
            <a:endParaRPr lang="en-IN" sz="106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2110" y="13795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IG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Section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Downtime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Analysis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(Minutes)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130" y="556922"/>
            <a:ext cx="271444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Total: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1,393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hrs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12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M/C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7249" y="1274777"/>
          <a:ext cx="11797030" cy="3187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  <a:gridCol w="842645"/>
              </a:tblGrid>
              <a:tr h="340995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Re-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Setting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Ovality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Taper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Size</a:t>
                      </a:r>
                      <a:r>
                        <a:rPr sz="8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Var.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Dia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Turn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Dia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Chg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Tool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Wait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Oper.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Power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Mech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Mnt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Elec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Mnt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Hrs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280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69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290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485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210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3045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860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240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124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IG.12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245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385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600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3970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845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154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690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655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750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6585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805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165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176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2135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69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425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370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540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235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57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IG.16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250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505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210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160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925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350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59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355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535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6500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805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225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158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1210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190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320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2960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E1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895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240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85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230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131</a:t>
                      </a:r>
                      <a:endParaRPr sz="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6656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80770" y="4644009"/>
            <a:ext cx="11581056" cy="1595486"/>
            <a:chOff x="205193" y="3487307"/>
            <a:chExt cx="8696515" cy="1198092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5193" y="3487307"/>
              <a:ext cx="8696515" cy="11980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3964" y="3513887"/>
              <a:ext cx="8595360" cy="1097280"/>
            </a:xfrm>
            <a:custGeom>
              <a:avLst/>
              <a:gdLst/>
              <a:ahLst/>
              <a:cxnLst/>
              <a:rect l="l" t="t" r="r" b="b"/>
              <a:pathLst>
                <a:path w="8595360" h="1097279">
                  <a:moveTo>
                    <a:pt x="859499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4297680" y="1096911"/>
                  </a:lnTo>
                  <a:lnTo>
                    <a:pt x="8594991" y="1096911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8820" y="4791554"/>
            <a:ext cx="6963703" cy="5289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200" b="1" spc="-1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Operator </a:t>
            </a:r>
            <a:r>
              <a:rPr sz="1200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200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200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#1</a:t>
            </a:r>
            <a:r>
              <a:rPr sz="1200" b="1" spc="-1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downtime</a:t>
            </a:r>
            <a:r>
              <a:rPr sz="1200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factor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IG.13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(6,585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min)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IG.17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(6,500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min) 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have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Operator time.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IG.12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(3,970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min)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IG.04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(3,045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min)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also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critical.</a:t>
            </a:r>
            <a:r>
              <a:rPr sz="1065" spc="5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IG.18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has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Re-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Setting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1,210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min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process</a:t>
            </a:r>
            <a:r>
              <a:rPr sz="1065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optimization.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2745" y="14620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Production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Achievement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EG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Machines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385" y="589942"/>
            <a:ext cx="274150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Good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Machine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2745" y="1339215"/>
            <a:ext cx="6697345" cy="4262120"/>
          </a:xfrm>
          <a:custGeom>
            <a:avLst/>
            <a:gdLst/>
            <a:ahLst/>
            <a:cxnLst/>
            <a:rect l="l" t="t" r="r" b="b"/>
            <a:pathLst>
              <a:path w="5029200" h="3200400">
                <a:moveTo>
                  <a:pt x="5028844" y="0"/>
                </a:moveTo>
                <a:lnTo>
                  <a:pt x="0" y="0"/>
                </a:lnTo>
                <a:lnTo>
                  <a:pt x="0" y="3200044"/>
                </a:lnTo>
                <a:lnTo>
                  <a:pt x="2514600" y="3200044"/>
                </a:lnTo>
                <a:lnTo>
                  <a:pt x="5028844" y="3200044"/>
                </a:lnTo>
                <a:lnTo>
                  <a:pt x="50288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6" name="object 6"/>
          <p:cNvSpPr/>
          <p:nvPr/>
        </p:nvSpPr>
        <p:spPr>
          <a:xfrm>
            <a:off x="943610" y="5243195"/>
            <a:ext cx="5993130" cy="0"/>
          </a:xfrm>
          <a:custGeom>
            <a:avLst/>
            <a:gdLst/>
            <a:ahLst/>
            <a:cxnLst/>
            <a:rect l="l" t="t" r="r" b="b"/>
            <a:pathLst>
              <a:path w="4500245">
                <a:moveTo>
                  <a:pt x="4499635" y="0"/>
                </a:moveTo>
                <a:lnTo>
                  <a:pt x="0" y="0"/>
                </a:lnTo>
              </a:path>
            </a:pathLst>
          </a:custGeom>
          <a:ln w="6479">
            <a:solidFill>
              <a:srgbClr val="E1E7EF"/>
            </a:solidFill>
          </a:ln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7" name="object 7"/>
          <p:cNvSpPr/>
          <p:nvPr/>
        </p:nvSpPr>
        <p:spPr>
          <a:xfrm>
            <a:off x="943610" y="4826000"/>
            <a:ext cx="5993130" cy="0"/>
          </a:xfrm>
          <a:custGeom>
            <a:avLst/>
            <a:gdLst/>
            <a:ahLst/>
            <a:cxnLst/>
            <a:rect l="l" t="t" r="r" b="b"/>
            <a:pathLst>
              <a:path w="4500245">
                <a:moveTo>
                  <a:pt x="0" y="0"/>
                </a:moveTo>
                <a:lnTo>
                  <a:pt x="269989" y="0"/>
                </a:lnTo>
              </a:path>
              <a:path w="4500245">
                <a:moveTo>
                  <a:pt x="629996" y="0"/>
                </a:moveTo>
                <a:lnTo>
                  <a:pt x="2069998" y="0"/>
                </a:lnTo>
              </a:path>
              <a:path w="4500245">
                <a:moveTo>
                  <a:pt x="2429637" y="0"/>
                </a:moveTo>
                <a:lnTo>
                  <a:pt x="2969641" y="0"/>
                </a:lnTo>
              </a:path>
              <a:path w="4500245">
                <a:moveTo>
                  <a:pt x="3329635" y="0"/>
                </a:moveTo>
                <a:lnTo>
                  <a:pt x="3869639" y="0"/>
                </a:lnTo>
              </a:path>
              <a:path w="4500245">
                <a:moveTo>
                  <a:pt x="4229633" y="0"/>
                </a:moveTo>
                <a:lnTo>
                  <a:pt x="4499635" y="0"/>
                </a:lnTo>
              </a:path>
            </a:pathLst>
          </a:custGeom>
          <a:ln w="6479">
            <a:solidFill>
              <a:srgbClr val="E1E7EF"/>
            </a:solidFill>
          </a:ln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8" name="object 8"/>
          <p:cNvSpPr/>
          <p:nvPr/>
        </p:nvSpPr>
        <p:spPr>
          <a:xfrm>
            <a:off x="943610" y="2739390"/>
            <a:ext cx="5993130" cy="1669415"/>
          </a:xfrm>
          <a:custGeom>
            <a:avLst/>
            <a:gdLst/>
            <a:ahLst/>
            <a:cxnLst/>
            <a:rect l="l" t="t" r="r" b="b"/>
            <a:pathLst>
              <a:path w="4500245" h="1253489">
                <a:moveTo>
                  <a:pt x="0" y="1253159"/>
                </a:moveTo>
                <a:lnTo>
                  <a:pt x="269989" y="1253159"/>
                </a:lnTo>
              </a:path>
              <a:path w="4500245" h="1253489">
                <a:moveTo>
                  <a:pt x="629996" y="1253159"/>
                </a:moveTo>
                <a:lnTo>
                  <a:pt x="2069998" y="1253159"/>
                </a:lnTo>
              </a:path>
              <a:path w="4500245" h="1253489">
                <a:moveTo>
                  <a:pt x="2429637" y="1253159"/>
                </a:moveTo>
                <a:lnTo>
                  <a:pt x="2969641" y="1253159"/>
                </a:lnTo>
              </a:path>
              <a:path w="4500245" h="1253489">
                <a:moveTo>
                  <a:pt x="3329635" y="1253159"/>
                </a:moveTo>
                <a:lnTo>
                  <a:pt x="4499635" y="1253159"/>
                </a:lnTo>
              </a:path>
              <a:path w="4500245" h="1253489">
                <a:moveTo>
                  <a:pt x="0" y="939952"/>
                </a:moveTo>
                <a:lnTo>
                  <a:pt x="269989" y="939952"/>
                </a:lnTo>
              </a:path>
              <a:path w="4500245" h="1253489">
                <a:moveTo>
                  <a:pt x="629996" y="939952"/>
                </a:moveTo>
                <a:lnTo>
                  <a:pt x="2069998" y="939952"/>
                </a:lnTo>
              </a:path>
              <a:path w="4500245" h="1253489">
                <a:moveTo>
                  <a:pt x="2429637" y="939952"/>
                </a:moveTo>
                <a:lnTo>
                  <a:pt x="2969641" y="939952"/>
                </a:lnTo>
              </a:path>
              <a:path w="4500245" h="1253489">
                <a:moveTo>
                  <a:pt x="3329635" y="939952"/>
                </a:moveTo>
                <a:lnTo>
                  <a:pt x="4499635" y="939952"/>
                </a:lnTo>
              </a:path>
              <a:path w="4500245" h="1253489">
                <a:moveTo>
                  <a:pt x="0" y="626389"/>
                </a:moveTo>
                <a:lnTo>
                  <a:pt x="269989" y="626389"/>
                </a:lnTo>
              </a:path>
              <a:path w="4500245" h="1253489">
                <a:moveTo>
                  <a:pt x="629996" y="626389"/>
                </a:moveTo>
                <a:lnTo>
                  <a:pt x="2969641" y="626389"/>
                </a:lnTo>
              </a:path>
              <a:path w="4500245" h="1253489">
                <a:moveTo>
                  <a:pt x="3329635" y="626389"/>
                </a:moveTo>
                <a:lnTo>
                  <a:pt x="4499635" y="626389"/>
                </a:lnTo>
              </a:path>
              <a:path w="4500245" h="1253489">
                <a:moveTo>
                  <a:pt x="0" y="313550"/>
                </a:moveTo>
                <a:lnTo>
                  <a:pt x="269989" y="313550"/>
                </a:lnTo>
              </a:path>
              <a:path w="4500245" h="1253489">
                <a:moveTo>
                  <a:pt x="629996" y="313550"/>
                </a:moveTo>
                <a:lnTo>
                  <a:pt x="2969641" y="313550"/>
                </a:lnTo>
              </a:path>
              <a:path w="4500245" h="1253489">
                <a:moveTo>
                  <a:pt x="3329635" y="313550"/>
                </a:moveTo>
                <a:lnTo>
                  <a:pt x="4499635" y="313550"/>
                </a:lnTo>
              </a:path>
              <a:path w="4500245" h="1253489">
                <a:moveTo>
                  <a:pt x="0" y="0"/>
                </a:moveTo>
                <a:lnTo>
                  <a:pt x="2969641" y="0"/>
                </a:lnTo>
              </a:path>
              <a:path w="4500245" h="1253489">
                <a:moveTo>
                  <a:pt x="3329635" y="0"/>
                </a:moveTo>
                <a:lnTo>
                  <a:pt x="4499635" y="0"/>
                </a:lnTo>
              </a:path>
            </a:pathLst>
          </a:custGeom>
          <a:ln w="6479">
            <a:solidFill>
              <a:srgbClr val="E1E7EF"/>
            </a:solidFill>
          </a:ln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9" name="object 9"/>
          <p:cNvSpPr/>
          <p:nvPr/>
        </p:nvSpPr>
        <p:spPr>
          <a:xfrm>
            <a:off x="943610" y="2322195"/>
            <a:ext cx="5993130" cy="0"/>
          </a:xfrm>
          <a:custGeom>
            <a:avLst/>
            <a:gdLst/>
            <a:ahLst/>
            <a:cxnLst/>
            <a:rect l="l" t="t" r="r" b="b"/>
            <a:pathLst>
              <a:path w="4500245">
                <a:moveTo>
                  <a:pt x="0" y="0"/>
                </a:moveTo>
                <a:lnTo>
                  <a:pt x="2969641" y="0"/>
                </a:lnTo>
              </a:path>
              <a:path w="4500245">
                <a:moveTo>
                  <a:pt x="3329635" y="0"/>
                </a:moveTo>
                <a:lnTo>
                  <a:pt x="4499635" y="0"/>
                </a:lnTo>
              </a:path>
            </a:pathLst>
          </a:custGeom>
          <a:ln w="6479">
            <a:solidFill>
              <a:srgbClr val="E1E7EF"/>
            </a:solidFill>
          </a:ln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10" name="object 10"/>
          <p:cNvSpPr/>
          <p:nvPr/>
        </p:nvSpPr>
        <p:spPr>
          <a:xfrm>
            <a:off x="943610" y="1487805"/>
            <a:ext cx="5993130" cy="417830"/>
          </a:xfrm>
          <a:custGeom>
            <a:avLst/>
            <a:gdLst/>
            <a:ahLst/>
            <a:cxnLst/>
            <a:rect l="l" t="t" r="r" b="b"/>
            <a:pathLst>
              <a:path w="4500245" h="313690">
                <a:moveTo>
                  <a:pt x="4499635" y="313194"/>
                </a:moveTo>
                <a:lnTo>
                  <a:pt x="0" y="313194"/>
                </a:lnTo>
              </a:path>
              <a:path w="4500245" h="313690">
                <a:moveTo>
                  <a:pt x="4499635" y="0"/>
                </a:moveTo>
                <a:lnTo>
                  <a:pt x="0" y="0"/>
                </a:lnTo>
              </a:path>
            </a:pathLst>
          </a:custGeom>
          <a:ln w="6479">
            <a:solidFill>
              <a:srgbClr val="E1E7EF"/>
            </a:solidFill>
          </a:ln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11" name="object 11"/>
          <p:cNvSpPr/>
          <p:nvPr/>
        </p:nvSpPr>
        <p:spPr>
          <a:xfrm>
            <a:off x="871855" y="1487805"/>
            <a:ext cx="6064885" cy="3828415"/>
          </a:xfrm>
          <a:custGeom>
            <a:avLst/>
            <a:gdLst/>
            <a:ahLst/>
            <a:cxnLst/>
            <a:rect l="l" t="t" r="r" b="b"/>
            <a:pathLst>
              <a:path w="4554220" h="2874645">
                <a:moveTo>
                  <a:pt x="54000" y="2874238"/>
                </a:moveTo>
                <a:lnTo>
                  <a:pt x="54000" y="2820238"/>
                </a:lnTo>
              </a:path>
              <a:path w="4554220" h="2874645">
                <a:moveTo>
                  <a:pt x="953998" y="2874238"/>
                </a:moveTo>
                <a:lnTo>
                  <a:pt x="953998" y="2820238"/>
                </a:lnTo>
              </a:path>
              <a:path w="4554220" h="2874645">
                <a:moveTo>
                  <a:pt x="1853996" y="2874238"/>
                </a:moveTo>
                <a:lnTo>
                  <a:pt x="1853996" y="2820238"/>
                </a:lnTo>
              </a:path>
              <a:path w="4554220" h="2874645">
                <a:moveTo>
                  <a:pt x="2753639" y="2874238"/>
                </a:moveTo>
                <a:lnTo>
                  <a:pt x="2753639" y="2820238"/>
                </a:lnTo>
              </a:path>
              <a:path w="4554220" h="2874645">
                <a:moveTo>
                  <a:pt x="3653637" y="2874238"/>
                </a:moveTo>
                <a:lnTo>
                  <a:pt x="3653637" y="2820238"/>
                </a:lnTo>
              </a:path>
              <a:path w="4554220" h="2874645">
                <a:moveTo>
                  <a:pt x="4553635" y="2874238"/>
                </a:moveTo>
                <a:lnTo>
                  <a:pt x="4553635" y="2820238"/>
                </a:lnTo>
              </a:path>
              <a:path w="4554220" h="2874645">
                <a:moveTo>
                  <a:pt x="54000" y="2820238"/>
                </a:moveTo>
                <a:lnTo>
                  <a:pt x="4553635" y="2820238"/>
                </a:lnTo>
              </a:path>
              <a:path w="4554220" h="2874645">
                <a:moveTo>
                  <a:pt x="0" y="2820238"/>
                </a:moveTo>
                <a:lnTo>
                  <a:pt x="54000" y="2820238"/>
                </a:lnTo>
              </a:path>
              <a:path w="4554220" h="2874645">
                <a:moveTo>
                  <a:pt x="0" y="2506675"/>
                </a:moveTo>
                <a:lnTo>
                  <a:pt x="54000" y="2506675"/>
                </a:lnTo>
              </a:path>
              <a:path w="4554220" h="2874645">
                <a:moveTo>
                  <a:pt x="0" y="2193124"/>
                </a:moveTo>
                <a:lnTo>
                  <a:pt x="54000" y="2193124"/>
                </a:lnTo>
              </a:path>
              <a:path w="4554220" h="2874645">
                <a:moveTo>
                  <a:pt x="0" y="1879917"/>
                </a:moveTo>
                <a:lnTo>
                  <a:pt x="54000" y="1879917"/>
                </a:lnTo>
              </a:path>
              <a:path w="4554220" h="2874645">
                <a:moveTo>
                  <a:pt x="0" y="1566354"/>
                </a:moveTo>
                <a:lnTo>
                  <a:pt x="54000" y="1566354"/>
                </a:lnTo>
              </a:path>
              <a:path w="4554220" h="2874645">
                <a:moveTo>
                  <a:pt x="0" y="1253515"/>
                </a:moveTo>
                <a:lnTo>
                  <a:pt x="54000" y="1253515"/>
                </a:lnTo>
              </a:path>
              <a:path w="4554220" h="2874645">
                <a:moveTo>
                  <a:pt x="0" y="939965"/>
                </a:moveTo>
                <a:lnTo>
                  <a:pt x="54000" y="939965"/>
                </a:lnTo>
              </a:path>
              <a:path w="4554220" h="2874645">
                <a:moveTo>
                  <a:pt x="0" y="626757"/>
                </a:moveTo>
                <a:lnTo>
                  <a:pt x="54000" y="626757"/>
                </a:lnTo>
              </a:path>
              <a:path w="4554220" h="2874645">
                <a:moveTo>
                  <a:pt x="0" y="313194"/>
                </a:moveTo>
                <a:lnTo>
                  <a:pt x="54000" y="313194"/>
                </a:lnTo>
              </a:path>
              <a:path w="4554220" h="2874645">
                <a:moveTo>
                  <a:pt x="0" y="0"/>
                </a:moveTo>
                <a:lnTo>
                  <a:pt x="54000" y="0"/>
                </a:lnTo>
              </a:path>
              <a:path w="4554220" h="2874645">
                <a:moveTo>
                  <a:pt x="54000" y="2820238"/>
                </a:moveTo>
                <a:lnTo>
                  <a:pt x="54000" y="0"/>
                </a:lnTo>
              </a:path>
            </a:pathLst>
          </a:custGeom>
          <a:ln w="12598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12" name="object 12"/>
          <p:cNvSpPr/>
          <p:nvPr/>
        </p:nvSpPr>
        <p:spPr>
          <a:xfrm>
            <a:off x="1268095" y="1927225"/>
            <a:ext cx="5273040" cy="3315970"/>
          </a:xfrm>
          <a:custGeom>
            <a:avLst/>
            <a:gdLst/>
            <a:ahLst/>
            <a:cxnLst/>
            <a:rect l="l" t="t" r="r" b="b"/>
            <a:pathLst>
              <a:path w="3959860" h="2489835">
                <a:moveTo>
                  <a:pt x="360006" y="631444"/>
                </a:moveTo>
                <a:lnTo>
                  <a:pt x="0" y="631444"/>
                </a:lnTo>
                <a:lnTo>
                  <a:pt x="0" y="2489758"/>
                </a:lnTo>
                <a:lnTo>
                  <a:pt x="360006" y="2489758"/>
                </a:lnTo>
                <a:lnTo>
                  <a:pt x="360006" y="631444"/>
                </a:lnTo>
                <a:close/>
              </a:path>
              <a:path w="3959860" h="2489835">
                <a:moveTo>
                  <a:pt x="1260005" y="2325967"/>
                </a:moveTo>
                <a:lnTo>
                  <a:pt x="900010" y="2325967"/>
                </a:lnTo>
                <a:lnTo>
                  <a:pt x="900010" y="2489758"/>
                </a:lnTo>
                <a:lnTo>
                  <a:pt x="1260005" y="2489758"/>
                </a:lnTo>
                <a:lnTo>
                  <a:pt x="1260005" y="2325967"/>
                </a:lnTo>
                <a:close/>
              </a:path>
              <a:path w="3959860" h="2489835">
                <a:moveTo>
                  <a:pt x="2159647" y="1512366"/>
                </a:moveTo>
                <a:lnTo>
                  <a:pt x="1800009" y="1512366"/>
                </a:lnTo>
                <a:lnTo>
                  <a:pt x="1800009" y="2489758"/>
                </a:lnTo>
                <a:lnTo>
                  <a:pt x="2159647" y="2489758"/>
                </a:lnTo>
                <a:lnTo>
                  <a:pt x="2159647" y="1512366"/>
                </a:lnTo>
                <a:close/>
              </a:path>
              <a:path w="3959860" h="2489835">
                <a:moveTo>
                  <a:pt x="3059646" y="0"/>
                </a:moveTo>
                <a:lnTo>
                  <a:pt x="2699651" y="0"/>
                </a:lnTo>
                <a:lnTo>
                  <a:pt x="2699651" y="2489758"/>
                </a:lnTo>
                <a:lnTo>
                  <a:pt x="3059646" y="2489758"/>
                </a:lnTo>
                <a:lnTo>
                  <a:pt x="3059646" y="0"/>
                </a:lnTo>
                <a:close/>
              </a:path>
              <a:path w="3959860" h="2489835">
                <a:moveTo>
                  <a:pt x="3959644" y="2109241"/>
                </a:moveTo>
                <a:lnTo>
                  <a:pt x="3599650" y="2109241"/>
                </a:lnTo>
                <a:lnTo>
                  <a:pt x="3599650" y="2489758"/>
                </a:lnTo>
                <a:lnTo>
                  <a:pt x="3959644" y="2489758"/>
                </a:lnTo>
                <a:lnTo>
                  <a:pt x="3959644" y="2109241"/>
                </a:lnTo>
                <a:close/>
              </a:path>
            </a:pathLst>
          </a:custGeom>
          <a:solidFill>
            <a:srgbClr val="8A5BF5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13" name="object 13"/>
          <p:cNvSpPr txBox="1"/>
          <p:nvPr/>
        </p:nvSpPr>
        <p:spPr>
          <a:xfrm>
            <a:off x="1329495" y="5337945"/>
            <a:ext cx="42534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6A717F"/>
                </a:solidFill>
                <a:latin typeface="Arial MT"/>
                <a:cs typeface="Arial MT"/>
              </a:rPr>
              <a:t>EG.02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27928" y="5337945"/>
            <a:ext cx="42534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6A717F"/>
                </a:solidFill>
                <a:latin typeface="Arial MT"/>
                <a:cs typeface="Arial MT"/>
              </a:rPr>
              <a:t>EG.04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6361" y="5337945"/>
            <a:ext cx="42534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6A717F"/>
                </a:solidFill>
                <a:latin typeface="Arial MT"/>
                <a:cs typeface="Arial MT"/>
              </a:rPr>
              <a:t>EG.05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4795" y="5337945"/>
            <a:ext cx="42534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6A717F"/>
                </a:solidFill>
                <a:latin typeface="Arial MT"/>
                <a:cs typeface="Arial MT"/>
              </a:rPr>
              <a:t>EG.07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23228" y="5337945"/>
            <a:ext cx="42534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6A717F"/>
                </a:solidFill>
                <a:latin typeface="Arial MT"/>
                <a:cs typeface="Arial MT"/>
              </a:rPr>
              <a:t>EG.08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3698" y="5146208"/>
            <a:ext cx="99783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3383" y="4728690"/>
            <a:ext cx="29004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0" dirty="0">
                <a:solidFill>
                  <a:srgbClr val="6A717F"/>
                </a:solidFill>
                <a:latin typeface="Arial MT"/>
                <a:cs typeface="Arial MT"/>
              </a:rPr>
              <a:t>5000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113" y="3894128"/>
            <a:ext cx="353470" cy="58991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15000</a:t>
            </a: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3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10000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0113" y="3059583"/>
            <a:ext cx="353470" cy="58991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25000</a:t>
            </a: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3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20000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113" y="2642065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30000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0113" y="2225021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35000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0113" y="1807503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40000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0113" y="1390477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45000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16557" y="2543313"/>
            <a:ext cx="450717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1D283A"/>
                </a:solidFill>
                <a:latin typeface="Arial MT"/>
                <a:cs typeface="Arial MT"/>
              </a:rPr>
              <a:t>29,648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53331" y="4800111"/>
            <a:ext cx="375456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1D283A"/>
                </a:solidFill>
                <a:latin typeface="Arial MT"/>
                <a:cs typeface="Arial MT"/>
              </a:rPr>
              <a:t>2,610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13424" y="3716767"/>
            <a:ext cx="450717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1D283A"/>
                </a:solidFill>
                <a:latin typeface="Arial MT"/>
                <a:cs typeface="Arial MT"/>
              </a:rPr>
              <a:t>15,588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11857" y="1702527"/>
            <a:ext cx="450717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1D283A"/>
                </a:solidFill>
                <a:latin typeface="Arial MT"/>
                <a:cs typeface="Arial MT"/>
              </a:rPr>
              <a:t>39,723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48631" y="4511552"/>
            <a:ext cx="375456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1D283A"/>
                </a:solidFill>
                <a:latin typeface="Arial MT"/>
                <a:cs typeface="Arial MT"/>
              </a:rPr>
              <a:t>6,069</a:t>
            </a:r>
            <a:endParaRPr sz="1065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65180" y="1295343"/>
            <a:ext cx="4397238" cy="4396392"/>
            <a:chOff x="5600153" y="972707"/>
            <a:chExt cx="3302000" cy="3301365"/>
          </a:xfrm>
        </p:grpSpPr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00153" y="972707"/>
              <a:ext cx="3301555" cy="330121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668924" y="1005486"/>
              <a:ext cx="3200400" cy="3200400"/>
            </a:xfrm>
            <a:custGeom>
              <a:avLst/>
              <a:gdLst/>
              <a:ahLst/>
              <a:cxnLst/>
              <a:rect l="l" t="t" r="r" b="b"/>
              <a:pathLst>
                <a:path w="3200400" h="3200400">
                  <a:moveTo>
                    <a:pt x="3200031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1600199" y="3200031"/>
                  </a:lnTo>
                  <a:lnTo>
                    <a:pt x="3200031" y="3200031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81461" y="1474514"/>
            <a:ext cx="1568630" cy="2622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EG</a:t>
            </a:r>
            <a:r>
              <a:rPr sz="1600" b="1" spc="-4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Fleet</a:t>
            </a:r>
            <a:r>
              <a:rPr sz="1600" b="1" spc="-3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Summary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7877862" y="2006763"/>
          <a:ext cx="3722370" cy="264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5810"/>
                <a:gridCol w="1686560"/>
              </a:tblGrid>
              <a:tr h="3924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65" spc="-2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065" spc="-5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Good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838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55"/>
                        </a:lnSpc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93,638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586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065" spc="-2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065" spc="-5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Rework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502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30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440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2801" marB="0"/>
                </a:tc>
              </a:tr>
              <a:tr h="586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065" spc="-2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065" spc="-5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Rejection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502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30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344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2801" marB="0"/>
                </a:tc>
              </a:tr>
              <a:tr h="586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065" spc="-1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Rework</a:t>
                      </a:r>
                      <a:r>
                        <a:rPr sz="1065" spc="-5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5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PPM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502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5,537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2801" marB="0"/>
                </a:tc>
              </a:tr>
              <a:tr h="490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65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065" spc="-1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Rejection</a:t>
                      </a:r>
                      <a:r>
                        <a:rPr sz="1065" spc="30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5" dirty="0">
                          <a:solidFill>
                            <a:srgbClr val="6A717F"/>
                          </a:solidFill>
                          <a:latin typeface="Calibri" panose="020F0502020204030204"/>
                          <a:cs typeface="Calibri" panose="020F0502020204030204"/>
                        </a:rPr>
                        <a:t>PPM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502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70"/>
                        </a:lnSpc>
                        <a:spcBef>
                          <a:spcPts val="1140"/>
                        </a:spcBef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3,697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2801" marB="0"/>
                </a:tc>
              </a:tr>
            </a:tbl>
          </a:graphicData>
        </a:graphic>
      </p:graphicFrame>
      <p:sp>
        <p:nvSpPr>
          <p:cNvPr id="36" name="object 36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  <p:sp>
        <p:nvSpPr>
          <p:cNvPr id="38" name="Striped Right Arrow 37">
            <a:hlinkClick r:id="rId2" action="ppaction://hlinksldjump"/>
          </p:cNvPr>
          <p:cNvSpPr/>
          <p:nvPr/>
        </p:nvSpPr>
        <p:spPr>
          <a:xfrm>
            <a:off x="11412855" y="5779135"/>
            <a:ext cx="525145" cy="447675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Striped Right Arrow 38">
            <a:hlinkClick r:id="rId3" action="ppaction://hlinksldjump"/>
          </p:cNvPr>
          <p:cNvSpPr/>
          <p:nvPr/>
        </p:nvSpPr>
        <p:spPr>
          <a:xfrm rot="10800000">
            <a:off x="147320" y="5691505"/>
            <a:ext cx="525145" cy="447675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6734175" y="2362200"/>
            <a:ext cx="1419225" cy="304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235" y="16525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EG</a:t>
            </a:r>
            <a:r>
              <a:rPr sz="2400" b="1" spc="-6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Section</a:t>
            </a:r>
            <a:r>
              <a:rPr sz="2400" b="1" spc="-5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Production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Summary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385" y="573432"/>
            <a:ext cx="85407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2558" y="1335662"/>
          <a:ext cx="11068050" cy="2331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7480"/>
                <a:gridCol w="3269615"/>
                <a:gridCol w="1404620"/>
                <a:gridCol w="2880360"/>
                <a:gridCol w="2085975"/>
              </a:tblGrid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Plan</a:t>
                      </a:r>
                      <a:r>
                        <a:rPr sz="1330" b="1" spc="-4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 </a:t>
                      </a:r>
                      <a:r>
                        <a:rPr sz="133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Qty</a:t>
                      </a:r>
                      <a:r>
                        <a:rPr lang="en-GB" sz="133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</a:t>
                      </a:r>
                      <a:r>
                        <a:rPr sz="133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Good</a:t>
                      </a:r>
                      <a:r>
                        <a:rPr sz="1330" b="1" spc="-4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3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Rework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T . Rej                            </a:t>
                      </a:r>
                      <a:r>
                        <a:rPr sz="133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Rejection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EG.02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 </a:t>
                      </a: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29,648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     </a:t>
                      </a: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49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29,700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EG.04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</a:t>
                      </a: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2,610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180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DF2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      </a:t>
                      </a: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65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2,681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EG.05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</a:t>
                      </a: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15,588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        </a:t>
                      </a: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195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15,785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EG.07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</a:t>
                      </a: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39,723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91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         </a:t>
                      </a: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39,740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EG.08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</a:t>
                      </a: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6,069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23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         </a:t>
                      </a:r>
                      <a:r>
                        <a:rPr sz="13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6,088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Grand Total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</a:t>
                      </a:r>
                      <a:r>
                        <a:rPr sz="133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93,638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440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GB" sz="133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                                                        </a:t>
                      </a:r>
                      <a:r>
                        <a:rPr sz="133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344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33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93,994</a:t>
                      </a:r>
                      <a:endParaRPr sz="13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1582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24309" y="4339585"/>
            <a:ext cx="5371395" cy="1717460"/>
            <a:chOff x="388073" y="3258707"/>
            <a:chExt cx="4033520" cy="128968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8073" y="3258707"/>
              <a:ext cx="4033075" cy="1289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6844" y="3291486"/>
              <a:ext cx="3931920" cy="1188720"/>
            </a:xfrm>
            <a:custGeom>
              <a:avLst/>
              <a:gdLst/>
              <a:ahLst/>
              <a:cxnLst/>
              <a:rect l="l" t="t" r="r" b="b"/>
              <a:pathLst>
                <a:path w="3931920" h="1188720">
                  <a:moveTo>
                    <a:pt x="3931551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1965959" y="1188351"/>
                  </a:lnTo>
                  <a:lnTo>
                    <a:pt x="3931551" y="1188351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0589" y="4498156"/>
            <a:ext cx="1318326" cy="24193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65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EG</a:t>
            </a:r>
            <a:r>
              <a:rPr sz="1465" b="1" spc="-3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65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PPM</a:t>
            </a:r>
            <a:r>
              <a:rPr sz="1465" b="1" spc="-1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65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Analysis</a:t>
            </a:r>
            <a:endParaRPr sz="14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359" y="4859290"/>
            <a:ext cx="3183769" cy="4667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PPM:</a:t>
            </a:r>
            <a:r>
              <a:rPr sz="1065" b="1" spc="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5,537 </a:t>
            </a:r>
            <a:r>
              <a:rPr sz="1065" b="1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(Target: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&lt;3,000)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ABOVE</a:t>
            </a:r>
            <a:r>
              <a:rPr sz="1065" b="1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TARGET</a:t>
            </a:r>
            <a:r>
              <a:rPr sz="1065" b="1" spc="50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PPM: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3,697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(Target:</a:t>
            </a: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&lt;1,500)</a:t>
            </a: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ABOVE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TARGET</a:t>
            </a:r>
            <a:endParaRPr sz="1065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955"/>
              </a:lnSpc>
            </a:pP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EG.04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has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spc="-1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(180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pcs)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2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attention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5714" y="4339585"/>
            <a:ext cx="5736704" cy="1717460"/>
            <a:chOff x="4594313" y="3258707"/>
            <a:chExt cx="4307840" cy="12896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4313" y="3258707"/>
              <a:ext cx="4307395" cy="12895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63084" y="3291486"/>
              <a:ext cx="4206240" cy="1188720"/>
            </a:xfrm>
            <a:custGeom>
              <a:avLst/>
              <a:gdLst/>
              <a:ahLst/>
              <a:cxnLst/>
              <a:rect l="l" t="t" r="r" b="b"/>
              <a:pathLst>
                <a:path w="4206240" h="1188720">
                  <a:moveTo>
                    <a:pt x="4205871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2103120" y="1188351"/>
                  </a:lnTo>
                  <a:lnTo>
                    <a:pt x="4205871" y="1188351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41994" y="4498156"/>
            <a:ext cx="1375827" cy="24193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65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Key</a:t>
            </a:r>
            <a:r>
              <a:rPr sz="1465" b="1" spc="-5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65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Observations</a:t>
            </a:r>
            <a:endParaRPr sz="14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63764" y="4849765"/>
            <a:ext cx="3549078" cy="50863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EG.07</a:t>
            </a:r>
            <a:r>
              <a:rPr sz="1065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65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the best</a:t>
            </a:r>
            <a:r>
              <a:rPr sz="1065" spc="-2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performer </a:t>
            </a:r>
            <a:r>
              <a:rPr sz="106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39,723 good with</a:t>
            </a:r>
            <a:r>
              <a:rPr sz="1065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only</a:t>
            </a:r>
            <a:r>
              <a:rPr sz="1065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91</a:t>
            </a:r>
            <a:r>
              <a:rPr sz="1065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spc="5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EG.05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has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(195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pcs)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root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cause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needed</a:t>
            </a:r>
            <a:r>
              <a:rPr sz="1065" spc="50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EG.04</a:t>
            </a:r>
            <a:r>
              <a:rPr sz="1065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lowest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(2,610)</a:t>
            </a:r>
            <a:r>
              <a:rPr sz="1065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065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spc="-1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rate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901440" y="1322705"/>
            <a:ext cx="3175" cy="2332355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/>
          <p:cNvSpPr txBox="1"/>
          <p:nvPr/>
        </p:nvSpPr>
        <p:spPr>
          <a:xfrm>
            <a:off x="2673985" y="1697355"/>
            <a:ext cx="6731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13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44977 </a:t>
            </a:r>
            <a:endParaRPr lang="en-US" sz="1300"/>
          </a:p>
        </p:txBody>
      </p:sp>
      <p:sp>
        <p:nvSpPr>
          <p:cNvPr id="19" name="Text Box 18"/>
          <p:cNvSpPr txBox="1"/>
          <p:nvPr/>
        </p:nvSpPr>
        <p:spPr>
          <a:xfrm>
            <a:off x="2667635" y="2014855"/>
            <a:ext cx="6731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13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10848 </a:t>
            </a:r>
            <a:endParaRPr lang="en-US" sz="1300"/>
          </a:p>
        </p:txBody>
      </p:sp>
      <p:sp>
        <p:nvSpPr>
          <p:cNvPr id="20" name="Text Box 19"/>
          <p:cNvSpPr txBox="1"/>
          <p:nvPr/>
        </p:nvSpPr>
        <p:spPr>
          <a:xfrm>
            <a:off x="2654935" y="2345055"/>
            <a:ext cx="6731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13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27105 </a:t>
            </a:r>
            <a:endParaRPr lang="en-US" sz="1300"/>
          </a:p>
        </p:txBody>
      </p:sp>
      <p:sp>
        <p:nvSpPr>
          <p:cNvPr id="21" name="Text Box 20"/>
          <p:cNvSpPr txBox="1"/>
          <p:nvPr/>
        </p:nvSpPr>
        <p:spPr>
          <a:xfrm>
            <a:off x="2661285" y="2643505"/>
            <a:ext cx="6731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13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62985 </a:t>
            </a:r>
            <a:endParaRPr lang="en-US" sz="1300"/>
          </a:p>
        </p:txBody>
      </p:sp>
      <p:sp>
        <p:nvSpPr>
          <p:cNvPr id="22" name="Text Box 21"/>
          <p:cNvSpPr txBox="1"/>
          <p:nvPr/>
        </p:nvSpPr>
        <p:spPr>
          <a:xfrm>
            <a:off x="2654935" y="2973705"/>
            <a:ext cx="6731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13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10720 </a:t>
            </a:r>
            <a:endParaRPr lang="en-US" sz="1300"/>
          </a:p>
        </p:txBody>
      </p:sp>
      <p:sp>
        <p:nvSpPr>
          <p:cNvPr id="23" name="Text Box 22"/>
          <p:cNvSpPr txBox="1"/>
          <p:nvPr/>
        </p:nvSpPr>
        <p:spPr>
          <a:xfrm>
            <a:off x="2661285" y="3310255"/>
            <a:ext cx="8699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13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  <a:sym typeface="+mn-ea"/>
              </a:rPr>
              <a:t>156635</a:t>
            </a:r>
            <a:endParaRPr lang="en-US" sz="1300"/>
          </a:p>
        </p:txBody>
      </p:sp>
      <p:cxnSp>
        <p:nvCxnSpPr>
          <p:cNvPr id="24" name="Straight Connector 23"/>
          <p:cNvCxnSpPr/>
          <p:nvPr/>
        </p:nvCxnSpPr>
        <p:spPr>
          <a:xfrm>
            <a:off x="8171815" y="1325880"/>
            <a:ext cx="3175" cy="2332355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7218680" y="1713865"/>
            <a:ext cx="5143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200"/>
              <a:t>3</a:t>
            </a:r>
            <a:endParaRPr lang="en-GB" altLang="en-US" sz="1400"/>
          </a:p>
        </p:txBody>
      </p:sp>
      <p:sp>
        <p:nvSpPr>
          <p:cNvPr id="26" name="Text Box 25"/>
          <p:cNvSpPr txBox="1"/>
          <p:nvPr/>
        </p:nvSpPr>
        <p:spPr>
          <a:xfrm>
            <a:off x="7231380" y="1983740"/>
            <a:ext cx="514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400"/>
              <a:t>6</a:t>
            </a:r>
            <a:endParaRPr lang="en-GB" altLang="en-US" sz="1400"/>
          </a:p>
        </p:txBody>
      </p:sp>
      <p:sp>
        <p:nvSpPr>
          <p:cNvPr id="27" name="Text Box 26"/>
          <p:cNvSpPr txBox="1"/>
          <p:nvPr/>
        </p:nvSpPr>
        <p:spPr>
          <a:xfrm>
            <a:off x="7215505" y="2339340"/>
            <a:ext cx="514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400"/>
              <a:t>2</a:t>
            </a:r>
            <a:endParaRPr lang="en-GB" altLang="en-US" sz="1400"/>
          </a:p>
        </p:txBody>
      </p:sp>
      <p:sp>
        <p:nvSpPr>
          <p:cNvPr id="28" name="Text Box 27"/>
          <p:cNvSpPr txBox="1"/>
          <p:nvPr/>
        </p:nvSpPr>
        <p:spPr>
          <a:xfrm>
            <a:off x="7228205" y="2666365"/>
            <a:ext cx="514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400"/>
              <a:t>0</a:t>
            </a:r>
            <a:endParaRPr lang="en-GB" altLang="en-US" sz="1400"/>
          </a:p>
        </p:txBody>
      </p:sp>
      <p:sp>
        <p:nvSpPr>
          <p:cNvPr id="29" name="Text Box 28"/>
          <p:cNvSpPr txBox="1"/>
          <p:nvPr/>
        </p:nvSpPr>
        <p:spPr>
          <a:xfrm>
            <a:off x="7231380" y="3041015"/>
            <a:ext cx="514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400"/>
              <a:t>1</a:t>
            </a:r>
            <a:endParaRPr lang="en-GB" altLang="en-US" sz="1400"/>
          </a:p>
        </p:txBody>
      </p:sp>
      <p:sp>
        <p:nvSpPr>
          <p:cNvPr id="32" name="Rectangle 31"/>
          <p:cNvSpPr/>
          <p:nvPr/>
        </p:nvSpPr>
        <p:spPr>
          <a:xfrm>
            <a:off x="8174990" y="2362200"/>
            <a:ext cx="1409700" cy="314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8866505" y="2409190"/>
            <a:ext cx="4533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GB" altLang="en-US" sz="1400"/>
              <a:t>195</a:t>
            </a:r>
            <a:endParaRPr lang="en-GB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765" y="22431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EG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Section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Rework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Analysis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(Machine-wise)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3720" y="614707"/>
            <a:ext cx="85407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6365" y="1461239"/>
            <a:ext cx="6088483" cy="4018399"/>
            <a:chOff x="457200" y="1097282"/>
            <a:chExt cx="4572000" cy="3017520"/>
          </a:xfrm>
        </p:grpSpPr>
        <p:sp>
          <p:nvSpPr>
            <p:cNvPr id="5" name="object 5"/>
            <p:cNvSpPr/>
            <p:nvPr/>
          </p:nvSpPr>
          <p:spPr>
            <a:xfrm>
              <a:off x="457200" y="1097282"/>
              <a:ext cx="4572000" cy="3017520"/>
            </a:xfrm>
            <a:custGeom>
              <a:avLst/>
              <a:gdLst/>
              <a:ahLst/>
              <a:cxnLst/>
              <a:rect l="l" t="t" r="r" b="b"/>
              <a:pathLst>
                <a:path w="4572000" h="3017520">
                  <a:moveTo>
                    <a:pt x="4571644" y="0"/>
                  </a:moveTo>
                  <a:lnTo>
                    <a:pt x="0" y="0"/>
                  </a:lnTo>
                  <a:lnTo>
                    <a:pt x="0" y="3017164"/>
                  </a:lnTo>
                  <a:lnTo>
                    <a:pt x="2286000" y="3017164"/>
                  </a:lnTo>
                  <a:lnTo>
                    <a:pt x="4571644" y="3017164"/>
                  </a:lnTo>
                  <a:lnTo>
                    <a:pt x="4571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6" name="object 6"/>
            <p:cNvSpPr/>
            <p:nvPr/>
          </p:nvSpPr>
          <p:spPr>
            <a:xfrm>
              <a:off x="886675" y="3830766"/>
              <a:ext cx="4050665" cy="0"/>
            </a:xfrm>
            <a:custGeom>
              <a:avLst/>
              <a:gdLst/>
              <a:ahLst/>
              <a:cxnLst/>
              <a:rect l="l" t="t" r="r" b="b"/>
              <a:pathLst>
                <a:path w="4050665">
                  <a:moveTo>
                    <a:pt x="4050360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7" name="object 7"/>
            <p:cNvSpPr/>
            <p:nvPr/>
          </p:nvSpPr>
          <p:spPr>
            <a:xfrm>
              <a:off x="886675" y="1756805"/>
              <a:ext cx="4050665" cy="1814830"/>
            </a:xfrm>
            <a:custGeom>
              <a:avLst/>
              <a:gdLst/>
              <a:ahLst/>
              <a:cxnLst/>
              <a:rect l="l" t="t" r="r" b="b"/>
              <a:pathLst>
                <a:path w="4050665" h="1814829">
                  <a:moveTo>
                    <a:pt x="0" y="1814398"/>
                  </a:moveTo>
                  <a:lnTo>
                    <a:pt x="243001" y="1814398"/>
                  </a:lnTo>
                </a:path>
                <a:path w="4050665" h="1814829">
                  <a:moveTo>
                    <a:pt x="567004" y="1814398"/>
                  </a:moveTo>
                  <a:lnTo>
                    <a:pt x="1053007" y="1814398"/>
                  </a:lnTo>
                </a:path>
                <a:path w="4050665" h="1814829">
                  <a:moveTo>
                    <a:pt x="1377365" y="1814398"/>
                  </a:moveTo>
                  <a:lnTo>
                    <a:pt x="1863001" y="1814398"/>
                  </a:lnTo>
                </a:path>
                <a:path w="4050665" h="1814829">
                  <a:moveTo>
                    <a:pt x="2187003" y="1814398"/>
                  </a:moveTo>
                  <a:lnTo>
                    <a:pt x="2673007" y="1814398"/>
                  </a:lnTo>
                </a:path>
                <a:path w="4050665" h="1814829">
                  <a:moveTo>
                    <a:pt x="2997365" y="1814398"/>
                  </a:moveTo>
                  <a:lnTo>
                    <a:pt x="3483368" y="1814398"/>
                  </a:lnTo>
                </a:path>
                <a:path w="4050665" h="1814829">
                  <a:moveTo>
                    <a:pt x="3807358" y="1814398"/>
                  </a:moveTo>
                  <a:lnTo>
                    <a:pt x="4050360" y="1814398"/>
                  </a:lnTo>
                </a:path>
                <a:path w="4050665" h="1814829">
                  <a:moveTo>
                    <a:pt x="0" y="1555191"/>
                  </a:moveTo>
                  <a:lnTo>
                    <a:pt x="243001" y="1555191"/>
                  </a:lnTo>
                </a:path>
                <a:path w="4050665" h="1814829">
                  <a:moveTo>
                    <a:pt x="567004" y="1555191"/>
                  </a:moveTo>
                  <a:lnTo>
                    <a:pt x="1053007" y="1555191"/>
                  </a:lnTo>
                </a:path>
                <a:path w="4050665" h="1814829">
                  <a:moveTo>
                    <a:pt x="1377365" y="1555191"/>
                  </a:moveTo>
                  <a:lnTo>
                    <a:pt x="1863001" y="1555191"/>
                  </a:lnTo>
                </a:path>
                <a:path w="4050665" h="1814829">
                  <a:moveTo>
                    <a:pt x="2187003" y="1555191"/>
                  </a:moveTo>
                  <a:lnTo>
                    <a:pt x="2673007" y="1555191"/>
                  </a:lnTo>
                </a:path>
                <a:path w="4050665" h="1814829">
                  <a:moveTo>
                    <a:pt x="2997365" y="1555191"/>
                  </a:moveTo>
                  <a:lnTo>
                    <a:pt x="4050360" y="1555191"/>
                  </a:lnTo>
                </a:path>
                <a:path w="4050665" h="1814829">
                  <a:moveTo>
                    <a:pt x="0" y="1295996"/>
                  </a:moveTo>
                  <a:lnTo>
                    <a:pt x="243001" y="1295996"/>
                  </a:lnTo>
                </a:path>
                <a:path w="4050665" h="1814829">
                  <a:moveTo>
                    <a:pt x="567004" y="1295996"/>
                  </a:moveTo>
                  <a:lnTo>
                    <a:pt x="1053007" y="1295996"/>
                  </a:lnTo>
                </a:path>
                <a:path w="4050665" h="1814829">
                  <a:moveTo>
                    <a:pt x="1377365" y="1295996"/>
                  </a:moveTo>
                  <a:lnTo>
                    <a:pt x="1863001" y="1295996"/>
                  </a:lnTo>
                </a:path>
                <a:path w="4050665" h="1814829">
                  <a:moveTo>
                    <a:pt x="2187003" y="1295996"/>
                  </a:moveTo>
                  <a:lnTo>
                    <a:pt x="2673007" y="1295996"/>
                  </a:lnTo>
                </a:path>
                <a:path w="4050665" h="1814829">
                  <a:moveTo>
                    <a:pt x="2997365" y="1295996"/>
                  </a:moveTo>
                  <a:lnTo>
                    <a:pt x="4050360" y="1295996"/>
                  </a:lnTo>
                </a:path>
                <a:path w="4050665" h="1814829">
                  <a:moveTo>
                    <a:pt x="0" y="1036802"/>
                  </a:moveTo>
                  <a:lnTo>
                    <a:pt x="243001" y="1036802"/>
                  </a:lnTo>
                </a:path>
                <a:path w="4050665" h="1814829">
                  <a:moveTo>
                    <a:pt x="567004" y="1036802"/>
                  </a:moveTo>
                  <a:lnTo>
                    <a:pt x="1053007" y="1036802"/>
                  </a:lnTo>
                </a:path>
                <a:path w="4050665" h="1814829">
                  <a:moveTo>
                    <a:pt x="1377365" y="1036802"/>
                  </a:moveTo>
                  <a:lnTo>
                    <a:pt x="4050360" y="1036802"/>
                  </a:lnTo>
                </a:path>
                <a:path w="4050665" h="1814829">
                  <a:moveTo>
                    <a:pt x="0" y="777951"/>
                  </a:moveTo>
                  <a:lnTo>
                    <a:pt x="243001" y="777951"/>
                  </a:lnTo>
                </a:path>
                <a:path w="4050665" h="1814829">
                  <a:moveTo>
                    <a:pt x="567004" y="777951"/>
                  </a:moveTo>
                  <a:lnTo>
                    <a:pt x="4050360" y="777951"/>
                  </a:lnTo>
                </a:path>
                <a:path w="4050665" h="1814829">
                  <a:moveTo>
                    <a:pt x="0" y="518401"/>
                  </a:moveTo>
                  <a:lnTo>
                    <a:pt x="243001" y="518401"/>
                  </a:lnTo>
                </a:path>
                <a:path w="4050665" h="1814829">
                  <a:moveTo>
                    <a:pt x="567004" y="518401"/>
                  </a:moveTo>
                  <a:lnTo>
                    <a:pt x="4050360" y="518401"/>
                  </a:lnTo>
                </a:path>
                <a:path w="4050665" h="1814829">
                  <a:moveTo>
                    <a:pt x="0" y="259194"/>
                  </a:moveTo>
                  <a:lnTo>
                    <a:pt x="243001" y="259194"/>
                  </a:lnTo>
                </a:path>
                <a:path w="4050665" h="1814829">
                  <a:moveTo>
                    <a:pt x="567004" y="259194"/>
                  </a:moveTo>
                  <a:lnTo>
                    <a:pt x="4050360" y="259194"/>
                  </a:lnTo>
                </a:path>
                <a:path w="4050665" h="1814829">
                  <a:moveTo>
                    <a:pt x="0" y="0"/>
                  </a:moveTo>
                  <a:lnTo>
                    <a:pt x="243001" y="0"/>
                  </a:lnTo>
                </a:path>
                <a:path w="4050665" h="1814829">
                  <a:moveTo>
                    <a:pt x="567004" y="0"/>
                  </a:moveTo>
                  <a:lnTo>
                    <a:pt x="405036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8" name="object 8"/>
            <p:cNvSpPr/>
            <p:nvPr/>
          </p:nvSpPr>
          <p:spPr>
            <a:xfrm>
              <a:off x="886675" y="1238404"/>
              <a:ext cx="4050665" cy="259715"/>
            </a:xfrm>
            <a:custGeom>
              <a:avLst/>
              <a:gdLst/>
              <a:ahLst/>
              <a:cxnLst/>
              <a:rect l="l" t="t" r="r" b="b"/>
              <a:pathLst>
                <a:path w="4050665" h="259715">
                  <a:moveTo>
                    <a:pt x="4050360" y="259194"/>
                  </a:moveTo>
                  <a:lnTo>
                    <a:pt x="0" y="259194"/>
                  </a:lnTo>
                </a:path>
                <a:path w="4050665" h="259715">
                  <a:moveTo>
                    <a:pt x="4050360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832675" y="1238404"/>
              <a:ext cx="4104640" cy="2646680"/>
            </a:xfrm>
            <a:custGeom>
              <a:avLst/>
              <a:gdLst/>
              <a:ahLst/>
              <a:cxnLst/>
              <a:rect l="l" t="t" r="r" b="b"/>
              <a:pathLst>
                <a:path w="4104640" h="2646679">
                  <a:moveTo>
                    <a:pt x="54000" y="2646362"/>
                  </a:moveTo>
                  <a:lnTo>
                    <a:pt x="54000" y="2592362"/>
                  </a:lnTo>
                </a:path>
                <a:path w="4104640" h="2646679">
                  <a:moveTo>
                    <a:pt x="864006" y="2646362"/>
                  </a:moveTo>
                  <a:lnTo>
                    <a:pt x="864006" y="2592362"/>
                  </a:lnTo>
                </a:path>
                <a:path w="4104640" h="2646679">
                  <a:moveTo>
                    <a:pt x="1674368" y="2646362"/>
                  </a:moveTo>
                  <a:lnTo>
                    <a:pt x="1674368" y="2592362"/>
                  </a:lnTo>
                </a:path>
                <a:path w="4104640" h="2646679">
                  <a:moveTo>
                    <a:pt x="2484005" y="2646362"/>
                  </a:moveTo>
                  <a:lnTo>
                    <a:pt x="2484005" y="2592362"/>
                  </a:lnTo>
                </a:path>
                <a:path w="4104640" h="2646679">
                  <a:moveTo>
                    <a:pt x="3294367" y="2646362"/>
                  </a:moveTo>
                  <a:lnTo>
                    <a:pt x="3294367" y="2592362"/>
                  </a:lnTo>
                </a:path>
                <a:path w="4104640" h="2646679">
                  <a:moveTo>
                    <a:pt x="4104360" y="2646362"/>
                  </a:moveTo>
                  <a:lnTo>
                    <a:pt x="4104360" y="2592362"/>
                  </a:lnTo>
                </a:path>
                <a:path w="4104640" h="2646679">
                  <a:moveTo>
                    <a:pt x="54000" y="2592362"/>
                  </a:moveTo>
                  <a:lnTo>
                    <a:pt x="4104360" y="2592362"/>
                  </a:lnTo>
                </a:path>
                <a:path w="4104640" h="2646679">
                  <a:moveTo>
                    <a:pt x="0" y="2592362"/>
                  </a:moveTo>
                  <a:lnTo>
                    <a:pt x="54000" y="2592362"/>
                  </a:lnTo>
                </a:path>
                <a:path w="4104640" h="2646679">
                  <a:moveTo>
                    <a:pt x="0" y="2332799"/>
                  </a:moveTo>
                  <a:lnTo>
                    <a:pt x="54000" y="2332799"/>
                  </a:lnTo>
                </a:path>
                <a:path w="4104640" h="2646679">
                  <a:moveTo>
                    <a:pt x="0" y="2073592"/>
                  </a:moveTo>
                  <a:lnTo>
                    <a:pt x="54000" y="2073592"/>
                  </a:lnTo>
                </a:path>
                <a:path w="4104640" h="2646679">
                  <a:moveTo>
                    <a:pt x="0" y="1814398"/>
                  </a:moveTo>
                  <a:lnTo>
                    <a:pt x="54000" y="1814398"/>
                  </a:lnTo>
                </a:path>
                <a:path w="4104640" h="2646679">
                  <a:moveTo>
                    <a:pt x="0" y="1555203"/>
                  </a:moveTo>
                  <a:lnTo>
                    <a:pt x="54000" y="1555203"/>
                  </a:lnTo>
                </a:path>
                <a:path w="4104640" h="2646679">
                  <a:moveTo>
                    <a:pt x="0" y="1296352"/>
                  </a:moveTo>
                  <a:lnTo>
                    <a:pt x="54000" y="1296352"/>
                  </a:lnTo>
                </a:path>
                <a:path w="4104640" h="2646679">
                  <a:moveTo>
                    <a:pt x="0" y="1036802"/>
                  </a:moveTo>
                  <a:lnTo>
                    <a:pt x="54000" y="1036802"/>
                  </a:lnTo>
                </a:path>
                <a:path w="4104640" h="2646679">
                  <a:moveTo>
                    <a:pt x="0" y="777595"/>
                  </a:moveTo>
                  <a:lnTo>
                    <a:pt x="54000" y="777595"/>
                  </a:lnTo>
                </a:path>
                <a:path w="4104640" h="2646679">
                  <a:moveTo>
                    <a:pt x="0" y="518401"/>
                  </a:moveTo>
                  <a:lnTo>
                    <a:pt x="54000" y="518401"/>
                  </a:lnTo>
                </a:path>
                <a:path w="4104640" h="2646679">
                  <a:moveTo>
                    <a:pt x="0" y="259194"/>
                  </a:moveTo>
                  <a:lnTo>
                    <a:pt x="54000" y="259194"/>
                  </a:lnTo>
                </a:path>
                <a:path w="4104640" h="2646679">
                  <a:moveTo>
                    <a:pt x="0" y="0"/>
                  </a:moveTo>
                  <a:lnTo>
                    <a:pt x="54000" y="0"/>
                  </a:lnTo>
                </a:path>
                <a:path w="4104640" h="2646679">
                  <a:moveTo>
                    <a:pt x="54000" y="2592362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9677" y="1497598"/>
              <a:ext cx="3564890" cy="2333625"/>
            </a:xfrm>
            <a:custGeom>
              <a:avLst/>
              <a:gdLst/>
              <a:ahLst/>
              <a:cxnLst/>
              <a:rect l="l" t="t" r="r" b="b"/>
              <a:pathLst>
                <a:path w="3564890" h="2333625">
                  <a:moveTo>
                    <a:pt x="324002" y="0"/>
                  </a:moveTo>
                  <a:lnTo>
                    <a:pt x="0" y="0"/>
                  </a:lnTo>
                  <a:lnTo>
                    <a:pt x="0" y="2333167"/>
                  </a:lnTo>
                  <a:lnTo>
                    <a:pt x="324002" y="2333167"/>
                  </a:lnTo>
                  <a:lnTo>
                    <a:pt x="324002" y="0"/>
                  </a:lnTo>
                  <a:close/>
                </a:path>
                <a:path w="3564890" h="2333625">
                  <a:moveTo>
                    <a:pt x="1134364" y="1153439"/>
                  </a:moveTo>
                  <a:lnTo>
                    <a:pt x="810006" y="1153439"/>
                  </a:lnTo>
                  <a:lnTo>
                    <a:pt x="810006" y="2333167"/>
                  </a:lnTo>
                  <a:lnTo>
                    <a:pt x="1134364" y="2333167"/>
                  </a:lnTo>
                  <a:lnTo>
                    <a:pt x="1134364" y="1153439"/>
                  </a:lnTo>
                  <a:close/>
                </a:path>
                <a:path w="3564890" h="2333625">
                  <a:moveTo>
                    <a:pt x="1944001" y="1296009"/>
                  </a:moveTo>
                  <a:lnTo>
                    <a:pt x="1619999" y="1296009"/>
                  </a:lnTo>
                  <a:lnTo>
                    <a:pt x="1619999" y="2333167"/>
                  </a:lnTo>
                  <a:lnTo>
                    <a:pt x="1944001" y="2333167"/>
                  </a:lnTo>
                  <a:lnTo>
                    <a:pt x="1944001" y="1296009"/>
                  </a:lnTo>
                  <a:close/>
                </a:path>
                <a:path w="3564890" h="2333625">
                  <a:moveTo>
                    <a:pt x="2754363" y="1477441"/>
                  </a:moveTo>
                  <a:lnTo>
                    <a:pt x="2430005" y="1477441"/>
                  </a:lnTo>
                  <a:lnTo>
                    <a:pt x="2430005" y="2333167"/>
                  </a:lnTo>
                  <a:lnTo>
                    <a:pt x="2754363" y="2333167"/>
                  </a:lnTo>
                  <a:lnTo>
                    <a:pt x="2754363" y="1477441"/>
                  </a:lnTo>
                  <a:close/>
                </a:path>
                <a:path w="3564890" h="2333625">
                  <a:moveTo>
                    <a:pt x="3564356" y="2034717"/>
                  </a:moveTo>
                  <a:lnTo>
                    <a:pt x="3240367" y="2034717"/>
                  </a:lnTo>
                  <a:lnTo>
                    <a:pt x="3240367" y="2333167"/>
                  </a:lnTo>
                  <a:lnTo>
                    <a:pt x="3564356" y="2333167"/>
                  </a:lnTo>
                  <a:lnTo>
                    <a:pt x="3564356" y="2034717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4864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73457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2522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31570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0162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1644" y="1396985"/>
            <a:ext cx="375456" cy="3597275"/>
          </a:xfrm>
          <a:prstGeom prst="rect">
            <a:avLst/>
          </a:prstGeom>
        </p:spPr>
        <p:txBody>
          <a:bodyPr vert="horz" wrap="square" lIns="0" tIns="118387" rIns="0" bIns="0" rtlCol="0">
            <a:spAutoFit/>
          </a:bodyPr>
          <a:lstStyle/>
          <a:p>
            <a:pPr marR="14605" algn="r">
              <a:lnSpc>
                <a:spcPct val="100000"/>
              </a:lnSpc>
              <a:spcBef>
                <a:spcPts val="7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200</a:t>
            </a:r>
            <a:endParaRPr sz="1600">
              <a:latin typeface="Arial MT"/>
              <a:cs typeface="Arial MT"/>
            </a:endParaRPr>
          </a:p>
          <a:p>
            <a:pPr marR="14605" algn="r">
              <a:lnSpc>
                <a:spcPct val="100000"/>
              </a:lnSpc>
              <a:spcBef>
                <a:spcPts val="6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180</a:t>
            </a:r>
            <a:endParaRPr sz="1600">
              <a:latin typeface="Arial MT"/>
              <a:cs typeface="Arial MT"/>
            </a:endParaRPr>
          </a:p>
          <a:p>
            <a:pPr marR="14605" algn="r">
              <a:lnSpc>
                <a:spcPct val="100000"/>
              </a:lnSpc>
              <a:spcBef>
                <a:spcPts val="6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160</a:t>
            </a:r>
            <a:endParaRPr sz="1600">
              <a:latin typeface="Arial MT"/>
              <a:cs typeface="Arial MT"/>
            </a:endParaRPr>
          </a:p>
          <a:p>
            <a:pPr marR="14605" algn="r">
              <a:lnSpc>
                <a:spcPct val="100000"/>
              </a:lnSpc>
              <a:spcBef>
                <a:spcPts val="6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140</a:t>
            </a:r>
            <a:endParaRPr sz="1600">
              <a:latin typeface="Arial MT"/>
              <a:cs typeface="Arial MT"/>
            </a:endParaRPr>
          </a:p>
          <a:p>
            <a:pPr marR="14605" algn="r">
              <a:lnSpc>
                <a:spcPct val="100000"/>
              </a:lnSpc>
              <a:spcBef>
                <a:spcPts val="6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120</a:t>
            </a:r>
            <a:endParaRPr sz="1600">
              <a:latin typeface="Arial MT"/>
              <a:cs typeface="Arial MT"/>
            </a:endParaRPr>
          </a:p>
          <a:p>
            <a:pPr marR="14605" algn="r">
              <a:lnSpc>
                <a:spcPct val="100000"/>
              </a:lnSpc>
              <a:spcBef>
                <a:spcPts val="60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100</a:t>
            </a:r>
            <a:endParaRPr sz="16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80</a:t>
            </a:r>
            <a:endParaRPr sz="16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60</a:t>
            </a:r>
            <a:endParaRPr sz="16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0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40</a:t>
            </a:r>
            <a:endParaRPr sz="16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00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160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3554" y="1739431"/>
            <a:ext cx="28412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180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06710" y="3275759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91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85775" y="3465584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80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4840" y="3707161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66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43432" y="4449212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23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978103" y="1417113"/>
            <a:ext cx="4762547" cy="4152853"/>
            <a:chOff x="5234394" y="1064147"/>
            <a:chExt cx="3576320" cy="3118485"/>
          </a:xfrm>
        </p:grpSpPr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34394" y="1064147"/>
              <a:ext cx="3575875" cy="311833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03164" y="1096926"/>
              <a:ext cx="3474720" cy="3017520"/>
            </a:xfrm>
            <a:custGeom>
              <a:avLst/>
              <a:gdLst/>
              <a:ahLst/>
              <a:cxnLst/>
              <a:rect l="l" t="t" r="r" b="b"/>
              <a:pathLst>
                <a:path w="3474720" h="3017520">
                  <a:moveTo>
                    <a:pt x="3474351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737359" y="3017151"/>
                  </a:lnTo>
                  <a:lnTo>
                    <a:pt x="3474351" y="3017151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94382" y="1626489"/>
            <a:ext cx="1791874" cy="2622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EG</a:t>
            </a:r>
            <a:r>
              <a:rPr sz="1600" b="1" spc="-3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600" b="1" spc="-2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Summary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16152" y="2986589"/>
            <a:ext cx="2043024" cy="3651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200" b="1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EG</a:t>
            </a:r>
            <a:r>
              <a:rPr sz="1200" b="1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Rework:</a:t>
            </a:r>
            <a:r>
              <a:rPr sz="1200" b="1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440</a:t>
            </a:r>
            <a:r>
              <a:rPr sz="1200" b="1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pcs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b="1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PPM:</a:t>
            </a:r>
            <a:r>
              <a:rPr sz="1065" b="1" spc="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5,537</a:t>
            </a:r>
            <a:r>
              <a:rPr sz="1065" b="1" spc="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(Target:</a:t>
            </a:r>
            <a:r>
              <a:rPr sz="1065" b="1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&lt;3,000)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16152" y="3514883"/>
            <a:ext cx="3904240" cy="5937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EG.04: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180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pcs —</a:t>
            </a:r>
            <a:r>
              <a:rPr sz="1065" spc="-1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rework,</a:t>
            </a:r>
            <a:r>
              <a:rPr sz="1065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lowest</a:t>
            </a:r>
            <a:r>
              <a:rPr sz="1065" spc="-1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(2,610</a:t>
            </a:r>
            <a:r>
              <a:rPr sz="1065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good).</a:t>
            </a:r>
            <a:r>
              <a:rPr sz="1065" spc="-1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spc="50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rate</a:t>
            </a:r>
            <a:r>
              <a:rPr sz="1065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065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extremely</a:t>
            </a:r>
            <a:r>
              <a:rPr sz="1065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high.</a:t>
            </a:r>
            <a:endParaRPr sz="1065">
              <a:latin typeface="Calibri" panose="020F0502020204030204"/>
              <a:cs typeface="Calibri" panose="020F0502020204030204"/>
            </a:endParaRPr>
          </a:p>
          <a:p>
            <a:pPr marL="12700" marR="260985">
              <a:lnSpc>
                <a:spcPts val="960"/>
              </a:lnSpc>
              <a:spcBef>
                <a:spcPts val="25"/>
              </a:spcBef>
            </a:pP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EG.07:</a:t>
            </a:r>
            <a:r>
              <a:rPr sz="1065" spc="-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91</a:t>
            </a:r>
            <a:r>
              <a:rPr sz="1065" spc="-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</a:t>
            </a:r>
            <a:r>
              <a:rPr sz="1065" spc="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Good 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volume</a:t>
            </a:r>
            <a:r>
              <a:rPr sz="1065" spc="-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(39,723)</a:t>
            </a:r>
            <a:r>
              <a:rPr sz="1065" spc="-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keeps</a:t>
            </a:r>
            <a:r>
              <a:rPr sz="1065" spc="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PPM</a:t>
            </a:r>
            <a:r>
              <a:rPr sz="1065" spc="-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manageable.</a:t>
            </a:r>
            <a:r>
              <a:rPr sz="1065" spc="50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EG.08:</a:t>
            </a:r>
            <a:r>
              <a:rPr sz="1065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23</a:t>
            </a:r>
            <a:r>
              <a:rPr sz="1065" spc="-1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pcs —</a:t>
            </a:r>
            <a:r>
              <a:rPr sz="1065" spc="-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Best</a:t>
            </a:r>
            <a:r>
              <a:rPr sz="1065" spc="-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spc="-1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control.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1490" y="20780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  <a:effectLst/>
              </a:rPr>
              <a:t>EG</a:t>
            </a:r>
            <a:r>
              <a:rPr sz="2400" b="1" spc="-50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Section</a:t>
            </a:r>
            <a:r>
              <a:rPr sz="2400" b="1" spc="-50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–</a:t>
            </a:r>
            <a:r>
              <a:rPr sz="2400" b="1" spc="-45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Rejection</a:t>
            </a:r>
            <a:r>
              <a:rPr sz="2400" b="1" spc="-45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Analysis</a:t>
            </a:r>
            <a:r>
              <a:rPr sz="2400" b="1" spc="-50" dirty="0">
                <a:solidFill>
                  <a:schemeClr val="bg1"/>
                </a:solidFill>
                <a:effectLst/>
              </a:rPr>
              <a:t> </a:t>
            </a:r>
            <a:r>
              <a:rPr sz="2400" b="1" spc="-10" dirty="0">
                <a:solidFill>
                  <a:schemeClr val="bg1"/>
                </a:solidFill>
                <a:effectLst/>
              </a:rPr>
              <a:t>(Machine-wise)</a:t>
            </a:r>
            <a:endParaRPr sz="2400" b="1" spc="-1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445" y="606452"/>
            <a:ext cx="85407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6365" y="1461239"/>
            <a:ext cx="6088483" cy="4018399"/>
            <a:chOff x="457200" y="1097282"/>
            <a:chExt cx="4572000" cy="3017520"/>
          </a:xfrm>
        </p:grpSpPr>
        <p:sp>
          <p:nvSpPr>
            <p:cNvPr id="5" name="object 5"/>
            <p:cNvSpPr/>
            <p:nvPr/>
          </p:nvSpPr>
          <p:spPr>
            <a:xfrm>
              <a:off x="457200" y="1097282"/>
              <a:ext cx="4572000" cy="3017520"/>
            </a:xfrm>
            <a:custGeom>
              <a:avLst/>
              <a:gdLst/>
              <a:ahLst/>
              <a:cxnLst/>
              <a:rect l="l" t="t" r="r" b="b"/>
              <a:pathLst>
                <a:path w="4572000" h="3017520">
                  <a:moveTo>
                    <a:pt x="4571644" y="0"/>
                  </a:moveTo>
                  <a:lnTo>
                    <a:pt x="0" y="0"/>
                  </a:lnTo>
                  <a:lnTo>
                    <a:pt x="0" y="3017164"/>
                  </a:lnTo>
                  <a:lnTo>
                    <a:pt x="2286000" y="3017164"/>
                  </a:lnTo>
                  <a:lnTo>
                    <a:pt x="4571644" y="3017164"/>
                  </a:lnTo>
                  <a:lnTo>
                    <a:pt x="4571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6" name="object 6"/>
            <p:cNvSpPr/>
            <p:nvPr/>
          </p:nvSpPr>
          <p:spPr>
            <a:xfrm>
              <a:off x="886675" y="3830766"/>
              <a:ext cx="4050665" cy="0"/>
            </a:xfrm>
            <a:custGeom>
              <a:avLst/>
              <a:gdLst/>
              <a:ahLst/>
              <a:cxnLst/>
              <a:rect l="l" t="t" r="r" b="b"/>
              <a:pathLst>
                <a:path w="4050665">
                  <a:moveTo>
                    <a:pt x="4050360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7" name="object 7"/>
            <p:cNvSpPr/>
            <p:nvPr/>
          </p:nvSpPr>
          <p:spPr>
            <a:xfrm>
              <a:off x="886675" y="2275207"/>
              <a:ext cx="4050665" cy="1036955"/>
            </a:xfrm>
            <a:custGeom>
              <a:avLst/>
              <a:gdLst/>
              <a:ahLst/>
              <a:cxnLst/>
              <a:rect l="l" t="t" r="r" b="b"/>
              <a:pathLst>
                <a:path w="4050665" h="1036954">
                  <a:moveTo>
                    <a:pt x="0" y="1036789"/>
                  </a:moveTo>
                  <a:lnTo>
                    <a:pt x="243001" y="1036789"/>
                  </a:lnTo>
                </a:path>
                <a:path w="4050665" h="1036954">
                  <a:moveTo>
                    <a:pt x="567004" y="1036789"/>
                  </a:moveTo>
                  <a:lnTo>
                    <a:pt x="1053007" y="1036789"/>
                  </a:lnTo>
                </a:path>
                <a:path w="4050665" h="1036954">
                  <a:moveTo>
                    <a:pt x="1377365" y="1036789"/>
                  </a:moveTo>
                  <a:lnTo>
                    <a:pt x="4050360" y="1036789"/>
                  </a:lnTo>
                </a:path>
                <a:path w="4050665" h="1036954">
                  <a:moveTo>
                    <a:pt x="0" y="518401"/>
                  </a:moveTo>
                  <a:lnTo>
                    <a:pt x="243001" y="518401"/>
                  </a:lnTo>
                </a:path>
                <a:path w="4050665" h="1036954">
                  <a:moveTo>
                    <a:pt x="567004" y="518401"/>
                  </a:moveTo>
                  <a:lnTo>
                    <a:pt x="4050360" y="518401"/>
                  </a:lnTo>
                </a:path>
                <a:path w="4050665" h="1036954">
                  <a:moveTo>
                    <a:pt x="0" y="0"/>
                  </a:moveTo>
                  <a:lnTo>
                    <a:pt x="243001" y="0"/>
                  </a:lnTo>
                </a:path>
                <a:path w="4050665" h="1036954">
                  <a:moveTo>
                    <a:pt x="567004" y="0"/>
                  </a:moveTo>
                  <a:lnTo>
                    <a:pt x="405036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8" name="object 8"/>
            <p:cNvSpPr/>
            <p:nvPr/>
          </p:nvSpPr>
          <p:spPr>
            <a:xfrm>
              <a:off x="886675" y="1238404"/>
              <a:ext cx="4050665" cy="0"/>
            </a:xfrm>
            <a:custGeom>
              <a:avLst/>
              <a:gdLst/>
              <a:ahLst/>
              <a:cxnLst/>
              <a:rect l="l" t="t" r="r" b="b"/>
              <a:pathLst>
                <a:path w="4050665">
                  <a:moveTo>
                    <a:pt x="4050360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832675" y="1238404"/>
              <a:ext cx="4104640" cy="2646680"/>
            </a:xfrm>
            <a:custGeom>
              <a:avLst/>
              <a:gdLst/>
              <a:ahLst/>
              <a:cxnLst/>
              <a:rect l="l" t="t" r="r" b="b"/>
              <a:pathLst>
                <a:path w="4104640" h="2646679">
                  <a:moveTo>
                    <a:pt x="54000" y="2646362"/>
                  </a:moveTo>
                  <a:lnTo>
                    <a:pt x="54000" y="2592362"/>
                  </a:lnTo>
                </a:path>
                <a:path w="4104640" h="2646679">
                  <a:moveTo>
                    <a:pt x="864006" y="2646362"/>
                  </a:moveTo>
                  <a:lnTo>
                    <a:pt x="864006" y="2592362"/>
                  </a:lnTo>
                </a:path>
                <a:path w="4104640" h="2646679">
                  <a:moveTo>
                    <a:pt x="1674368" y="2646362"/>
                  </a:moveTo>
                  <a:lnTo>
                    <a:pt x="1674368" y="2592362"/>
                  </a:lnTo>
                </a:path>
                <a:path w="4104640" h="2646679">
                  <a:moveTo>
                    <a:pt x="2484005" y="2646362"/>
                  </a:moveTo>
                  <a:lnTo>
                    <a:pt x="2484005" y="2592362"/>
                  </a:lnTo>
                </a:path>
                <a:path w="4104640" h="2646679">
                  <a:moveTo>
                    <a:pt x="3294367" y="2646362"/>
                  </a:moveTo>
                  <a:lnTo>
                    <a:pt x="3294367" y="2592362"/>
                  </a:lnTo>
                </a:path>
                <a:path w="4104640" h="2646679">
                  <a:moveTo>
                    <a:pt x="4104360" y="2646362"/>
                  </a:moveTo>
                  <a:lnTo>
                    <a:pt x="4104360" y="2592362"/>
                  </a:lnTo>
                </a:path>
                <a:path w="4104640" h="2646679">
                  <a:moveTo>
                    <a:pt x="54000" y="2592362"/>
                  </a:moveTo>
                  <a:lnTo>
                    <a:pt x="4104360" y="2592362"/>
                  </a:lnTo>
                </a:path>
                <a:path w="4104640" h="2646679">
                  <a:moveTo>
                    <a:pt x="0" y="2592362"/>
                  </a:moveTo>
                  <a:lnTo>
                    <a:pt x="54000" y="2592362"/>
                  </a:lnTo>
                </a:path>
                <a:path w="4104640" h="2646679">
                  <a:moveTo>
                    <a:pt x="0" y="2073592"/>
                  </a:moveTo>
                  <a:lnTo>
                    <a:pt x="54000" y="2073592"/>
                  </a:lnTo>
                </a:path>
                <a:path w="4104640" h="2646679">
                  <a:moveTo>
                    <a:pt x="0" y="1555203"/>
                  </a:moveTo>
                  <a:lnTo>
                    <a:pt x="54000" y="1555203"/>
                  </a:lnTo>
                </a:path>
                <a:path w="4104640" h="2646679">
                  <a:moveTo>
                    <a:pt x="0" y="1036802"/>
                  </a:moveTo>
                  <a:lnTo>
                    <a:pt x="54000" y="1036802"/>
                  </a:lnTo>
                </a:path>
                <a:path w="4104640" h="2646679">
                  <a:moveTo>
                    <a:pt x="0" y="518401"/>
                  </a:moveTo>
                  <a:lnTo>
                    <a:pt x="54000" y="518401"/>
                  </a:lnTo>
                </a:path>
                <a:path w="4104640" h="2646679">
                  <a:moveTo>
                    <a:pt x="0" y="0"/>
                  </a:moveTo>
                  <a:lnTo>
                    <a:pt x="54000" y="0"/>
                  </a:lnTo>
                </a:path>
                <a:path w="4104640" h="2646679">
                  <a:moveTo>
                    <a:pt x="54000" y="2592362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9677" y="1808647"/>
              <a:ext cx="3564890" cy="2022475"/>
            </a:xfrm>
            <a:custGeom>
              <a:avLst/>
              <a:gdLst/>
              <a:ahLst/>
              <a:cxnLst/>
              <a:rect l="l" t="t" r="r" b="b"/>
              <a:pathLst>
                <a:path w="3564890" h="2022475">
                  <a:moveTo>
                    <a:pt x="324002" y="0"/>
                  </a:moveTo>
                  <a:lnTo>
                    <a:pt x="0" y="0"/>
                  </a:lnTo>
                  <a:lnTo>
                    <a:pt x="0" y="2022119"/>
                  </a:lnTo>
                  <a:lnTo>
                    <a:pt x="324002" y="2022119"/>
                  </a:lnTo>
                  <a:lnTo>
                    <a:pt x="324002" y="0"/>
                  </a:lnTo>
                  <a:close/>
                </a:path>
                <a:path w="3564890" h="2022475">
                  <a:moveTo>
                    <a:pt x="1134364" y="1347838"/>
                  </a:moveTo>
                  <a:lnTo>
                    <a:pt x="810006" y="1347838"/>
                  </a:lnTo>
                  <a:lnTo>
                    <a:pt x="810006" y="2022119"/>
                  </a:lnTo>
                  <a:lnTo>
                    <a:pt x="1134364" y="2022119"/>
                  </a:lnTo>
                  <a:lnTo>
                    <a:pt x="1134364" y="1347838"/>
                  </a:lnTo>
                  <a:close/>
                </a:path>
                <a:path w="3564890" h="2022475">
                  <a:moveTo>
                    <a:pt x="1944001" y="1513789"/>
                  </a:moveTo>
                  <a:lnTo>
                    <a:pt x="1619999" y="1513789"/>
                  </a:lnTo>
                  <a:lnTo>
                    <a:pt x="1619999" y="2022119"/>
                  </a:lnTo>
                  <a:lnTo>
                    <a:pt x="1944001" y="2022119"/>
                  </a:lnTo>
                  <a:lnTo>
                    <a:pt x="1944001" y="1513789"/>
                  </a:lnTo>
                  <a:close/>
                </a:path>
                <a:path w="3564890" h="2022475">
                  <a:moveTo>
                    <a:pt x="2754363" y="1835277"/>
                  </a:moveTo>
                  <a:lnTo>
                    <a:pt x="2430005" y="1835277"/>
                  </a:lnTo>
                  <a:lnTo>
                    <a:pt x="2430005" y="2022119"/>
                  </a:lnTo>
                  <a:lnTo>
                    <a:pt x="2754363" y="2022119"/>
                  </a:lnTo>
                  <a:lnTo>
                    <a:pt x="2754363" y="1835277"/>
                  </a:lnTo>
                  <a:close/>
                </a:path>
                <a:path w="3564890" h="2022475">
                  <a:moveTo>
                    <a:pt x="3564356" y="1845716"/>
                  </a:moveTo>
                  <a:lnTo>
                    <a:pt x="3240367" y="1845716"/>
                  </a:lnTo>
                  <a:lnTo>
                    <a:pt x="3240367" y="2022119"/>
                  </a:lnTo>
                  <a:lnTo>
                    <a:pt x="3564356" y="2022119"/>
                  </a:lnTo>
                  <a:lnTo>
                    <a:pt x="3564356" y="1845716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4864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73457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2522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31570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0162" y="519124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9827" y="4951089"/>
            <a:ext cx="147137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735" y="4260334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50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644" y="3570069"/>
            <a:ext cx="362772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1644" y="2879331"/>
            <a:ext cx="362772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150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1644" y="2189065"/>
            <a:ext cx="362772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200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1644" y="1498800"/>
            <a:ext cx="362772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250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1380" y="2153600"/>
            <a:ext cx="5428052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1945" algn="l"/>
                <a:tab pos="4062095" algn="l"/>
              </a:tabLst>
            </a:pPr>
            <a:r>
              <a:rPr sz="1200" u="sng" dirty="0">
                <a:solidFill>
                  <a:srgbClr val="1D283A"/>
                </a:solidFill>
                <a:uFill>
                  <a:solidFill>
                    <a:srgbClr val="E1E7EF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u="sng" spc="-25" dirty="0">
                <a:solidFill>
                  <a:srgbClr val="1D283A"/>
                </a:solidFill>
                <a:uFill>
                  <a:solidFill>
                    <a:srgbClr val="E1E7EF"/>
                  </a:solidFill>
                </a:uFill>
                <a:latin typeface="Arial MT"/>
                <a:cs typeface="Arial MT"/>
              </a:rPr>
              <a:t>195</a:t>
            </a:r>
            <a:r>
              <a:rPr sz="1200" u="sng" dirty="0">
                <a:solidFill>
                  <a:srgbClr val="1D283A"/>
                </a:solidFill>
                <a:uFill>
                  <a:solidFill>
                    <a:srgbClr val="E1E7EF"/>
                  </a:solidFill>
                </a:uFill>
                <a:latin typeface="Arial MT"/>
                <a:cs typeface="Arial MT"/>
              </a:rPr>
              <a:t>	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6710" y="3948756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65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5775" y="4169751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49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64840" y="4597805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18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3432" y="4611707"/>
            <a:ext cx="19533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D283A"/>
                </a:solidFill>
                <a:latin typeface="Arial MT"/>
                <a:cs typeface="Arial MT"/>
              </a:rPr>
              <a:t>17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978103" y="1417113"/>
            <a:ext cx="4762547" cy="4152853"/>
            <a:chOff x="5234394" y="1064147"/>
            <a:chExt cx="3576320" cy="3118485"/>
          </a:xfrm>
        </p:grpSpPr>
        <p:pic>
          <p:nvPicPr>
            <p:cNvPr id="28" name="object 2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34394" y="1064147"/>
              <a:ext cx="3575875" cy="311833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03164" y="1096926"/>
              <a:ext cx="3474720" cy="3017520"/>
            </a:xfrm>
            <a:custGeom>
              <a:avLst/>
              <a:gdLst/>
              <a:ahLst/>
              <a:cxnLst/>
              <a:rect l="l" t="t" r="r" b="b"/>
              <a:pathLst>
                <a:path w="3474720" h="3017520">
                  <a:moveTo>
                    <a:pt x="3474351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737359" y="3017151"/>
                  </a:lnTo>
                  <a:lnTo>
                    <a:pt x="3474351" y="3017151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294382" y="1626489"/>
            <a:ext cx="1941550" cy="2622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EG</a:t>
            </a:r>
            <a:r>
              <a:rPr sz="1600" b="1" spc="-2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600" b="1" spc="-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Summary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16152" y="3067600"/>
            <a:ext cx="2141962" cy="3651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200" b="1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EG</a:t>
            </a:r>
            <a:r>
              <a:rPr sz="1200" b="1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Rejection:</a:t>
            </a:r>
            <a:r>
              <a:rPr sz="1200" b="1" spc="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344 </a:t>
            </a:r>
            <a:r>
              <a:rPr sz="1200" b="1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pcs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Rejection PPM:</a:t>
            </a:r>
            <a:r>
              <a:rPr sz="1065" b="1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3,697 </a:t>
            </a:r>
            <a:r>
              <a:rPr sz="1065" b="1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(Target: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&lt;1,500)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16152" y="3595911"/>
            <a:ext cx="3916079" cy="4667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EG.05: 195 pcs</a:t>
            </a:r>
            <a:r>
              <a:rPr sz="1065" spc="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count.</a:t>
            </a:r>
            <a:r>
              <a:rPr sz="1065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Root</a:t>
            </a:r>
            <a:r>
              <a:rPr sz="1065" spc="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cause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analysis</a:t>
            </a:r>
            <a:r>
              <a:rPr sz="1065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needed.</a:t>
            </a:r>
            <a:r>
              <a:rPr sz="1065" spc="50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EG.04: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65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</a:t>
            </a:r>
            <a:r>
              <a:rPr sz="1065" spc="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1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High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relative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to low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output.</a:t>
            </a:r>
            <a:endParaRPr sz="1065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955"/>
              </a:lnSpc>
            </a:pP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EG.07:</a:t>
            </a:r>
            <a:r>
              <a:rPr sz="1065" spc="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17 pcs</a:t>
            </a:r>
            <a:r>
              <a:rPr sz="1065" spc="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065" spc="-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Best </a:t>
            </a:r>
            <a:r>
              <a:rPr sz="1065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performer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in</a:t>
            </a:r>
            <a:r>
              <a:rPr sz="1065" spc="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control.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2745" y="19891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Production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Achievement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HO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Machines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875" y="589942"/>
            <a:ext cx="274150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Good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Machine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2826" y="1067053"/>
            <a:ext cx="7915028" cy="4261938"/>
            <a:chOff x="274320" y="1005841"/>
            <a:chExt cx="5943600" cy="3200400"/>
          </a:xfrm>
        </p:grpSpPr>
        <p:sp>
          <p:nvSpPr>
            <p:cNvPr id="5" name="object 5"/>
            <p:cNvSpPr/>
            <p:nvPr/>
          </p:nvSpPr>
          <p:spPr>
            <a:xfrm>
              <a:off x="274320" y="1005841"/>
              <a:ext cx="5943600" cy="3200400"/>
            </a:xfrm>
            <a:custGeom>
              <a:avLst/>
              <a:gdLst/>
              <a:ahLst/>
              <a:cxnLst/>
              <a:rect l="l" t="t" r="r" b="b"/>
              <a:pathLst>
                <a:path w="5943600" h="3200400">
                  <a:moveTo>
                    <a:pt x="5943244" y="0"/>
                  </a:moveTo>
                  <a:lnTo>
                    <a:pt x="0" y="0"/>
                  </a:lnTo>
                  <a:lnTo>
                    <a:pt x="0" y="3200044"/>
                  </a:lnTo>
                  <a:lnTo>
                    <a:pt x="2971800" y="3200044"/>
                  </a:lnTo>
                  <a:lnTo>
                    <a:pt x="5943244" y="3200044"/>
                  </a:lnTo>
                  <a:lnTo>
                    <a:pt x="5943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6" name="object 6"/>
            <p:cNvSpPr/>
            <p:nvPr/>
          </p:nvSpPr>
          <p:spPr>
            <a:xfrm>
              <a:off x="721436" y="3956407"/>
              <a:ext cx="5377815" cy="0"/>
            </a:xfrm>
            <a:custGeom>
              <a:avLst/>
              <a:gdLst/>
              <a:ahLst/>
              <a:cxnLst/>
              <a:rect l="l" t="t" r="r" b="b"/>
              <a:pathLst>
                <a:path w="5377815">
                  <a:moveTo>
                    <a:pt x="5377319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7" name="object 7"/>
            <p:cNvSpPr/>
            <p:nvPr/>
          </p:nvSpPr>
          <p:spPr>
            <a:xfrm>
              <a:off x="721436" y="3550680"/>
              <a:ext cx="5377815" cy="0"/>
            </a:xfrm>
            <a:custGeom>
              <a:avLst/>
              <a:gdLst/>
              <a:ahLst/>
              <a:cxnLst/>
              <a:rect l="l" t="t" r="r" b="b"/>
              <a:pathLst>
                <a:path w="5377815">
                  <a:moveTo>
                    <a:pt x="0" y="0"/>
                  </a:moveTo>
                  <a:lnTo>
                    <a:pt x="161290" y="0"/>
                  </a:lnTo>
                </a:path>
                <a:path w="5377815">
                  <a:moveTo>
                    <a:pt x="376199" y="0"/>
                  </a:moveTo>
                  <a:lnTo>
                    <a:pt x="698766" y="0"/>
                  </a:lnTo>
                </a:path>
                <a:path w="5377815">
                  <a:moveTo>
                    <a:pt x="914044" y="0"/>
                  </a:moveTo>
                  <a:lnTo>
                    <a:pt x="1236598" y="0"/>
                  </a:lnTo>
                </a:path>
                <a:path w="5377815">
                  <a:moveTo>
                    <a:pt x="1451889" y="0"/>
                  </a:moveTo>
                  <a:lnTo>
                    <a:pt x="1774444" y="0"/>
                  </a:lnTo>
                </a:path>
                <a:path w="5377815">
                  <a:moveTo>
                    <a:pt x="1989721" y="0"/>
                  </a:moveTo>
                  <a:lnTo>
                    <a:pt x="2312289" y="0"/>
                  </a:lnTo>
                </a:path>
                <a:path w="5377815">
                  <a:moveTo>
                    <a:pt x="2526842" y="0"/>
                  </a:moveTo>
                  <a:lnTo>
                    <a:pt x="2849765" y="0"/>
                  </a:lnTo>
                </a:path>
                <a:path w="5377815">
                  <a:moveTo>
                    <a:pt x="3064687" y="0"/>
                  </a:moveTo>
                  <a:lnTo>
                    <a:pt x="3387242" y="0"/>
                  </a:lnTo>
                </a:path>
                <a:path w="5377815">
                  <a:moveTo>
                    <a:pt x="3602520" y="0"/>
                  </a:moveTo>
                  <a:lnTo>
                    <a:pt x="3925087" y="0"/>
                  </a:lnTo>
                </a:path>
                <a:path w="5377815">
                  <a:moveTo>
                    <a:pt x="4140365" y="0"/>
                  </a:moveTo>
                  <a:lnTo>
                    <a:pt x="4462919" y="0"/>
                  </a:lnTo>
                </a:path>
                <a:path w="5377815">
                  <a:moveTo>
                    <a:pt x="4678210" y="0"/>
                  </a:moveTo>
                  <a:lnTo>
                    <a:pt x="5377319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8" name="object 8"/>
            <p:cNvSpPr/>
            <p:nvPr/>
          </p:nvSpPr>
          <p:spPr>
            <a:xfrm>
              <a:off x="721436" y="1928166"/>
              <a:ext cx="5377815" cy="1217295"/>
            </a:xfrm>
            <a:custGeom>
              <a:avLst/>
              <a:gdLst/>
              <a:ahLst/>
              <a:cxnLst/>
              <a:rect l="l" t="t" r="r" b="b"/>
              <a:pathLst>
                <a:path w="5377815" h="1217295">
                  <a:moveTo>
                    <a:pt x="0" y="1216799"/>
                  </a:moveTo>
                  <a:lnTo>
                    <a:pt x="698766" y="1216799"/>
                  </a:lnTo>
                </a:path>
                <a:path w="5377815" h="1217295">
                  <a:moveTo>
                    <a:pt x="914044" y="1216799"/>
                  </a:moveTo>
                  <a:lnTo>
                    <a:pt x="1236598" y="1216799"/>
                  </a:lnTo>
                </a:path>
                <a:path w="5377815" h="1217295">
                  <a:moveTo>
                    <a:pt x="1451889" y="1216799"/>
                  </a:moveTo>
                  <a:lnTo>
                    <a:pt x="1774444" y="1216799"/>
                  </a:lnTo>
                </a:path>
                <a:path w="5377815" h="1217295">
                  <a:moveTo>
                    <a:pt x="1989721" y="1216799"/>
                  </a:moveTo>
                  <a:lnTo>
                    <a:pt x="3387242" y="1216799"/>
                  </a:lnTo>
                </a:path>
                <a:path w="5377815" h="1217295">
                  <a:moveTo>
                    <a:pt x="3602520" y="1216799"/>
                  </a:moveTo>
                  <a:lnTo>
                    <a:pt x="3925087" y="1216799"/>
                  </a:lnTo>
                </a:path>
                <a:path w="5377815" h="1217295">
                  <a:moveTo>
                    <a:pt x="4140365" y="1216799"/>
                  </a:moveTo>
                  <a:lnTo>
                    <a:pt x="4462919" y="1216799"/>
                  </a:lnTo>
                </a:path>
                <a:path w="5377815" h="1217295">
                  <a:moveTo>
                    <a:pt x="4678210" y="1216799"/>
                  </a:moveTo>
                  <a:lnTo>
                    <a:pt x="5377319" y="1216799"/>
                  </a:lnTo>
                </a:path>
                <a:path w="5377815" h="1217295">
                  <a:moveTo>
                    <a:pt x="0" y="811072"/>
                  </a:moveTo>
                  <a:lnTo>
                    <a:pt x="1774444" y="811072"/>
                  </a:lnTo>
                </a:path>
                <a:path w="5377815" h="1217295">
                  <a:moveTo>
                    <a:pt x="1989721" y="811072"/>
                  </a:moveTo>
                  <a:lnTo>
                    <a:pt x="3387242" y="811072"/>
                  </a:lnTo>
                </a:path>
                <a:path w="5377815" h="1217295">
                  <a:moveTo>
                    <a:pt x="3602520" y="811072"/>
                  </a:moveTo>
                  <a:lnTo>
                    <a:pt x="3925087" y="811072"/>
                  </a:lnTo>
                </a:path>
                <a:path w="5377815" h="1217295">
                  <a:moveTo>
                    <a:pt x="4140365" y="811072"/>
                  </a:moveTo>
                  <a:lnTo>
                    <a:pt x="4462919" y="811072"/>
                  </a:lnTo>
                </a:path>
                <a:path w="5377815" h="1217295">
                  <a:moveTo>
                    <a:pt x="4678210" y="811072"/>
                  </a:moveTo>
                  <a:lnTo>
                    <a:pt x="5377319" y="811072"/>
                  </a:lnTo>
                </a:path>
                <a:path w="5377815" h="1217295">
                  <a:moveTo>
                    <a:pt x="0" y="405714"/>
                  </a:moveTo>
                  <a:lnTo>
                    <a:pt x="1774444" y="405714"/>
                  </a:lnTo>
                </a:path>
                <a:path w="5377815" h="1217295">
                  <a:moveTo>
                    <a:pt x="1989721" y="405714"/>
                  </a:moveTo>
                  <a:lnTo>
                    <a:pt x="3387242" y="405714"/>
                  </a:lnTo>
                </a:path>
                <a:path w="5377815" h="1217295">
                  <a:moveTo>
                    <a:pt x="3602520" y="405714"/>
                  </a:moveTo>
                  <a:lnTo>
                    <a:pt x="4462919" y="405714"/>
                  </a:lnTo>
                </a:path>
                <a:path w="5377815" h="1217295">
                  <a:moveTo>
                    <a:pt x="4678210" y="405714"/>
                  </a:moveTo>
                  <a:lnTo>
                    <a:pt x="5377319" y="405714"/>
                  </a:lnTo>
                </a:path>
                <a:path w="5377815" h="1217295">
                  <a:moveTo>
                    <a:pt x="0" y="0"/>
                  </a:moveTo>
                  <a:lnTo>
                    <a:pt x="1774444" y="0"/>
                  </a:lnTo>
                </a:path>
                <a:path w="5377815" h="1217295">
                  <a:moveTo>
                    <a:pt x="1989721" y="0"/>
                  </a:moveTo>
                  <a:lnTo>
                    <a:pt x="3387242" y="0"/>
                  </a:lnTo>
                </a:path>
                <a:path w="5377815" h="1217295">
                  <a:moveTo>
                    <a:pt x="3602520" y="0"/>
                  </a:moveTo>
                  <a:lnTo>
                    <a:pt x="5377319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721436" y="1522439"/>
              <a:ext cx="5377815" cy="0"/>
            </a:xfrm>
            <a:custGeom>
              <a:avLst/>
              <a:gdLst/>
              <a:ahLst/>
              <a:cxnLst/>
              <a:rect l="l" t="t" r="r" b="b"/>
              <a:pathLst>
                <a:path w="5377815">
                  <a:moveTo>
                    <a:pt x="0" y="0"/>
                  </a:moveTo>
                  <a:lnTo>
                    <a:pt x="3387242" y="0"/>
                  </a:lnTo>
                </a:path>
                <a:path w="5377815">
                  <a:moveTo>
                    <a:pt x="3602520" y="0"/>
                  </a:moveTo>
                  <a:lnTo>
                    <a:pt x="5377319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721436" y="1117081"/>
              <a:ext cx="5377815" cy="0"/>
            </a:xfrm>
            <a:custGeom>
              <a:avLst/>
              <a:gdLst/>
              <a:ahLst/>
              <a:cxnLst/>
              <a:rect l="l" t="t" r="r" b="b"/>
              <a:pathLst>
                <a:path w="5377815">
                  <a:moveTo>
                    <a:pt x="5377319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1" name="object 11"/>
            <p:cNvSpPr/>
            <p:nvPr/>
          </p:nvSpPr>
          <p:spPr>
            <a:xfrm>
              <a:off x="667435" y="1117081"/>
              <a:ext cx="5431790" cy="2893695"/>
            </a:xfrm>
            <a:custGeom>
              <a:avLst/>
              <a:gdLst/>
              <a:ahLst/>
              <a:cxnLst/>
              <a:rect l="l" t="t" r="r" b="b"/>
              <a:pathLst>
                <a:path w="5431790" h="2893695">
                  <a:moveTo>
                    <a:pt x="54000" y="2893326"/>
                  </a:moveTo>
                  <a:lnTo>
                    <a:pt x="54000" y="2839326"/>
                  </a:lnTo>
                </a:path>
                <a:path w="5431790" h="2893695">
                  <a:moveTo>
                    <a:pt x="591489" y="2893326"/>
                  </a:moveTo>
                  <a:lnTo>
                    <a:pt x="591489" y="2839326"/>
                  </a:lnTo>
                </a:path>
                <a:path w="5431790" h="2893695">
                  <a:moveTo>
                    <a:pt x="1129322" y="2893326"/>
                  </a:moveTo>
                  <a:lnTo>
                    <a:pt x="1129322" y="2839326"/>
                  </a:lnTo>
                </a:path>
                <a:path w="5431790" h="2893695">
                  <a:moveTo>
                    <a:pt x="1667167" y="2893326"/>
                  </a:moveTo>
                  <a:lnTo>
                    <a:pt x="1667167" y="2839326"/>
                  </a:lnTo>
                </a:path>
                <a:path w="5431790" h="2893695">
                  <a:moveTo>
                    <a:pt x="2204999" y="2893326"/>
                  </a:moveTo>
                  <a:lnTo>
                    <a:pt x="2204999" y="2839326"/>
                  </a:lnTo>
                </a:path>
                <a:path w="5431790" h="2893695">
                  <a:moveTo>
                    <a:pt x="2742488" y="2893326"/>
                  </a:moveTo>
                  <a:lnTo>
                    <a:pt x="2742488" y="2839326"/>
                  </a:lnTo>
                </a:path>
                <a:path w="5431790" h="2893695">
                  <a:moveTo>
                    <a:pt x="3279965" y="2893326"/>
                  </a:moveTo>
                  <a:lnTo>
                    <a:pt x="3279965" y="2839326"/>
                  </a:lnTo>
                </a:path>
                <a:path w="5431790" h="2893695">
                  <a:moveTo>
                    <a:pt x="3817810" y="2893326"/>
                  </a:moveTo>
                  <a:lnTo>
                    <a:pt x="3817810" y="2839326"/>
                  </a:lnTo>
                </a:path>
                <a:path w="5431790" h="2893695">
                  <a:moveTo>
                    <a:pt x="4355642" y="2893326"/>
                  </a:moveTo>
                  <a:lnTo>
                    <a:pt x="4355642" y="2839326"/>
                  </a:lnTo>
                </a:path>
                <a:path w="5431790" h="2893695">
                  <a:moveTo>
                    <a:pt x="4893487" y="2893326"/>
                  </a:moveTo>
                  <a:lnTo>
                    <a:pt x="4893487" y="2839326"/>
                  </a:lnTo>
                </a:path>
                <a:path w="5431790" h="2893695">
                  <a:moveTo>
                    <a:pt x="5431320" y="2893326"/>
                  </a:moveTo>
                  <a:lnTo>
                    <a:pt x="5431320" y="2839326"/>
                  </a:lnTo>
                </a:path>
                <a:path w="5431790" h="2893695">
                  <a:moveTo>
                    <a:pt x="54000" y="2839326"/>
                  </a:moveTo>
                  <a:lnTo>
                    <a:pt x="5431320" y="2839326"/>
                  </a:lnTo>
                </a:path>
                <a:path w="5431790" h="2893695">
                  <a:moveTo>
                    <a:pt x="0" y="2839326"/>
                  </a:moveTo>
                  <a:lnTo>
                    <a:pt x="54000" y="2839326"/>
                  </a:lnTo>
                </a:path>
                <a:path w="5431790" h="2893695">
                  <a:moveTo>
                    <a:pt x="0" y="2433599"/>
                  </a:moveTo>
                  <a:lnTo>
                    <a:pt x="54000" y="2433599"/>
                  </a:lnTo>
                </a:path>
                <a:path w="5431790" h="2893695">
                  <a:moveTo>
                    <a:pt x="0" y="2027885"/>
                  </a:moveTo>
                  <a:lnTo>
                    <a:pt x="54000" y="2027885"/>
                  </a:lnTo>
                </a:path>
                <a:path w="5431790" h="2893695">
                  <a:moveTo>
                    <a:pt x="0" y="1622158"/>
                  </a:moveTo>
                  <a:lnTo>
                    <a:pt x="54000" y="1622158"/>
                  </a:lnTo>
                </a:path>
                <a:path w="5431790" h="2893695">
                  <a:moveTo>
                    <a:pt x="0" y="1216799"/>
                  </a:moveTo>
                  <a:lnTo>
                    <a:pt x="54000" y="1216799"/>
                  </a:lnTo>
                </a:path>
                <a:path w="5431790" h="2893695">
                  <a:moveTo>
                    <a:pt x="0" y="811085"/>
                  </a:moveTo>
                  <a:lnTo>
                    <a:pt x="54000" y="811085"/>
                  </a:lnTo>
                </a:path>
                <a:path w="5431790" h="2893695">
                  <a:moveTo>
                    <a:pt x="0" y="405358"/>
                  </a:moveTo>
                  <a:lnTo>
                    <a:pt x="54000" y="405358"/>
                  </a:lnTo>
                </a:path>
                <a:path w="5431790" h="2893695">
                  <a:moveTo>
                    <a:pt x="0" y="0"/>
                  </a:moveTo>
                  <a:lnTo>
                    <a:pt x="54000" y="0"/>
                  </a:lnTo>
                </a:path>
                <a:path w="5431790" h="2893695">
                  <a:moveTo>
                    <a:pt x="54000" y="2839326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2" name="object 12"/>
            <p:cNvSpPr/>
            <p:nvPr/>
          </p:nvSpPr>
          <p:spPr>
            <a:xfrm>
              <a:off x="882726" y="1403999"/>
              <a:ext cx="5054600" cy="2552700"/>
            </a:xfrm>
            <a:custGeom>
              <a:avLst/>
              <a:gdLst/>
              <a:ahLst/>
              <a:cxnLst/>
              <a:rect l="l" t="t" r="r" b="b"/>
              <a:pathLst>
                <a:path w="5054600" h="2552700">
                  <a:moveTo>
                    <a:pt x="214909" y="2120760"/>
                  </a:moveTo>
                  <a:lnTo>
                    <a:pt x="0" y="2120760"/>
                  </a:lnTo>
                  <a:lnTo>
                    <a:pt x="0" y="2552408"/>
                  </a:lnTo>
                  <a:lnTo>
                    <a:pt x="214909" y="2552408"/>
                  </a:lnTo>
                  <a:lnTo>
                    <a:pt x="214909" y="2120760"/>
                  </a:lnTo>
                  <a:close/>
                </a:path>
                <a:path w="5054600" h="2552700">
                  <a:moveTo>
                    <a:pt x="752741" y="1706765"/>
                  </a:moveTo>
                  <a:lnTo>
                    <a:pt x="537476" y="1706765"/>
                  </a:lnTo>
                  <a:lnTo>
                    <a:pt x="537476" y="2552408"/>
                  </a:lnTo>
                  <a:lnTo>
                    <a:pt x="752741" y="2552408"/>
                  </a:lnTo>
                  <a:lnTo>
                    <a:pt x="752741" y="1706765"/>
                  </a:lnTo>
                  <a:close/>
                </a:path>
                <a:path w="5054600" h="2552700">
                  <a:moveTo>
                    <a:pt x="1290599" y="1668246"/>
                  </a:moveTo>
                  <a:lnTo>
                    <a:pt x="1075309" y="1668246"/>
                  </a:lnTo>
                  <a:lnTo>
                    <a:pt x="1075309" y="2552408"/>
                  </a:lnTo>
                  <a:lnTo>
                    <a:pt x="1290599" y="2552408"/>
                  </a:lnTo>
                  <a:lnTo>
                    <a:pt x="1290599" y="1668246"/>
                  </a:lnTo>
                  <a:close/>
                </a:path>
                <a:path w="5054600" h="2552700">
                  <a:moveTo>
                    <a:pt x="1828431" y="383044"/>
                  </a:moveTo>
                  <a:lnTo>
                    <a:pt x="1613154" y="383044"/>
                  </a:lnTo>
                  <a:lnTo>
                    <a:pt x="1613154" y="2552408"/>
                  </a:lnTo>
                  <a:lnTo>
                    <a:pt x="1828431" y="2552408"/>
                  </a:lnTo>
                  <a:lnTo>
                    <a:pt x="1828431" y="383044"/>
                  </a:lnTo>
                  <a:close/>
                </a:path>
                <a:path w="5054600" h="2552700">
                  <a:moveTo>
                    <a:pt x="2365552" y="1776958"/>
                  </a:moveTo>
                  <a:lnTo>
                    <a:pt x="2150999" y="1776958"/>
                  </a:lnTo>
                  <a:lnTo>
                    <a:pt x="2150999" y="2552408"/>
                  </a:lnTo>
                  <a:lnTo>
                    <a:pt x="2365552" y="2552408"/>
                  </a:lnTo>
                  <a:lnTo>
                    <a:pt x="2365552" y="1776958"/>
                  </a:lnTo>
                  <a:close/>
                </a:path>
                <a:path w="5054600" h="2552700">
                  <a:moveTo>
                    <a:pt x="2903397" y="1807565"/>
                  </a:moveTo>
                  <a:lnTo>
                    <a:pt x="2688475" y="1807565"/>
                  </a:lnTo>
                  <a:lnTo>
                    <a:pt x="2688475" y="2552408"/>
                  </a:lnTo>
                  <a:lnTo>
                    <a:pt x="2903397" y="2552408"/>
                  </a:lnTo>
                  <a:lnTo>
                    <a:pt x="2903397" y="1807565"/>
                  </a:lnTo>
                  <a:close/>
                </a:path>
                <a:path w="5054600" h="2552700">
                  <a:moveTo>
                    <a:pt x="3441230" y="0"/>
                  </a:moveTo>
                  <a:lnTo>
                    <a:pt x="3225952" y="0"/>
                  </a:lnTo>
                  <a:lnTo>
                    <a:pt x="3225952" y="2552408"/>
                  </a:lnTo>
                  <a:lnTo>
                    <a:pt x="3441230" y="2552408"/>
                  </a:lnTo>
                  <a:lnTo>
                    <a:pt x="3441230" y="0"/>
                  </a:lnTo>
                  <a:close/>
                </a:path>
                <a:path w="5054600" h="2552700">
                  <a:moveTo>
                    <a:pt x="3979075" y="1009446"/>
                  </a:moveTo>
                  <a:lnTo>
                    <a:pt x="3763797" y="1009446"/>
                  </a:lnTo>
                  <a:lnTo>
                    <a:pt x="3763797" y="2552408"/>
                  </a:lnTo>
                  <a:lnTo>
                    <a:pt x="3979075" y="2552408"/>
                  </a:lnTo>
                  <a:lnTo>
                    <a:pt x="3979075" y="1009446"/>
                  </a:lnTo>
                  <a:close/>
                </a:path>
                <a:path w="5054600" h="2552700">
                  <a:moveTo>
                    <a:pt x="4516920" y="901801"/>
                  </a:moveTo>
                  <a:lnTo>
                    <a:pt x="4301629" y="901801"/>
                  </a:lnTo>
                  <a:lnTo>
                    <a:pt x="4301629" y="2552408"/>
                  </a:lnTo>
                  <a:lnTo>
                    <a:pt x="4516920" y="2552408"/>
                  </a:lnTo>
                  <a:lnTo>
                    <a:pt x="4516920" y="901801"/>
                  </a:lnTo>
                  <a:close/>
                </a:path>
                <a:path w="5054600" h="2552700">
                  <a:moveTo>
                    <a:pt x="5054397" y="2359799"/>
                  </a:moveTo>
                  <a:lnTo>
                    <a:pt x="4839474" y="2359799"/>
                  </a:lnTo>
                  <a:lnTo>
                    <a:pt x="4839474" y="2552408"/>
                  </a:lnTo>
                  <a:lnTo>
                    <a:pt x="5054397" y="2552408"/>
                  </a:lnTo>
                  <a:lnTo>
                    <a:pt x="5054397" y="2359799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43982" y="5082306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HO.02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0191" y="5082306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HO.03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76383" y="5082306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HO.06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22574" y="5082306"/>
            <a:ext cx="51244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07138" y="5082306"/>
            <a:ext cx="56403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3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4484" y="5082306"/>
            <a:ext cx="51244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9032" y="5082306"/>
            <a:ext cx="56403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3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86866" y="5082306"/>
            <a:ext cx="51244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71433" y="5082306"/>
            <a:ext cx="56403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3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89251" y="5082306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HO.10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154" y="4899196"/>
            <a:ext cx="99783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4568" y="3818744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20000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4568" y="3278509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30000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4568" y="2738275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40000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4568" y="2198040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50000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4568" y="1657806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60000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4568" y="1118062"/>
            <a:ext cx="35347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70000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4568" y="4230020"/>
            <a:ext cx="986842" cy="2876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10,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639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10000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72638" y="3678759"/>
            <a:ext cx="345013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20,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845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88847" y="3627481"/>
            <a:ext cx="345013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21,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793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05039" y="1915704"/>
            <a:ext cx="345013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53,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485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38143" y="3772234"/>
            <a:ext cx="328100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19,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113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53844" y="3812976"/>
            <a:ext cx="328100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18,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357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53123" y="1405675"/>
            <a:ext cx="345013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62,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921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69332" y="2749775"/>
            <a:ext cx="345013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38,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043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85524" y="2606442"/>
            <a:ext cx="345013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D283A"/>
                </a:solidFill>
                <a:latin typeface="Arial MT"/>
                <a:cs typeface="Arial MT"/>
              </a:rPr>
              <a:t>40,</a:t>
            </a:r>
            <a:r>
              <a:rPr sz="800" spc="-95" dirty="0">
                <a:solidFill>
                  <a:srgbClr val="1D283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D283A"/>
                </a:solidFill>
                <a:latin typeface="Arial MT"/>
                <a:cs typeface="Arial MT"/>
              </a:rPr>
              <a:t>690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27118" y="4548313"/>
            <a:ext cx="281591" cy="13906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1D283A"/>
                </a:solidFill>
                <a:latin typeface="Arial MT"/>
                <a:cs typeface="Arial MT"/>
              </a:rPr>
              <a:t>4,747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439338" y="1295343"/>
            <a:ext cx="3423081" cy="4396392"/>
            <a:chOff x="6331673" y="972707"/>
            <a:chExt cx="2570480" cy="3301365"/>
          </a:xfrm>
        </p:grpSpPr>
        <p:pic>
          <p:nvPicPr>
            <p:cNvPr id="41" name="object 4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331673" y="972707"/>
              <a:ext cx="2570035" cy="33012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400444" y="1005486"/>
              <a:ext cx="2468880" cy="3200400"/>
            </a:xfrm>
            <a:custGeom>
              <a:avLst/>
              <a:gdLst/>
              <a:ahLst/>
              <a:cxnLst/>
              <a:rect l="l" t="t" r="r" b="b"/>
              <a:pathLst>
                <a:path w="2468879" h="3200400">
                  <a:moveTo>
                    <a:pt x="2468511" y="0"/>
                  </a:moveTo>
                  <a:lnTo>
                    <a:pt x="0" y="0"/>
                  </a:lnTo>
                  <a:lnTo>
                    <a:pt x="0" y="3200031"/>
                  </a:lnTo>
                  <a:lnTo>
                    <a:pt x="1234440" y="3200031"/>
                  </a:lnTo>
                  <a:lnTo>
                    <a:pt x="2468511" y="3200031"/>
                  </a:lnTo>
                  <a:lnTo>
                    <a:pt x="24685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755618" y="1474514"/>
            <a:ext cx="1609220" cy="2622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HO</a:t>
            </a:r>
            <a:r>
              <a:rPr sz="1600" b="1" spc="-3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Fleet</a:t>
            </a:r>
            <a:r>
              <a:rPr sz="1600" b="1" spc="-2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Summary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877388" y="2002352"/>
            <a:ext cx="629989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065" spc="-5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Good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005973" y="1981753"/>
            <a:ext cx="58939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b="1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290,633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877388" y="2611200"/>
            <a:ext cx="74414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065" spc="-5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Rework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389497" y="2590602"/>
            <a:ext cx="205486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b="1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54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877388" y="3220049"/>
            <a:ext cx="844777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065" spc="-5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Rejection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389497" y="3199450"/>
            <a:ext cx="205486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b="1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44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877388" y="3828897"/>
            <a:ext cx="1025740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1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Near-</a:t>
            </a:r>
            <a:r>
              <a:rPr sz="1065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065" spc="-3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Defects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935007" y="3808298"/>
            <a:ext cx="658740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Excellent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  <p:sp>
        <p:nvSpPr>
          <p:cNvPr id="54" name="Striped Right Arrow 53">
            <a:hlinkClick r:id="rId2" action="ppaction://hlinksldjump"/>
          </p:cNvPr>
          <p:cNvSpPr/>
          <p:nvPr/>
        </p:nvSpPr>
        <p:spPr>
          <a:xfrm rot="10800000">
            <a:off x="11479530" y="5779135"/>
            <a:ext cx="525145" cy="447675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6885" y="19446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HO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Section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4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Production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Summary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606452"/>
            <a:ext cx="3158401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Near-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330" spc="-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Defects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Performance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7205" y="1219835"/>
          <a:ext cx="11068050" cy="370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4675"/>
                <a:gridCol w="2459355"/>
                <a:gridCol w="1844675"/>
                <a:gridCol w="1844675"/>
                <a:gridCol w="3074670"/>
              </a:tblGrid>
              <a:tr h="3086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Good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Rework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Rejection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10,639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10,639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20,845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20,846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21,793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21,793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HO.07</a:t>
                      </a:r>
                      <a:r>
                        <a:rPr sz="1200" b="1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IR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53,485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53,490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HO.07</a:t>
                      </a:r>
                      <a:r>
                        <a:rPr sz="1200" b="1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19,113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19,128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HO.08</a:t>
                      </a:r>
                      <a:r>
                        <a:rPr sz="1200" b="1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IR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18,357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18,357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HO.08</a:t>
                      </a:r>
                      <a:r>
                        <a:rPr sz="1200" b="1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62,921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62,954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HO.09</a:t>
                      </a:r>
                      <a:r>
                        <a:rPr sz="1200" b="1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IR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38,043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38,043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HO.09</a:t>
                      </a:r>
                      <a:r>
                        <a:rPr sz="1200" b="1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40,690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40,695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4,747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5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4,747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Grand</a:t>
                      </a:r>
                      <a:r>
                        <a:rPr sz="1200" b="1" spc="-2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290,633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44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290,692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15891" y="5540048"/>
            <a:ext cx="10959270" cy="608848"/>
          </a:xfrm>
          <a:custGeom>
            <a:avLst/>
            <a:gdLst/>
            <a:ahLst/>
            <a:cxnLst/>
            <a:rect l="l" t="t" r="r" b="b"/>
            <a:pathLst>
              <a:path w="8229600" h="457200">
                <a:moveTo>
                  <a:pt x="8229231" y="0"/>
                </a:moveTo>
                <a:lnTo>
                  <a:pt x="0" y="0"/>
                </a:lnTo>
                <a:lnTo>
                  <a:pt x="0" y="456831"/>
                </a:lnTo>
                <a:lnTo>
                  <a:pt x="4114800" y="456831"/>
                </a:lnTo>
                <a:lnTo>
                  <a:pt x="8229231" y="456831"/>
                </a:lnTo>
                <a:lnTo>
                  <a:pt x="8229231" y="0"/>
                </a:lnTo>
                <a:close/>
              </a:path>
            </a:pathLst>
          </a:custGeom>
          <a:solidFill>
            <a:srgbClr val="EBFCF4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6" name="object 6"/>
          <p:cNvSpPr txBox="1"/>
          <p:nvPr/>
        </p:nvSpPr>
        <p:spPr>
          <a:xfrm>
            <a:off x="962359" y="5735996"/>
            <a:ext cx="7956464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HO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Section: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Outstanding quality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—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Near-zero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200" b="1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(54 pcs)</a:t>
            </a:r>
            <a:r>
              <a:rPr sz="1200" b="1" spc="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(44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pcs)</a:t>
            </a:r>
            <a:r>
              <a:rPr sz="1200" b="1" spc="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200" b="1" spc="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290,633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good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output.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7832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4040" y="19129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HO</a:t>
            </a:r>
            <a:r>
              <a:rPr sz="2400" b="1" spc="-3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Section</a:t>
            </a:r>
            <a:r>
              <a:rPr sz="2400" b="1" spc="-3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2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Rework</a:t>
            </a:r>
            <a:r>
              <a:rPr sz="2400" b="1" spc="-3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Analysis</a:t>
            </a:r>
            <a:r>
              <a:rPr sz="2400" b="1" spc="-20" dirty="0">
                <a:solidFill>
                  <a:schemeClr val="bg1"/>
                </a:solidFill>
              </a:rPr>
              <a:t> (Machine-</a:t>
            </a:r>
            <a:r>
              <a:rPr sz="2400" b="1" spc="-10" dirty="0">
                <a:solidFill>
                  <a:schemeClr val="bg1"/>
                </a:solidFill>
              </a:rPr>
              <a:t>wise)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3250" y="581687"/>
            <a:ext cx="85407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6365" y="1461239"/>
            <a:ext cx="6697332" cy="4018399"/>
            <a:chOff x="457200" y="1097282"/>
            <a:chExt cx="5029200" cy="3017520"/>
          </a:xfrm>
        </p:grpSpPr>
        <p:sp>
          <p:nvSpPr>
            <p:cNvPr id="5" name="object 5"/>
            <p:cNvSpPr/>
            <p:nvPr/>
          </p:nvSpPr>
          <p:spPr>
            <a:xfrm>
              <a:off x="457200" y="1097282"/>
              <a:ext cx="5029200" cy="3017520"/>
            </a:xfrm>
            <a:custGeom>
              <a:avLst/>
              <a:gdLst/>
              <a:ahLst/>
              <a:cxnLst/>
              <a:rect l="l" t="t" r="r" b="b"/>
              <a:pathLst>
                <a:path w="5029200" h="3017520">
                  <a:moveTo>
                    <a:pt x="5028844" y="0"/>
                  </a:moveTo>
                  <a:lnTo>
                    <a:pt x="0" y="0"/>
                  </a:lnTo>
                  <a:lnTo>
                    <a:pt x="0" y="3017164"/>
                  </a:lnTo>
                  <a:lnTo>
                    <a:pt x="2514600" y="3017164"/>
                  </a:lnTo>
                  <a:lnTo>
                    <a:pt x="5028844" y="3017164"/>
                  </a:lnTo>
                  <a:lnTo>
                    <a:pt x="502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6" name="object 6"/>
            <p:cNvSpPr/>
            <p:nvPr/>
          </p:nvSpPr>
          <p:spPr>
            <a:xfrm>
              <a:off x="810006" y="3868561"/>
              <a:ext cx="4575810" cy="0"/>
            </a:xfrm>
            <a:custGeom>
              <a:avLst/>
              <a:gdLst/>
              <a:ahLst/>
              <a:cxnLst/>
              <a:rect l="l" t="t" r="r" b="b"/>
              <a:pathLst>
                <a:path w="4575810">
                  <a:moveTo>
                    <a:pt x="457523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7" name="object 7"/>
            <p:cNvSpPr/>
            <p:nvPr/>
          </p:nvSpPr>
          <p:spPr>
            <a:xfrm>
              <a:off x="810006" y="2114996"/>
              <a:ext cx="4575810" cy="1315085"/>
            </a:xfrm>
            <a:custGeom>
              <a:avLst/>
              <a:gdLst/>
              <a:ahLst/>
              <a:cxnLst/>
              <a:rect l="l" t="t" r="r" b="b"/>
              <a:pathLst>
                <a:path w="4575810" h="1315085">
                  <a:moveTo>
                    <a:pt x="0" y="1315085"/>
                  </a:moveTo>
                  <a:lnTo>
                    <a:pt x="137159" y="1315085"/>
                  </a:lnTo>
                </a:path>
                <a:path w="4575810" h="1315085">
                  <a:moveTo>
                    <a:pt x="320040" y="1315085"/>
                  </a:moveTo>
                  <a:lnTo>
                    <a:pt x="4575238" y="1315085"/>
                  </a:lnTo>
                </a:path>
                <a:path w="4575810" h="1315085">
                  <a:moveTo>
                    <a:pt x="0" y="876604"/>
                  </a:moveTo>
                  <a:lnTo>
                    <a:pt x="137159" y="876604"/>
                  </a:lnTo>
                </a:path>
                <a:path w="4575810" h="1315085">
                  <a:moveTo>
                    <a:pt x="320040" y="876604"/>
                  </a:moveTo>
                  <a:lnTo>
                    <a:pt x="4575238" y="876604"/>
                  </a:lnTo>
                </a:path>
                <a:path w="4575810" h="1315085">
                  <a:moveTo>
                    <a:pt x="0" y="438480"/>
                  </a:moveTo>
                  <a:lnTo>
                    <a:pt x="137159" y="438480"/>
                  </a:lnTo>
                </a:path>
                <a:path w="4575810" h="1315085">
                  <a:moveTo>
                    <a:pt x="320040" y="438480"/>
                  </a:moveTo>
                  <a:lnTo>
                    <a:pt x="4575238" y="438480"/>
                  </a:lnTo>
                </a:path>
                <a:path w="4575810" h="1315085">
                  <a:moveTo>
                    <a:pt x="0" y="0"/>
                  </a:moveTo>
                  <a:lnTo>
                    <a:pt x="137159" y="0"/>
                  </a:lnTo>
                </a:path>
                <a:path w="4575810" h="1315085">
                  <a:moveTo>
                    <a:pt x="320040" y="0"/>
                  </a:moveTo>
                  <a:lnTo>
                    <a:pt x="4575238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8" name="object 8"/>
            <p:cNvSpPr/>
            <p:nvPr/>
          </p:nvSpPr>
          <p:spPr>
            <a:xfrm>
              <a:off x="810006" y="1676516"/>
              <a:ext cx="4575810" cy="0"/>
            </a:xfrm>
            <a:custGeom>
              <a:avLst/>
              <a:gdLst/>
              <a:ahLst/>
              <a:cxnLst/>
              <a:rect l="l" t="t" r="r" b="b"/>
              <a:pathLst>
                <a:path w="4575810">
                  <a:moveTo>
                    <a:pt x="0" y="0"/>
                  </a:moveTo>
                  <a:lnTo>
                    <a:pt x="137159" y="0"/>
                  </a:lnTo>
                </a:path>
                <a:path w="4575810">
                  <a:moveTo>
                    <a:pt x="320040" y="0"/>
                  </a:moveTo>
                  <a:lnTo>
                    <a:pt x="4575238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810006" y="1238404"/>
              <a:ext cx="4575810" cy="0"/>
            </a:xfrm>
            <a:custGeom>
              <a:avLst/>
              <a:gdLst/>
              <a:ahLst/>
              <a:cxnLst/>
              <a:rect l="l" t="t" r="r" b="b"/>
              <a:pathLst>
                <a:path w="4575810">
                  <a:moveTo>
                    <a:pt x="457523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756005" y="1238404"/>
              <a:ext cx="4629785" cy="2684780"/>
            </a:xfrm>
            <a:custGeom>
              <a:avLst/>
              <a:gdLst/>
              <a:ahLst/>
              <a:cxnLst/>
              <a:rect l="l" t="t" r="r" b="b"/>
              <a:pathLst>
                <a:path w="4629785" h="2684779">
                  <a:moveTo>
                    <a:pt x="54000" y="2684157"/>
                  </a:moveTo>
                  <a:lnTo>
                    <a:pt x="54000" y="2630157"/>
                  </a:lnTo>
                </a:path>
                <a:path w="4629785" h="2684779">
                  <a:moveTo>
                    <a:pt x="511556" y="2684157"/>
                  </a:moveTo>
                  <a:lnTo>
                    <a:pt x="511556" y="2630157"/>
                  </a:lnTo>
                </a:path>
                <a:path w="4629785" h="2684779">
                  <a:moveTo>
                    <a:pt x="969111" y="2684157"/>
                  </a:moveTo>
                  <a:lnTo>
                    <a:pt x="969111" y="2630157"/>
                  </a:lnTo>
                </a:path>
                <a:path w="4629785" h="2684779">
                  <a:moveTo>
                    <a:pt x="1426679" y="2684157"/>
                  </a:moveTo>
                  <a:lnTo>
                    <a:pt x="1426679" y="2630157"/>
                  </a:lnTo>
                </a:path>
                <a:path w="4629785" h="2684779">
                  <a:moveTo>
                    <a:pt x="1884235" y="2684157"/>
                  </a:moveTo>
                  <a:lnTo>
                    <a:pt x="1884235" y="2630157"/>
                  </a:lnTo>
                </a:path>
                <a:path w="4629785" h="2684779">
                  <a:moveTo>
                    <a:pt x="2341435" y="2684157"/>
                  </a:moveTo>
                  <a:lnTo>
                    <a:pt x="2341435" y="2630157"/>
                  </a:lnTo>
                </a:path>
                <a:path w="4629785" h="2684779">
                  <a:moveTo>
                    <a:pt x="2798991" y="2684157"/>
                  </a:moveTo>
                  <a:lnTo>
                    <a:pt x="2798991" y="2630157"/>
                  </a:lnTo>
                </a:path>
                <a:path w="4629785" h="2684779">
                  <a:moveTo>
                    <a:pt x="3256559" y="2684157"/>
                  </a:moveTo>
                  <a:lnTo>
                    <a:pt x="3256559" y="2630157"/>
                  </a:lnTo>
                </a:path>
                <a:path w="4629785" h="2684779">
                  <a:moveTo>
                    <a:pt x="3714115" y="2684157"/>
                  </a:moveTo>
                  <a:lnTo>
                    <a:pt x="3714115" y="2630157"/>
                  </a:lnTo>
                </a:path>
                <a:path w="4629785" h="2684779">
                  <a:moveTo>
                    <a:pt x="4171670" y="2684157"/>
                  </a:moveTo>
                  <a:lnTo>
                    <a:pt x="4171670" y="2630157"/>
                  </a:lnTo>
                </a:path>
                <a:path w="4629785" h="2684779">
                  <a:moveTo>
                    <a:pt x="4629238" y="2684157"/>
                  </a:moveTo>
                  <a:lnTo>
                    <a:pt x="4629238" y="2630157"/>
                  </a:lnTo>
                </a:path>
                <a:path w="4629785" h="2684779">
                  <a:moveTo>
                    <a:pt x="54000" y="2630157"/>
                  </a:moveTo>
                  <a:lnTo>
                    <a:pt x="4629238" y="2630157"/>
                  </a:lnTo>
                </a:path>
                <a:path w="4629785" h="2684779">
                  <a:moveTo>
                    <a:pt x="0" y="2630157"/>
                  </a:moveTo>
                  <a:lnTo>
                    <a:pt x="54000" y="2630157"/>
                  </a:lnTo>
                </a:path>
                <a:path w="4629785" h="2684779">
                  <a:moveTo>
                    <a:pt x="0" y="2191677"/>
                  </a:moveTo>
                  <a:lnTo>
                    <a:pt x="54000" y="2191677"/>
                  </a:lnTo>
                </a:path>
                <a:path w="4629785" h="2684779">
                  <a:moveTo>
                    <a:pt x="0" y="1753196"/>
                  </a:moveTo>
                  <a:lnTo>
                    <a:pt x="54000" y="1753196"/>
                  </a:lnTo>
                </a:path>
                <a:path w="4629785" h="2684779">
                  <a:moveTo>
                    <a:pt x="0" y="1315072"/>
                  </a:moveTo>
                  <a:lnTo>
                    <a:pt x="54000" y="1315072"/>
                  </a:lnTo>
                </a:path>
                <a:path w="4629785" h="2684779">
                  <a:moveTo>
                    <a:pt x="0" y="876592"/>
                  </a:moveTo>
                  <a:lnTo>
                    <a:pt x="54000" y="876592"/>
                  </a:lnTo>
                </a:path>
                <a:path w="4629785" h="2684779">
                  <a:moveTo>
                    <a:pt x="0" y="438111"/>
                  </a:moveTo>
                  <a:lnTo>
                    <a:pt x="54000" y="438111"/>
                  </a:lnTo>
                </a:path>
                <a:path w="4629785" h="2684779">
                  <a:moveTo>
                    <a:pt x="0" y="0"/>
                  </a:moveTo>
                  <a:lnTo>
                    <a:pt x="54000" y="0"/>
                  </a:lnTo>
                </a:path>
                <a:path w="4629785" h="2684779">
                  <a:moveTo>
                    <a:pt x="54000" y="2630157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1" name="object 11"/>
            <p:cNvSpPr/>
            <p:nvPr/>
          </p:nvSpPr>
          <p:spPr>
            <a:xfrm>
              <a:off x="947166" y="1501205"/>
              <a:ext cx="182880" cy="2367915"/>
            </a:xfrm>
            <a:custGeom>
              <a:avLst/>
              <a:gdLst/>
              <a:ahLst/>
              <a:cxnLst/>
              <a:rect l="l" t="t" r="r" b="b"/>
              <a:pathLst>
                <a:path w="182880" h="2367915">
                  <a:moveTo>
                    <a:pt x="182880" y="0"/>
                  </a:moveTo>
                  <a:lnTo>
                    <a:pt x="0" y="0"/>
                  </a:lnTo>
                  <a:lnTo>
                    <a:pt x="0" y="2367356"/>
                  </a:lnTo>
                  <a:lnTo>
                    <a:pt x="182880" y="2367356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07062" y="5237738"/>
            <a:ext cx="56403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3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7978" y="523773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HO.02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7265" y="523773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HO.03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36537" y="523773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HO.06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7727" y="5001420"/>
            <a:ext cx="147137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3635" y="4417569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3635" y="3833718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635" y="3249865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30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3635" y="2082161"/>
            <a:ext cx="248613" cy="83566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50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40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3635" y="1498800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60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7378" y="1773933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54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4533" y="4926634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3821" y="4926634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63093" y="4926634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75841" y="4926634"/>
            <a:ext cx="3483120" cy="57912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  <a:tabLst>
                <a:tab pos="617855" algn="l"/>
                <a:tab pos="1075055" algn="l"/>
                <a:tab pos="1532890" algn="l"/>
                <a:tab pos="1989455" algn="l"/>
                <a:tab pos="2447925" algn="l"/>
              </a:tabLst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2352675" algn="l"/>
              </a:tabLst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r>
              <a:rPr sz="930" spc="229" dirty="0">
                <a:solidFill>
                  <a:srgbClr val="6A717F"/>
                </a:solidFill>
                <a:latin typeface="Arial MT"/>
                <a:cs typeface="Arial MT"/>
              </a:rPr>
              <a:t> 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4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r>
              <a:rPr sz="930" spc="45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4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r>
              <a:rPr sz="930" spc="165" dirty="0">
                <a:solidFill>
                  <a:srgbClr val="6A717F"/>
                </a:solidFill>
                <a:latin typeface="Arial MT"/>
                <a:cs typeface="Arial MT"/>
              </a:rPr>
              <a:t> 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4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r>
              <a:rPr sz="930" spc="45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	</a:t>
            </a:r>
            <a:r>
              <a:rPr sz="930" spc="-20" dirty="0">
                <a:solidFill>
                  <a:srgbClr val="6A717F"/>
                </a:solidFill>
                <a:latin typeface="Arial MT"/>
                <a:cs typeface="Arial MT"/>
              </a:rPr>
              <a:t>HO.10</a:t>
            </a:r>
            <a:endParaRPr sz="93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86951" y="1417113"/>
            <a:ext cx="4153699" cy="4152853"/>
            <a:chOff x="5691594" y="1064147"/>
            <a:chExt cx="3119120" cy="3118485"/>
          </a:xfrm>
        </p:grpSpPr>
        <p:pic>
          <p:nvPicPr>
            <p:cNvPr id="28" name="object 2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91594" y="1064147"/>
              <a:ext cx="3118675" cy="311833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60364" y="1096926"/>
              <a:ext cx="3017520" cy="3017520"/>
            </a:xfrm>
            <a:custGeom>
              <a:avLst/>
              <a:gdLst/>
              <a:ahLst/>
              <a:cxnLst/>
              <a:rect l="l" t="t" r="r" b="b"/>
              <a:pathLst>
                <a:path w="3017520" h="3017520">
                  <a:moveTo>
                    <a:pt x="3017151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508759" y="3017151"/>
                  </a:lnTo>
                  <a:lnTo>
                    <a:pt x="3017151" y="3017151"/>
                  </a:lnTo>
                  <a:lnTo>
                    <a:pt x="30171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903230" y="1626489"/>
            <a:ext cx="1832464" cy="2622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HO</a:t>
            </a:r>
            <a:r>
              <a:rPr sz="1600" b="1" spc="-2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600" b="1" spc="-2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Summary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25000" y="2944393"/>
            <a:ext cx="2348294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200" spc="-3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Rework:</a:t>
            </a:r>
            <a:r>
              <a:rPr sz="1200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54</a:t>
            </a:r>
            <a:r>
              <a:rPr sz="1200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pcs</a:t>
            </a:r>
            <a:r>
              <a:rPr sz="1200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(Only</a:t>
            </a:r>
            <a:r>
              <a:rPr sz="1200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HO.07</a:t>
            </a:r>
            <a:r>
              <a:rPr sz="1200" spc="-3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OR)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25000" y="3310649"/>
            <a:ext cx="2486976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HO.07 OR: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54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spc="-1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out</a:t>
            </a:r>
            <a:r>
              <a:rPr sz="1065" spc="-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065" spc="-1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19,113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good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25000" y="3655832"/>
            <a:ext cx="2344066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1200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1200" b="1" spc="-1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HO</a:t>
            </a:r>
            <a:r>
              <a:rPr sz="1200" b="1" spc="-1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machines:</a:t>
            </a:r>
            <a:r>
              <a:rPr sz="1200" b="1" spc="-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b="1" spc="-1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rework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25000" y="4022105"/>
            <a:ext cx="2706838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Excellent</a:t>
            </a:r>
            <a:r>
              <a:rPr sz="1200" b="1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quality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control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across HO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section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6585" y="20716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  <a:effectLst/>
              </a:rPr>
              <a:t>HO</a:t>
            </a:r>
            <a:r>
              <a:rPr sz="2400" b="1" spc="-40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Section</a:t>
            </a:r>
            <a:r>
              <a:rPr sz="2400" b="1" spc="-50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–</a:t>
            </a:r>
            <a:r>
              <a:rPr sz="2400" b="1" spc="-35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Rejection</a:t>
            </a:r>
            <a:r>
              <a:rPr sz="2400" b="1" spc="-45" dirty="0">
                <a:solidFill>
                  <a:schemeClr val="bg1"/>
                </a:solidFill>
                <a:effectLst/>
              </a:rPr>
              <a:t> </a:t>
            </a:r>
            <a:r>
              <a:rPr sz="2400" b="1" dirty="0">
                <a:solidFill>
                  <a:schemeClr val="bg1"/>
                </a:solidFill>
                <a:effectLst/>
              </a:rPr>
              <a:t>Analysis</a:t>
            </a:r>
            <a:r>
              <a:rPr sz="2400" b="1" spc="-40" dirty="0">
                <a:solidFill>
                  <a:schemeClr val="bg1"/>
                </a:solidFill>
                <a:effectLst/>
              </a:rPr>
              <a:t> </a:t>
            </a:r>
            <a:r>
              <a:rPr sz="2400" b="1" spc="-10" dirty="0">
                <a:solidFill>
                  <a:schemeClr val="bg1"/>
                </a:solidFill>
                <a:effectLst/>
              </a:rPr>
              <a:t>(Machine-wise)</a:t>
            </a:r>
            <a:endParaRPr sz="2400" b="1" spc="-1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1035" y="598197"/>
            <a:ext cx="85407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6365" y="1461239"/>
            <a:ext cx="6697332" cy="4018399"/>
            <a:chOff x="457200" y="1097282"/>
            <a:chExt cx="5029200" cy="3017520"/>
          </a:xfrm>
        </p:grpSpPr>
        <p:sp>
          <p:nvSpPr>
            <p:cNvPr id="5" name="object 5"/>
            <p:cNvSpPr/>
            <p:nvPr/>
          </p:nvSpPr>
          <p:spPr>
            <a:xfrm>
              <a:off x="457200" y="1097282"/>
              <a:ext cx="5029200" cy="3017520"/>
            </a:xfrm>
            <a:custGeom>
              <a:avLst/>
              <a:gdLst/>
              <a:ahLst/>
              <a:cxnLst/>
              <a:rect l="l" t="t" r="r" b="b"/>
              <a:pathLst>
                <a:path w="5029200" h="3017520">
                  <a:moveTo>
                    <a:pt x="5028844" y="0"/>
                  </a:moveTo>
                  <a:lnTo>
                    <a:pt x="0" y="0"/>
                  </a:lnTo>
                  <a:lnTo>
                    <a:pt x="0" y="3017164"/>
                  </a:lnTo>
                  <a:lnTo>
                    <a:pt x="2514600" y="3017164"/>
                  </a:lnTo>
                  <a:lnTo>
                    <a:pt x="5028844" y="3017164"/>
                  </a:lnTo>
                  <a:lnTo>
                    <a:pt x="5028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6" name="object 6"/>
            <p:cNvSpPr/>
            <p:nvPr/>
          </p:nvSpPr>
          <p:spPr>
            <a:xfrm>
              <a:off x="810006" y="3868561"/>
              <a:ext cx="4575810" cy="0"/>
            </a:xfrm>
            <a:custGeom>
              <a:avLst/>
              <a:gdLst/>
              <a:ahLst/>
              <a:cxnLst/>
              <a:rect l="l" t="t" r="r" b="b"/>
              <a:pathLst>
                <a:path w="4575810">
                  <a:moveTo>
                    <a:pt x="457523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7" name="object 7"/>
            <p:cNvSpPr/>
            <p:nvPr/>
          </p:nvSpPr>
          <p:spPr>
            <a:xfrm>
              <a:off x="810006" y="2114996"/>
              <a:ext cx="4575810" cy="1315085"/>
            </a:xfrm>
            <a:custGeom>
              <a:avLst/>
              <a:gdLst/>
              <a:ahLst/>
              <a:cxnLst/>
              <a:rect l="l" t="t" r="r" b="b"/>
              <a:pathLst>
                <a:path w="4575810" h="1315085">
                  <a:moveTo>
                    <a:pt x="0" y="1315085"/>
                  </a:moveTo>
                  <a:lnTo>
                    <a:pt x="137159" y="1315085"/>
                  </a:lnTo>
                </a:path>
                <a:path w="4575810" h="1315085">
                  <a:moveTo>
                    <a:pt x="320040" y="1315085"/>
                  </a:moveTo>
                  <a:lnTo>
                    <a:pt x="594715" y="1315085"/>
                  </a:lnTo>
                </a:path>
                <a:path w="4575810" h="1315085">
                  <a:moveTo>
                    <a:pt x="777595" y="1315085"/>
                  </a:moveTo>
                  <a:lnTo>
                    <a:pt x="4575238" y="1315085"/>
                  </a:lnTo>
                </a:path>
                <a:path w="4575810" h="1315085">
                  <a:moveTo>
                    <a:pt x="0" y="876604"/>
                  </a:moveTo>
                  <a:lnTo>
                    <a:pt x="137159" y="876604"/>
                  </a:lnTo>
                </a:path>
                <a:path w="4575810" h="1315085">
                  <a:moveTo>
                    <a:pt x="320040" y="876604"/>
                  </a:moveTo>
                  <a:lnTo>
                    <a:pt x="594715" y="876604"/>
                  </a:lnTo>
                </a:path>
                <a:path w="4575810" h="1315085">
                  <a:moveTo>
                    <a:pt x="777595" y="876604"/>
                  </a:moveTo>
                  <a:lnTo>
                    <a:pt x="4575238" y="876604"/>
                  </a:lnTo>
                </a:path>
                <a:path w="4575810" h="1315085">
                  <a:moveTo>
                    <a:pt x="0" y="438480"/>
                  </a:moveTo>
                  <a:lnTo>
                    <a:pt x="137159" y="438480"/>
                  </a:lnTo>
                </a:path>
                <a:path w="4575810" h="1315085">
                  <a:moveTo>
                    <a:pt x="320040" y="438480"/>
                  </a:moveTo>
                  <a:lnTo>
                    <a:pt x="4575238" y="438480"/>
                  </a:lnTo>
                </a:path>
                <a:path w="4575810" h="1315085">
                  <a:moveTo>
                    <a:pt x="0" y="0"/>
                  </a:moveTo>
                  <a:lnTo>
                    <a:pt x="137159" y="0"/>
                  </a:lnTo>
                </a:path>
                <a:path w="4575810" h="1315085">
                  <a:moveTo>
                    <a:pt x="320040" y="0"/>
                  </a:moveTo>
                  <a:lnTo>
                    <a:pt x="4575238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8" name="object 8"/>
            <p:cNvSpPr/>
            <p:nvPr/>
          </p:nvSpPr>
          <p:spPr>
            <a:xfrm>
              <a:off x="810006" y="1238404"/>
              <a:ext cx="4575810" cy="438150"/>
            </a:xfrm>
            <a:custGeom>
              <a:avLst/>
              <a:gdLst/>
              <a:ahLst/>
              <a:cxnLst/>
              <a:rect l="l" t="t" r="r" b="b"/>
              <a:pathLst>
                <a:path w="4575810" h="438150">
                  <a:moveTo>
                    <a:pt x="4575238" y="438111"/>
                  </a:moveTo>
                  <a:lnTo>
                    <a:pt x="0" y="438111"/>
                  </a:lnTo>
                </a:path>
                <a:path w="4575810" h="438150">
                  <a:moveTo>
                    <a:pt x="457523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756005" y="1238404"/>
              <a:ext cx="4629785" cy="2684780"/>
            </a:xfrm>
            <a:custGeom>
              <a:avLst/>
              <a:gdLst/>
              <a:ahLst/>
              <a:cxnLst/>
              <a:rect l="l" t="t" r="r" b="b"/>
              <a:pathLst>
                <a:path w="4629785" h="2684779">
                  <a:moveTo>
                    <a:pt x="54000" y="2684157"/>
                  </a:moveTo>
                  <a:lnTo>
                    <a:pt x="54000" y="2630157"/>
                  </a:lnTo>
                </a:path>
                <a:path w="4629785" h="2684779">
                  <a:moveTo>
                    <a:pt x="511556" y="2684157"/>
                  </a:moveTo>
                  <a:lnTo>
                    <a:pt x="511556" y="2630157"/>
                  </a:lnTo>
                </a:path>
                <a:path w="4629785" h="2684779">
                  <a:moveTo>
                    <a:pt x="969111" y="2684157"/>
                  </a:moveTo>
                  <a:lnTo>
                    <a:pt x="969111" y="2630157"/>
                  </a:lnTo>
                </a:path>
                <a:path w="4629785" h="2684779">
                  <a:moveTo>
                    <a:pt x="1426679" y="2684157"/>
                  </a:moveTo>
                  <a:lnTo>
                    <a:pt x="1426679" y="2630157"/>
                  </a:lnTo>
                </a:path>
                <a:path w="4629785" h="2684779">
                  <a:moveTo>
                    <a:pt x="1884235" y="2684157"/>
                  </a:moveTo>
                  <a:lnTo>
                    <a:pt x="1884235" y="2630157"/>
                  </a:lnTo>
                </a:path>
                <a:path w="4629785" h="2684779">
                  <a:moveTo>
                    <a:pt x="2341435" y="2684157"/>
                  </a:moveTo>
                  <a:lnTo>
                    <a:pt x="2341435" y="2630157"/>
                  </a:lnTo>
                </a:path>
                <a:path w="4629785" h="2684779">
                  <a:moveTo>
                    <a:pt x="2798991" y="2684157"/>
                  </a:moveTo>
                  <a:lnTo>
                    <a:pt x="2798991" y="2630157"/>
                  </a:lnTo>
                </a:path>
                <a:path w="4629785" h="2684779">
                  <a:moveTo>
                    <a:pt x="3256559" y="2684157"/>
                  </a:moveTo>
                  <a:lnTo>
                    <a:pt x="3256559" y="2630157"/>
                  </a:lnTo>
                </a:path>
                <a:path w="4629785" h="2684779">
                  <a:moveTo>
                    <a:pt x="3714115" y="2684157"/>
                  </a:moveTo>
                  <a:lnTo>
                    <a:pt x="3714115" y="2630157"/>
                  </a:lnTo>
                </a:path>
                <a:path w="4629785" h="2684779">
                  <a:moveTo>
                    <a:pt x="4171670" y="2684157"/>
                  </a:moveTo>
                  <a:lnTo>
                    <a:pt x="4171670" y="2630157"/>
                  </a:lnTo>
                </a:path>
                <a:path w="4629785" h="2684779">
                  <a:moveTo>
                    <a:pt x="4629238" y="2684157"/>
                  </a:moveTo>
                  <a:lnTo>
                    <a:pt x="4629238" y="2630157"/>
                  </a:lnTo>
                </a:path>
                <a:path w="4629785" h="2684779">
                  <a:moveTo>
                    <a:pt x="54000" y="2630157"/>
                  </a:moveTo>
                  <a:lnTo>
                    <a:pt x="4629238" y="2630157"/>
                  </a:lnTo>
                </a:path>
                <a:path w="4629785" h="2684779">
                  <a:moveTo>
                    <a:pt x="0" y="2630157"/>
                  </a:moveTo>
                  <a:lnTo>
                    <a:pt x="54000" y="2630157"/>
                  </a:lnTo>
                </a:path>
                <a:path w="4629785" h="2684779">
                  <a:moveTo>
                    <a:pt x="0" y="2191677"/>
                  </a:moveTo>
                  <a:lnTo>
                    <a:pt x="54000" y="2191677"/>
                  </a:lnTo>
                </a:path>
                <a:path w="4629785" h="2684779">
                  <a:moveTo>
                    <a:pt x="0" y="1753196"/>
                  </a:moveTo>
                  <a:lnTo>
                    <a:pt x="54000" y="1753196"/>
                  </a:lnTo>
                </a:path>
                <a:path w="4629785" h="2684779">
                  <a:moveTo>
                    <a:pt x="0" y="1315072"/>
                  </a:moveTo>
                  <a:lnTo>
                    <a:pt x="54000" y="1315072"/>
                  </a:lnTo>
                </a:path>
                <a:path w="4629785" h="2684779">
                  <a:moveTo>
                    <a:pt x="0" y="876592"/>
                  </a:moveTo>
                  <a:lnTo>
                    <a:pt x="54000" y="876592"/>
                  </a:lnTo>
                </a:path>
                <a:path w="4629785" h="2684779">
                  <a:moveTo>
                    <a:pt x="0" y="438111"/>
                  </a:moveTo>
                  <a:lnTo>
                    <a:pt x="54000" y="438111"/>
                  </a:lnTo>
                </a:path>
                <a:path w="4629785" h="2684779">
                  <a:moveTo>
                    <a:pt x="0" y="0"/>
                  </a:moveTo>
                  <a:lnTo>
                    <a:pt x="54000" y="0"/>
                  </a:lnTo>
                </a:path>
                <a:path w="4629785" h="2684779">
                  <a:moveTo>
                    <a:pt x="54000" y="2630157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947166" y="1764362"/>
              <a:ext cx="1098550" cy="2104390"/>
            </a:xfrm>
            <a:custGeom>
              <a:avLst/>
              <a:gdLst/>
              <a:ahLst/>
              <a:cxnLst/>
              <a:rect l="l" t="t" r="r" b="b"/>
              <a:pathLst>
                <a:path w="1098550" h="2104390">
                  <a:moveTo>
                    <a:pt x="182880" y="0"/>
                  </a:moveTo>
                  <a:lnTo>
                    <a:pt x="0" y="0"/>
                  </a:lnTo>
                  <a:lnTo>
                    <a:pt x="0" y="2104199"/>
                  </a:lnTo>
                  <a:lnTo>
                    <a:pt x="182880" y="2104199"/>
                  </a:lnTo>
                  <a:lnTo>
                    <a:pt x="182880" y="0"/>
                  </a:lnTo>
                  <a:close/>
                </a:path>
                <a:path w="1098550" h="2104390">
                  <a:moveTo>
                    <a:pt x="640435" y="789114"/>
                  </a:moveTo>
                  <a:lnTo>
                    <a:pt x="457555" y="789114"/>
                  </a:lnTo>
                  <a:lnTo>
                    <a:pt x="457555" y="2104199"/>
                  </a:lnTo>
                  <a:lnTo>
                    <a:pt x="640435" y="2104199"/>
                  </a:lnTo>
                  <a:lnTo>
                    <a:pt x="640435" y="789114"/>
                  </a:lnTo>
                  <a:close/>
                </a:path>
                <a:path w="1098550" h="2104390">
                  <a:moveTo>
                    <a:pt x="1097991" y="1665719"/>
                  </a:moveTo>
                  <a:lnTo>
                    <a:pt x="915111" y="1665719"/>
                  </a:lnTo>
                  <a:lnTo>
                    <a:pt x="915111" y="2104199"/>
                  </a:lnTo>
                  <a:lnTo>
                    <a:pt x="1097991" y="2104199"/>
                  </a:lnTo>
                  <a:lnTo>
                    <a:pt x="1097991" y="1665719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07062" y="5237738"/>
            <a:ext cx="229586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1135" algn="l"/>
              </a:tabLst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5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r>
              <a:rPr sz="930" spc="31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r>
              <a:rPr sz="930" spc="155" dirty="0">
                <a:solidFill>
                  <a:srgbClr val="6A717F"/>
                </a:solidFill>
                <a:latin typeface="Arial MT"/>
                <a:cs typeface="Arial MT"/>
              </a:rPr>
              <a:t> 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	</a:t>
            </a: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HO.02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5825" y="523773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HO.03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5585" y="523773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HO.06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7727" y="5001420"/>
            <a:ext cx="147137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7727" y="4417569"/>
            <a:ext cx="147137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6A717F"/>
                </a:solidFill>
                <a:latin typeface="Arial MT"/>
                <a:cs typeface="Arial MT"/>
              </a:rPr>
              <a:t>5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3635" y="3833718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3635" y="3249865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15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3635" y="2666014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20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635" y="2082161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25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3635" y="1498800"/>
            <a:ext cx="248613" cy="261620"/>
          </a:xfrm>
          <a:prstGeom prst="rect">
            <a:avLst/>
          </a:prstGeom>
        </p:spPr>
        <p:txBody>
          <a:bodyPr vert="horz" wrap="square" lIns="0" tIns="16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6A717F"/>
                </a:solidFill>
                <a:latin typeface="Arial MT"/>
                <a:cs typeface="Arial MT"/>
              </a:rPr>
              <a:t>30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7378" y="2124341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24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06667" y="3175079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15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53821" y="4342781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5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63093" y="4926634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72381" y="4926634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82143" y="4926634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94890" y="4926634"/>
            <a:ext cx="2264578" cy="4362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  <a:tabLst>
                <a:tab pos="617220" algn="l"/>
                <a:tab pos="1075055" algn="l"/>
                <a:tab pos="1532255" algn="l"/>
              </a:tabLst>
            </a:pP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r>
              <a:rPr sz="1065" dirty="0">
                <a:solidFill>
                  <a:srgbClr val="1D283A"/>
                </a:solidFill>
                <a:latin typeface="Arial MT"/>
                <a:cs typeface="Arial MT"/>
              </a:rPr>
              <a:t>	</a:t>
            </a:r>
            <a:r>
              <a:rPr sz="1065" spc="-50" dirty="0">
                <a:solidFill>
                  <a:srgbClr val="1D283A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1437640" algn="l"/>
              </a:tabLst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r>
              <a:rPr sz="930" spc="240" dirty="0">
                <a:solidFill>
                  <a:srgbClr val="6A717F"/>
                </a:solidFill>
                <a:latin typeface="Arial MT"/>
                <a:cs typeface="Arial MT"/>
              </a:rPr>
              <a:t> 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4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r>
              <a:rPr sz="930" spc="46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4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r>
              <a:rPr sz="930" dirty="0">
                <a:solidFill>
                  <a:srgbClr val="6A717F"/>
                </a:solidFill>
                <a:latin typeface="Arial MT"/>
                <a:cs typeface="Arial MT"/>
              </a:rPr>
              <a:t>	</a:t>
            </a:r>
            <a:r>
              <a:rPr sz="930" spc="-20" dirty="0">
                <a:solidFill>
                  <a:srgbClr val="6A717F"/>
                </a:solidFill>
                <a:latin typeface="Arial MT"/>
                <a:cs typeface="Arial MT"/>
              </a:rPr>
              <a:t>HO.10</a:t>
            </a:r>
            <a:endParaRPr sz="93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86951" y="1417113"/>
            <a:ext cx="4153699" cy="4152853"/>
            <a:chOff x="5691594" y="1064147"/>
            <a:chExt cx="3119120" cy="3118485"/>
          </a:xfrm>
        </p:grpSpPr>
        <p:pic>
          <p:nvPicPr>
            <p:cNvPr id="29" name="object 2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91594" y="1064147"/>
              <a:ext cx="3118675" cy="311833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760364" y="1096926"/>
              <a:ext cx="3017520" cy="3017520"/>
            </a:xfrm>
            <a:custGeom>
              <a:avLst/>
              <a:gdLst/>
              <a:ahLst/>
              <a:cxnLst/>
              <a:rect l="l" t="t" r="r" b="b"/>
              <a:pathLst>
                <a:path w="3017520" h="3017520">
                  <a:moveTo>
                    <a:pt x="3017151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508759" y="3017151"/>
                  </a:lnTo>
                  <a:lnTo>
                    <a:pt x="3017151" y="3017151"/>
                  </a:lnTo>
                  <a:lnTo>
                    <a:pt x="30171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903230" y="1626489"/>
            <a:ext cx="1980448" cy="2622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HO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Rejection Summary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25000" y="2965483"/>
            <a:ext cx="1411344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200" spc="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Rejection:</a:t>
            </a:r>
            <a:r>
              <a:rPr sz="1200" spc="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44</a:t>
            </a:r>
            <a:r>
              <a:rPr sz="1200" spc="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pcs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25000" y="3331755"/>
            <a:ext cx="1503517" cy="4667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HO.08 OR: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24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(highest)</a:t>
            </a:r>
            <a:r>
              <a:rPr sz="1065" spc="50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HO.07</a:t>
            </a:r>
            <a:r>
              <a:rPr sz="1065" spc="-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OR: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15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2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</a:t>
            </a:r>
            <a:endParaRPr sz="1065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955"/>
              </a:lnSpc>
            </a:pP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HO.07 IR: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5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2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pcs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25000" y="4001015"/>
            <a:ext cx="2355059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7</a:t>
            </a:r>
            <a:r>
              <a:rPr sz="1200" b="1" spc="-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out</a:t>
            </a:r>
            <a:r>
              <a:rPr sz="1200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b="1" spc="-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10</a:t>
            </a:r>
            <a:r>
              <a:rPr sz="1200" b="1" spc="-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machines:</a:t>
            </a:r>
            <a:r>
              <a:rPr sz="1200" b="1" spc="-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rejection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935" y="16398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</a:rPr>
              <a:t>IG</a:t>
            </a:r>
            <a:r>
              <a:rPr sz="2400" b="1" spc="-5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Section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Rework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Analysis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(Machine-wise)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875" y="598197"/>
            <a:ext cx="3476355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PPM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(Rework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÷ Good)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1,000,000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9018" y="1274777"/>
          <a:ext cx="11555095" cy="4044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9360"/>
                <a:gridCol w="1844040"/>
                <a:gridCol w="1843405"/>
                <a:gridCol w="2212975"/>
                <a:gridCol w="4425315"/>
              </a:tblGrid>
              <a:tr h="288925"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Good </a:t>
                      </a:r>
                      <a:r>
                        <a:rPr sz="106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Rework</a:t>
                      </a:r>
                      <a:r>
                        <a:rPr sz="1065" b="1" spc="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Rework</a:t>
                      </a:r>
                      <a:r>
                        <a:rPr sz="1065" b="1" spc="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PPM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Observation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IG.15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37,749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1,147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30,384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Action</a:t>
                      </a:r>
                      <a:r>
                        <a:rPr sz="930" b="1" spc="-45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Needed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20,049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1,146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57,160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Action</a:t>
                      </a:r>
                      <a:r>
                        <a:rPr sz="930" b="1" spc="-45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Needed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10,299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1,070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103,894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Action</a:t>
                      </a:r>
                      <a:r>
                        <a:rPr sz="930" b="1" spc="-45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Needed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45,115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969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21,478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Monitor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IG.17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19,612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847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43,189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Monitor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26,029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581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22,323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Monitor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IG.16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39,558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574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14,512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Monitor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IG.18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30,141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510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16,919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Monitor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7,833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472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60,259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25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OK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2,072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424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204,633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25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OK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53,861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423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7,853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25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OK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IG.20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6,586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166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25,197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25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OK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Grand</a:t>
                      </a:r>
                      <a:r>
                        <a:rPr sz="1065" b="1" spc="-3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298,904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8,329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27,609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3.7×</a:t>
                      </a:r>
                      <a:r>
                        <a:rPr sz="1065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over</a:t>
                      </a:r>
                      <a:r>
                        <a:rPr sz="1065" b="1" spc="-1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7195" y="16652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chemeClr val="bg1"/>
                </a:solidFill>
              </a:rPr>
              <a:t>Operator</a:t>
            </a:r>
            <a:r>
              <a:rPr sz="2400" b="1" spc="-3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Performance</a:t>
            </a:r>
            <a:r>
              <a:rPr sz="2400" b="1" spc="-2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30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IG</a:t>
            </a:r>
            <a:r>
              <a:rPr sz="2400" b="1" spc="-30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Machines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405" y="573432"/>
            <a:ext cx="3191380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Top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Performers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Good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Output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7249" y="1213892"/>
          <a:ext cx="11798935" cy="443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2980"/>
                <a:gridCol w="3687445"/>
                <a:gridCol w="3687445"/>
                <a:gridCol w="3441065"/>
              </a:tblGrid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1</a:t>
                      </a:r>
                      <a:r>
                        <a:rPr sz="1065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 </a:t>
                      </a: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2</a:t>
                      </a:r>
                      <a:r>
                        <a:rPr sz="1065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 </a:t>
                      </a: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3</a:t>
                      </a:r>
                      <a:r>
                        <a:rPr sz="1065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 </a:t>
                      </a: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Hritik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Singh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16,719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Akash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Kumar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14,001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Taslimbhai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Kondhiya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8,833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Raymalbhai</a:t>
                      </a:r>
                      <a:r>
                        <a:rPr sz="930" spc="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Bharathiya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8,960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Rutvik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6,632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Akash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Kumar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5,434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Shamjibhai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Satapara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1,442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Ramesh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Shakriya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1,217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Akshay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1,070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Anand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4,859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Vishal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2,273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Ramesh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Shakriya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2,107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Shamjibhai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Satapara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4,356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Dilip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Panday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3,068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Amit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Makampara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1,237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Kaushik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Vasveliya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17,718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Abhijitsinh</a:t>
                      </a:r>
                      <a:r>
                        <a:rPr sz="930" spc="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Rana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13,495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Vala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Himesh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5,965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IG.15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Dilip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Panday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7,898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Hashmukh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</a:t>
                      </a:r>
                      <a:r>
                        <a:rPr sz="930" spc="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7,525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Vala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Himesh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3,971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IG.16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Shrawan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Matho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19,641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Pravin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Baraiya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7,886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Shamjibhai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Satapara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3,090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IG.17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Varshaben Mankoliya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5,927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Hashmukh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</a:t>
                      </a:r>
                      <a:r>
                        <a:rPr sz="930" spc="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2,998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Dilip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Panday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2,463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IG.18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Ramesh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Shakriya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3,874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Hashmukh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</a:t>
                      </a:r>
                      <a:r>
                        <a:rPr sz="930" spc="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3,393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Taslimbhai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Kondhiya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3,135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Rinaben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1,025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Kiran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Vaghadiya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 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574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Pankajbhai</a:t>
                      </a:r>
                      <a:r>
                        <a:rPr sz="930" spc="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Khasiya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278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IG.20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Kiran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Vaghadiya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4,915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Varshaben Mankoliya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939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Pawan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504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0215" y="21605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chemeClr val="bg1"/>
                </a:solidFill>
              </a:rPr>
              <a:t>Operator</a:t>
            </a:r>
            <a:r>
              <a:rPr sz="2400" b="1" spc="-2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Performance</a:t>
            </a:r>
            <a:r>
              <a:rPr sz="2400" b="1" spc="-2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2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HO</a:t>
            </a:r>
            <a:r>
              <a:rPr sz="2400" b="1" spc="-2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Machines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425" y="614707"/>
            <a:ext cx="3191380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Top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Performers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Good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Output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7249" y="1213892"/>
          <a:ext cx="11798935" cy="401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/>
                <a:gridCol w="3687445"/>
                <a:gridCol w="3564255"/>
                <a:gridCol w="3441065"/>
              </a:tblGrid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1</a:t>
                      </a:r>
                      <a:r>
                        <a:rPr sz="1065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 </a:t>
                      </a: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2</a:t>
                      </a:r>
                      <a:r>
                        <a:rPr sz="1065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 </a:t>
                      </a: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3</a:t>
                      </a:r>
                      <a:r>
                        <a:rPr sz="1065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 </a:t>
                      </a:r>
                      <a:r>
                        <a:rPr sz="1065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Rinaben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4,911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Ramdev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1,418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Sunil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1,285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HO.03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Parulben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Ranga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17,204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Nihar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Sheth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1,163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Pravin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Baraiya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1,050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HO.06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Parulben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Ranga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10,001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Navghan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4,670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Nihar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Sheth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2,094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HO.07</a:t>
                      </a:r>
                      <a:r>
                        <a:rPr sz="1065" b="1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IR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Ravikumar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Sharma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14,974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Ramdev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14,061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Navghan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3,150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HO.07</a:t>
                      </a:r>
                      <a:r>
                        <a:rPr sz="1065" b="1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Ravikumar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Sharma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4,127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Nihar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Sheth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2,924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Mehul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2,585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HO.08</a:t>
                      </a:r>
                      <a:r>
                        <a:rPr sz="1065" b="1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IR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Nihar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Sheth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5,733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Ravikumar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Sharma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2,166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Pankaj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2,144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HO.08</a:t>
                      </a:r>
                      <a:r>
                        <a:rPr sz="1065" b="1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Ravikumar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Sharma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9,097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Nihar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Sheth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8,052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Navghan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7,766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HO.09</a:t>
                      </a:r>
                      <a:r>
                        <a:rPr sz="1065" b="1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IR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Pankaj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11,916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Mehul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7,408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Nihar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Sheth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4,871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HO.09</a:t>
                      </a:r>
                      <a:r>
                        <a:rPr sz="1065" b="1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b="1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Pankaj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10,463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Nihar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Sheth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5,403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Mehul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5,381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HO.10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Varshaben Mankoliya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2,190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Mehul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930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-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1,055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Ravikumar</a:t>
                      </a:r>
                      <a:r>
                        <a:rPr sz="930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Sharma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930" spc="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917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1020" y="19129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chemeClr val="bg1"/>
                </a:solidFill>
              </a:rPr>
              <a:t>Operator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Performance</a:t>
            </a:r>
            <a:r>
              <a:rPr sz="2400" b="1" spc="-2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EG</a:t>
            </a:r>
            <a:r>
              <a:rPr sz="2400" b="1" spc="-3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Machines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0230" y="589942"/>
            <a:ext cx="3191380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Top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Performers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Good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Output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2558" y="1335662"/>
          <a:ext cx="11068050" cy="2556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9995"/>
                <a:gridCol w="3442970"/>
                <a:gridCol w="3443605"/>
                <a:gridCol w="2951480"/>
              </a:tblGrid>
              <a:tr h="426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Top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(Good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426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Pawan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12,759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Jaglal</a:t>
                      </a:r>
                      <a:r>
                        <a:rPr sz="1065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Gupta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11,739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Rinaben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2,496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Dilip</a:t>
                      </a: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Panday</a:t>
                      </a: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600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Pawan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567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Abhijitsinh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Rana —</a:t>
                      </a:r>
                      <a:r>
                        <a:rPr sz="1065" spc="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361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Kiran</a:t>
                      </a:r>
                      <a:r>
                        <a:rPr sz="1065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Vaghadiya</a:t>
                      </a:r>
                      <a:r>
                        <a:rPr sz="1065" spc="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7,468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Rinaben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3,140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Jaglal</a:t>
                      </a:r>
                      <a:r>
                        <a:rPr sz="1065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Gupta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2,211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Kiran</a:t>
                      </a:r>
                      <a:r>
                        <a:rPr sz="1065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Vaghadiya</a:t>
                      </a:r>
                      <a:r>
                        <a:rPr sz="1065" spc="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6,052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Pawan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5,530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Rinaben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Oganiya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4,469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EG.08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2428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Kiran</a:t>
                      </a:r>
                      <a:r>
                        <a:rPr sz="1065" spc="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Vaghadiya</a:t>
                      </a:r>
                      <a:r>
                        <a:rPr sz="1065" spc="1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2,199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Jaglal</a:t>
                      </a:r>
                      <a:r>
                        <a:rPr sz="1065" spc="-3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Gupta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1,749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65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Pawan</a:t>
                      </a:r>
                      <a:r>
                        <a:rPr sz="1065" spc="-2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—</a:t>
                      </a:r>
                      <a:r>
                        <a:rPr sz="1065" spc="-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65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804</a:t>
                      </a:r>
                      <a:endParaRPr sz="1065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965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24309" y="4339585"/>
            <a:ext cx="11094570" cy="1717460"/>
            <a:chOff x="388073" y="3258707"/>
            <a:chExt cx="8331200" cy="128968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8073" y="3258707"/>
              <a:ext cx="8330755" cy="12895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6844" y="3291486"/>
              <a:ext cx="8229600" cy="1188720"/>
            </a:xfrm>
            <a:custGeom>
              <a:avLst/>
              <a:gdLst/>
              <a:ahLst/>
              <a:cxnLst/>
              <a:rect l="l" t="t" r="r" b="b"/>
              <a:pathLst>
                <a:path w="8229600" h="1188720">
                  <a:moveTo>
                    <a:pt x="8229231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4114800" y="1188351"/>
                  </a:lnTo>
                  <a:lnTo>
                    <a:pt x="8229231" y="1188351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0589" y="4488076"/>
            <a:ext cx="5080500" cy="11277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Key</a:t>
            </a:r>
            <a:r>
              <a:rPr sz="1600" b="1" spc="-6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Performer</a:t>
            </a:r>
            <a:r>
              <a:rPr sz="1600" b="1" spc="-5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Insights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10"/>
              </a:spcBef>
            </a:pPr>
            <a:endParaRPr sz="1600">
              <a:latin typeface="Calibri" panose="020F0502020204030204"/>
              <a:cs typeface="Calibri" panose="020F0502020204030204"/>
            </a:endParaRPr>
          </a:p>
          <a:p>
            <a:pPr marL="103505" marR="5080">
              <a:lnSpc>
                <a:spcPct val="100000"/>
              </a:lnSpc>
            </a:pP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Kiran</a:t>
            </a:r>
            <a:r>
              <a:rPr sz="1200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Vaghadiya</a:t>
            </a:r>
            <a:r>
              <a:rPr sz="1200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leads</a:t>
            </a:r>
            <a:r>
              <a:rPr sz="1200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200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EG.05,</a:t>
            </a:r>
            <a:r>
              <a:rPr sz="1200" spc="-2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EG.07,</a:t>
            </a:r>
            <a:r>
              <a:rPr sz="1200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EG.08</a:t>
            </a:r>
            <a:r>
              <a:rPr sz="1200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—</a:t>
            </a:r>
            <a:r>
              <a:rPr sz="1200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consistent</a:t>
            </a:r>
            <a:r>
              <a:rPr sz="1200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high</a:t>
            </a:r>
            <a:r>
              <a:rPr sz="1200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performer.</a:t>
            </a:r>
            <a:r>
              <a:rPr sz="1200" spc="50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Pawan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contributes</a:t>
            </a:r>
            <a:r>
              <a:rPr sz="1200" spc="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significantly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across EG.02,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EG.04, EG.07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— 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versatile</a:t>
            </a:r>
            <a:r>
              <a:rPr sz="1200" spc="-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operator.</a:t>
            </a:r>
            <a:r>
              <a:rPr sz="1200" spc="5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Jaglal</a:t>
            </a:r>
            <a:r>
              <a:rPr sz="1200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Gupta</a:t>
            </a:r>
            <a:r>
              <a:rPr sz="1200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strong</a:t>
            </a:r>
            <a:r>
              <a:rPr sz="1200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EG.02</a:t>
            </a:r>
            <a:r>
              <a:rPr sz="1200" spc="-3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(11,739)</a:t>
            </a:r>
            <a:r>
              <a:rPr sz="1200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EG.08</a:t>
            </a:r>
            <a:r>
              <a:rPr sz="1200" spc="-2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(1,749).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700" y="-116205"/>
            <a:ext cx="6367780" cy="1004570"/>
          </a:xfrm>
          <a:prstGeom prst="rect">
            <a:avLst/>
          </a:prstGeom>
        </p:spPr>
        <p:txBody>
          <a:bodyPr vert="horz" wrap="square" lIns="0" tIns="197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400" b="1" dirty="0">
                <a:solidFill>
                  <a:schemeClr val="bg1"/>
                </a:solidFill>
              </a:rPr>
              <a:t>Overall</a:t>
            </a:r>
            <a:r>
              <a:rPr sz="2400" b="1" spc="-5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Equipment</a:t>
            </a:r>
            <a:r>
              <a:rPr sz="2400" b="1" spc="-60" dirty="0">
                <a:solidFill>
                  <a:schemeClr val="bg1"/>
                </a:solidFill>
              </a:rPr>
              <a:t> </a:t>
            </a:r>
            <a:r>
              <a:rPr sz="2400" b="1" spc="-20" dirty="0">
                <a:solidFill>
                  <a:schemeClr val="bg1"/>
                </a:solidFill>
              </a:rPr>
              <a:t>Effectiveness</a:t>
            </a:r>
            <a:r>
              <a:rPr sz="2400" b="1" spc="-4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(OEE)</a:t>
            </a:r>
            <a:endParaRPr sz="2400" b="1" spc="-10" dirty="0">
              <a:solidFill>
                <a:schemeClr val="bg1"/>
              </a:solidFill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400" b="1" spc="-1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2400" b="1" spc="-15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2400" b="1" spc="-15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2400" b="1" spc="-1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Target:</a:t>
            </a:r>
            <a:r>
              <a:rPr sz="2400" b="1" spc="-5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&gt;65%</a:t>
            </a:r>
            <a:endParaRPr sz="2400" b="1" spc="-20" dirty="0">
              <a:solidFill>
                <a:schemeClr val="bg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4309" y="1295343"/>
            <a:ext cx="3179541" cy="2082769"/>
            <a:chOff x="388073" y="972707"/>
            <a:chExt cx="2387600" cy="156400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8073" y="972707"/>
              <a:ext cx="2387155" cy="15638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6844" y="1005486"/>
              <a:ext cx="2286000" cy="1463040"/>
            </a:xfrm>
            <a:custGeom>
              <a:avLst/>
              <a:gdLst/>
              <a:ahLst/>
              <a:cxnLst/>
              <a:rect l="l" t="t" r="r" b="b"/>
              <a:pathLst>
                <a:path w="2286000" h="1463039">
                  <a:moveTo>
                    <a:pt x="2285631" y="0"/>
                  </a:moveTo>
                  <a:lnTo>
                    <a:pt x="0" y="0"/>
                  </a:lnTo>
                  <a:lnTo>
                    <a:pt x="0" y="1462671"/>
                  </a:lnTo>
                  <a:lnTo>
                    <a:pt x="1143000" y="1462671"/>
                  </a:lnTo>
                  <a:lnTo>
                    <a:pt x="2285631" y="1462671"/>
                  </a:lnTo>
                  <a:lnTo>
                    <a:pt x="2285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72456" y="1450106"/>
            <a:ext cx="1330164" cy="1443990"/>
          </a:xfrm>
          <a:prstGeom prst="rect">
            <a:avLst/>
          </a:prstGeom>
        </p:spPr>
        <p:txBody>
          <a:bodyPr vert="horz" wrap="square" lIns="0" tIns="30442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80"/>
              </a:spcBef>
            </a:pPr>
            <a:r>
              <a:rPr sz="133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Fleet</a:t>
            </a:r>
            <a:r>
              <a:rPr sz="1330" spc="-55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25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OEE</a:t>
            </a:r>
            <a:endParaRPr sz="133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5860" b="1" spc="-2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58%</a:t>
            </a:r>
            <a:endParaRPr sz="586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1200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Target:</a:t>
            </a:r>
            <a:r>
              <a:rPr sz="1200" spc="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&gt;65%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39705" y="1290573"/>
            <a:ext cx="7915028" cy="4261938"/>
            <a:chOff x="2926079" y="1005841"/>
            <a:chExt cx="5943600" cy="3200400"/>
          </a:xfrm>
        </p:grpSpPr>
        <p:sp>
          <p:nvSpPr>
            <p:cNvPr id="8" name="object 8"/>
            <p:cNvSpPr/>
            <p:nvPr/>
          </p:nvSpPr>
          <p:spPr>
            <a:xfrm>
              <a:off x="2926079" y="1005841"/>
              <a:ext cx="5943600" cy="3200400"/>
            </a:xfrm>
            <a:custGeom>
              <a:avLst/>
              <a:gdLst/>
              <a:ahLst/>
              <a:cxnLst/>
              <a:rect l="l" t="t" r="r" b="b"/>
              <a:pathLst>
                <a:path w="5943600" h="3200400">
                  <a:moveTo>
                    <a:pt x="5943244" y="0"/>
                  </a:moveTo>
                  <a:lnTo>
                    <a:pt x="0" y="0"/>
                  </a:lnTo>
                  <a:lnTo>
                    <a:pt x="0" y="3200044"/>
                  </a:lnTo>
                  <a:lnTo>
                    <a:pt x="2971799" y="3200044"/>
                  </a:lnTo>
                  <a:lnTo>
                    <a:pt x="5943244" y="3200044"/>
                  </a:lnTo>
                  <a:lnTo>
                    <a:pt x="5943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3230638" y="3956407"/>
              <a:ext cx="5520055" cy="0"/>
            </a:xfrm>
            <a:custGeom>
              <a:avLst/>
              <a:gdLst/>
              <a:ahLst/>
              <a:cxnLst/>
              <a:rect l="l" t="t" r="r" b="b"/>
              <a:pathLst>
                <a:path w="5520055">
                  <a:moveTo>
                    <a:pt x="5519877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3230638" y="3640685"/>
              <a:ext cx="5520055" cy="0"/>
            </a:xfrm>
            <a:custGeom>
              <a:avLst/>
              <a:gdLst/>
              <a:ahLst/>
              <a:cxnLst/>
              <a:rect l="l" t="t" r="r" b="b"/>
              <a:pathLst>
                <a:path w="5520055">
                  <a:moveTo>
                    <a:pt x="0" y="0"/>
                  </a:moveTo>
                  <a:lnTo>
                    <a:pt x="137883" y="0"/>
                  </a:lnTo>
                </a:path>
                <a:path w="5520055">
                  <a:moveTo>
                    <a:pt x="321843" y="0"/>
                  </a:moveTo>
                  <a:lnTo>
                    <a:pt x="597966" y="0"/>
                  </a:lnTo>
                </a:path>
                <a:path w="5520055">
                  <a:moveTo>
                    <a:pt x="781926" y="0"/>
                  </a:moveTo>
                  <a:lnTo>
                    <a:pt x="1058036" y="0"/>
                  </a:lnTo>
                </a:path>
                <a:path w="5520055">
                  <a:moveTo>
                    <a:pt x="1241996" y="0"/>
                  </a:moveTo>
                  <a:lnTo>
                    <a:pt x="1517764" y="0"/>
                  </a:lnTo>
                </a:path>
                <a:path w="5520055">
                  <a:moveTo>
                    <a:pt x="1701723" y="0"/>
                  </a:moveTo>
                  <a:lnTo>
                    <a:pt x="1977847" y="0"/>
                  </a:lnTo>
                </a:path>
                <a:path w="5520055">
                  <a:moveTo>
                    <a:pt x="2161806" y="0"/>
                  </a:moveTo>
                  <a:lnTo>
                    <a:pt x="2437917" y="0"/>
                  </a:lnTo>
                </a:path>
                <a:path w="5520055">
                  <a:moveTo>
                    <a:pt x="2621876" y="0"/>
                  </a:moveTo>
                  <a:lnTo>
                    <a:pt x="2897644" y="0"/>
                  </a:lnTo>
                </a:path>
                <a:path w="5520055">
                  <a:moveTo>
                    <a:pt x="3081604" y="0"/>
                  </a:moveTo>
                  <a:lnTo>
                    <a:pt x="3357727" y="0"/>
                  </a:lnTo>
                </a:path>
                <a:path w="5520055">
                  <a:moveTo>
                    <a:pt x="3541687" y="0"/>
                  </a:moveTo>
                  <a:lnTo>
                    <a:pt x="3817797" y="0"/>
                  </a:lnTo>
                </a:path>
                <a:path w="5520055">
                  <a:moveTo>
                    <a:pt x="4001757" y="0"/>
                  </a:moveTo>
                  <a:lnTo>
                    <a:pt x="4277525" y="0"/>
                  </a:lnTo>
                </a:path>
                <a:path w="5520055">
                  <a:moveTo>
                    <a:pt x="4461484" y="0"/>
                  </a:moveTo>
                  <a:lnTo>
                    <a:pt x="4737595" y="0"/>
                  </a:lnTo>
                </a:path>
                <a:path w="5520055">
                  <a:moveTo>
                    <a:pt x="4921567" y="0"/>
                  </a:moveTo>
                  <a:lnTo>
                    <a:pt x="5197678" y="0"/>
                  </a:lnTo>
                </a:path>
                <a:path w="5520055">
                  <a:moveTo>
                    <a:pt x="5381637" y="0"/>
                  </a:moveTo>
                  <a:lnTo>
                    <a:pt x="5519877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30638" y="2063523"/>
              <a:ext cx="5520055" cy="1262380"/>
            </a:xfrm>
            <a:custGeom>
              <a:avLst/>
              <a:gdLst/>
              <a:ahLst/>
              <a:cxnLst/>
              <a:rect l="l" t="t" r="r" b="b"/>
              <a:pathLst>
                <a:path w="5520055" h="1262379">
                  <a:moveTo>
                    <a:pt x="0" y="1261795"/>
                  </a:moveTo>
                  <a:lnTo>
                    <a:pt x="137883" y="1261795"/>
                  </a:lnTo>
                </a:path>
                <a:path w="5520055" h="1262379">
                  <a:moveTo>
                    <a:pt x="321843" y="1261795"/>
                  </a:moveTo>
                  <a:lnTo>
                    <a:pt x="597966" y="1261795"/>
                  </a:lnTo>
                </a:path>
                <a:path w="5520055" h="1262379">
                  <a:moveTo>
                    <a:pt x="781926" y="1261795"/>
                  </a:moveTo>
                  <a:lnTo>
                    <a:pt x="1058036" y="1261795"/>
                  </a:lnTo>
                </a:path>
                <a:path w="5520055" h="1262379">
                  <a:moveTo>
                    <a:pt x="1241996" y="1261795"/>
                  </a:moveTo>
                  <a:lnTo>
                    <a:pt x="1517764" y="1261795"/>
                  </a:lnTo>
                </a:path>
                <a:path w="5520055" h="1262379">
                  <a:moveTo>
                    <a:pt x="1701723" y="1261795"/>
                  </a:moveTo>
                  <a:lnTo>
                    <a:pt x="1977847" y="1261795"/>
                  </a:lnTo>
                </a:path>
                <a:path w="5520055" h="1262379">
                  <a:moveTo>
                    <a:pt x="2161806" y="1261795"/>
                  </a:moveTo>
                  <a:lnTo>
                    <a:pt x="2437917" y="1261795"/>
                  </a:lnTo>
                </a:path>
                <a:path w="5520055" h="1262379">
                  <a:moveTo>
                    <a:pt x="2621876" y="1261795"/>
                  </a:moveTo>
                  <a:lnTo>
                    <a:pt x="2897644" y="1261795"/>
                  </a:lnTo>
                </a:path>
                <a:path w="5520055" h="1262379">
                  <a:moveTo>
                    <a:pt x="3081604" y="1261795"/>
                  </a:moveTo>
                  <a:lnTo>
                    <a:pt x="3357727" y="1261795"/>
                  </a:lnTo>
                </a:path>
                <a:path w="5520055" h="1262379">
                  <a:moveTo>
                    <a:pt x="3541687" y="1261795"/>
                  </a:moveTo>
                  <a:lnTo>
                    <a:pt x="3817797" y="1261795"/>
                  </a:lnTo>
                </a:path>
                <a:path w="5520055" h="1262379">
                  <a:moveTo>
                    <a:pt x="4001757" y="1261795"/>
                  </a:moveTo>
                  <a:lnTo>
                    <a:pt x="4277525" y="1261795"/>
                  </a:lnTo>
                </a:path>
                <a:path w="5520055" h="1262379">
                  <a:moveTo>
                    <a:pt x="4461484" y="1261795"/>
                  </a:moveTo>
                  <a:lnTo>
                    <a:pt x="4737595" y="1261795"/>
                  </a:lnTo>
                </a:path>
                <a:path w="5520055" h="1262379">
                  <a:moveTo>
                    <a:pt x="4921567" y="1261795"/>
                  </a:moveTo>
                  <a:lnTo>
                    <a:pt x="5197678" y="1261795"/>
                  </a:lnTo>
                </a:path>
                <a:path w="5520055" h="1262379">
                  <a:moveTo>
                    <a:pt x="5381637" y="1261795"/>
                  </a:moveTo>
                  <a:lnTo>
                    <a:pt x="5519877" y="1261795"/>
                  </a:lnTo>
                </a:path>
                <a:path w="5520055" h="1262379">
                  <a:moveTo>
                    <a:pt x="0" y="946073"/>
                  </a:moveTo>
                  <a:lnTo>
                    <a:pt x="137883" y="946073"/>
                  </a:lnTo>
                </a:path>
                <a:path w="5520055" h="1262379">
                  <a:moveTo>
                    <a:pt x="321843" y="946073"/>
                  </a:moveTo>
                  <a:lnTo>
                    <a:pt x="597966" y="946073"/>
                  </a:lnTo>
                </a:path>
                <a:path w="5520055" h="1262379">
                  <a:moveTo>
                    <a:pt x="781926" y="946073"/>
                  </a:moveTo>
                  <a:lnTo>
                    <a:pt x="1058036" y="946073"/>
                  </a:lnTo>
                </a:path>
                <a:path w="5520055" h="1262379">
                  <a:moveTo>
                    <a:pt x="1241996" y="946073"/>
                  </a:moveTo>
                  <a:lnTo>
                    <a:pt x="1517764" y="946073"/>
                  </a:lnTo>
                </a:path>
                <a:path w="5520055" h="1262379">
                  <a:moveTo>
                    <a:pt x="1701723" y="946073"/>
                  </a:moveTo>
                  <a:lnTo>
                    <a:pt x="1977847" y="946073"/>
                  </a:lnTo>
                </a:path>
                <a:path w="5520055" h="1262379">
                  <a:moveTo>
                    <a:pt x="2161806" y="946073"/>
                  </a:moveTo>
                  <a:lnTo>
                    <a:pt x="2437917" y="946073"/>
                  </a:lnTo>
                </a:path>
                <a:path w="5520055" h="1262379">
                  <a:moveTo>
                    <a:pt x="2621876" y="946073"/>
                  </a:moveTo>
                  <a:lnTo>
                    <a:pt x="2897644" y="946073"/>
                  </a:lnTo>
                </a:path>
                <a:path w="5520055" h="1262379">
                  <a:moveTo>
                    <a:pt x="3081604" y="946073"/>
                  </a:moveTo>
                  <a:lnTo>
                    <a:pt x="3357727" y="946073"/>
                  </a:lnTo>
                </a:path>
                <a:path w="5520055" h="1262379">
                  <a:moveTo>
                    <a:pt x="3541687" y="946073"/>
                  </a:moveTo>
                  <a:lnTo>
                    <a:pt x="3817797" y="946073"/>
                  </a:lnTo>
                </a:path>
                <a:path w="5520055" h="1262379">
                  <a:moveTo>
                    <a:pt x="4001757" y="946073"/>
                  </a:moveTo>
                  <a:lnTo>
                    <a:pt x="4277525" y="946073"/>
                  </a:lnTo>
                </a:path>
                <a:path w="5520055" h="1262379">
                  <a:moveTo>
                    <a:pt x="4461484" y="946073"/>
                  </a:moveTo>
                  <a:lnTo>
                    <a:pt x="4737595" y="946073"/>
                  </a:lnTo>
                </a:path>
                <a:path w="5520055" h="1262379">
                  <a:moveTo>
                    <a:pt x="4921567" y="946073"/>
                  </a:moveTo>
                  <a:lnTo>
                    <a:pt x="5197678" y="946073"/>
                  </a:lnTo>
                </a:path>
                <a:path w="5520055" h="1262379">
                  <a:moveTo>
                    <a:pt x="5381637" y="946073"/>
                  </a:moveTo>
                  <a:lnTo>
                    <a:pt x="5519877" y="946073"/>
                  </a:lnTo>
                </a:path>
                <a:path w="5520055" h="1262379">
                  <a:moveTo>
                    <a:pt x="0" y="630720"/>
                  </a:moveTo>
                  <a:lnTo>
                    <a:pt x="137883" y="630720"/>
                  </a:lnTo>
                </a:path>
                <a:path w="5520055" h="1262379">
                  <a:moveTo>
                    <a:pt x="321843" y="630720"/>
                  </a:moveTo>
                  <a:lnTo>
                    <a:pt x="597966" y="630720"/>
                  </a:lnTo>
                </a:path>
                <a:path w="5520055" h="1262379">
                  <a:moveTo>
                    <a:pt x="781926" y="630720"/>
                  </a:moveTo>
                  <a:lnTo>
                    <a:pt x="1058036" y="630720"/>
                  </a:lnTo>
                </a:path>
                <a:path w="5520055" h="1262379">
                  <a:moveTo>
                    <a:pt x="1241996" y="630720"/>
                  </a:moveTo>
                  <a:lnTo>
                    <a:pt x="1517764" y="630720"/>
                  </a:lnTo>
                </a:path>
                <a:path w="5520055" h="1262379">
                  <a:moveTo>
                    <a:pt x="1701723" y="630720"/>
                  </a:moveTo>
                  <a:lnTo>
                    <a:pt x="1977847" y="630720"/>
                  </a:lnTo>
                </a:path>
                <a:path w="5520055" h="1262379">
                  <a:moveTo>
                    <a:pt x="2161806" y="630720"/>
                  </a:moveTo>
                  <a:lnTo>
                    <a:pt x="2437917" y="630720"/>
                  </a:lnTo>
                </a:path>
                <a:path w="5520055" h="1262379">
                  <a:moveTo>
                    <a:pt x="2621876" y="630720"/>
                  </a:moveTo>
                  <a:lnTo>
                    <a:pt x="2897644" y="630720"/>
                  </a:lnTo>
                </a:path>
                <a:path w="5520055" h="1262379">
                  <a:moveTo>
                    <a:pt x="3081604" y="630720"/>
                  </a:moveTo>
                  <a:lnTo>
                    <a:pt x="3357727" y="630720"/>
                  </a:lnTo>
                </a:path>
                <a:path w="5520055" h="1262379">
                  <a:moveTo>
                    <a:pt x="3541687" y="630720"/>
                  </a:moveTo>
                  <a:lnTo>
                    <a:pt x="3817797" y="630720"/>
                  </a:lnTo>
                </a:path>
                <a:path w="5520055" h="1262379">
                  <a:moveTo>
                    <a:pt x="4001757" y="630720"/>
                  </a:moveTo>
                  <a:lnTo>
                    <a:pt x="4277525" y="630720"/>
                  </a:lnTo>
                </a:path>
                <a:path w="5520055" h="1262379">
                  <a:moveTo>
                    <a:pt x="4461484" y="630720"/>
                  </a:moveTo>
                  <a:lnTo>
                    <a:pt x="5197678" y="630720"/>
                  </a:lnTo>
                </a:path>
                <a:path w="5520055" h="1262379">
                  <a:moveTo>
                    <a:pt x="5381637" y="630720"/>
                  </a:moveTo>
                  <a:lnTo>
                    <a:pt x="5519877" y="630720"/>
                  </a:lnTo>
                </a:path>
                <a:path w="5520055" h="1262379">
                  <a:moveTo>
                    <a:pt x="0" y="315353"/>
                  </a:moveTo>
                  <a:lnTo>
                    <a:pt x="137883" y="315353"/>
                  </a:lnTo>
                </a:path>
                <a:path w="5520055" h="1262379">
                  <a:moveTo>
                    <a:pt x="321843" y="315353"/>
                  </a:moveTo>
                  <a:lnTo>
                    <a:pt x="597966" y="315353"/>
                  </a:lnTo>
                </a:path>
                <a:path w="5520055" h="1262379">
                  <a:moveTo>
                    <a:pt x="781926" y="315353"/>
                  </a:moveTo>
                  <a:lnTo>
                    <a:pt x="1517764" y="315353"/>
                  </a:lnTo>
                </a:path>
                <a:path w="5520055" h="1262379">
                  <a:moveTo>
                    <a:pt x="1701723" y="315353"/>
                  </a:moveTo>
                  <a:lnTo>
                    <a:pt x="2437917" y="315353"/>
                  </a:lnTo>
                </a:path>
                <a:path w="5520055" h="1262379">
                  <a:moveTo>
                    <a:pt x="2621876" y="315353"/>
                  </a:moveTo>
                  <a:lnTo>
                    <a:pt x="2897644" y="315353"/>
                  </a:lnTo>
                </a:path>
                <a:path w="5520055" h="1262379">
                  <a:moveTo>
                    <a:pt x="3081604" y="315353"/>
                  </a:moveTo>
                  <a:lnTo>
                    <a:pt x="3357727" y="315353"/>
                  </a:lnTo>
                </a:path>
                <a:path w="5520055" h="1262379">
                  <a:moveTo>
                    <a:pt x="3541687" y="315353"/>
                  </a:moveTo>
                  <a:lnTo>
                    <a:pt x="3817797" y="315353"/>
                  </a:lnTo>
                </a:path>
                <a:path w="5520055" h="1262379">
                  <a:moveTo>
                    <a:pt x="4001757" y="315353"/>
                  </a:moveTo>
                  <a:lnTo>
                    <a:pt x="4277525" y="315353"/>
                  </a:lnTo>
                </a:path>
                <a:path w="5520055" h="1262379">
                  <a:moveTo>
                    <a:pt x="4461484" y="315353"/>
                  </a:moveTo>
                  <a:lnTo>
                    <a:pt x="5519877" y="315353"/>
                  </a:lnTo>
                </a:path>
                <a:path w="5520055" h="1262379">
                  <a:moveTo>
                    <a:pt x="0" y="0"/>
                  </a:moveTo>
                  <a:lnTo>
                    <a:pt x="137883" y="0"/>
                  </a:lnTo>
                </a:path>
                <a:path w="5520055" h="1262379">
                  <a:moveTo>
                    <a:pt x="321843" y="0"/>
                  </a:moveTo>
                  <a:lnTo>
                    <a:pt x="597966" y="0"/>
                  </a:lnTo>
                </a:path>
                <a:path w="5520055" h="1262379">
                  <a:moveTo>
                    <a:pt x="781926" y="0"/>
                  </a:moveTo>
                  <a:lnTo>
                    <a:pt x="2437917" y="0"/>
                  </a:lnTo>
                </a:path>
                <a:path w="5520055" h="1262379">
                  <a:moveTo>
                    <a:pt x="2621876" y="0"/>
                  </a:moveTo>
                  <a:lnTo>
                    <a:pt x="2897644" y="0"/>
                  </a:lnTo>
                </a:path>
                <a:path w="5520055" h="1262379">
                  <a:moveTo>
                    <a:pt x="3081604" y="0"/>
                  </a:moveTo>
                  <a:lnTo>
                    <a:pt x="3357727" y="0"/>
                  </a:lnTo>
                </a:path>
                <a:path w="5520055" h="1262379">
                  <a:moveTo>
                    <a:pt x="3541687" y="0"/>
                  </a:moveTo>
                  <a:lnTo>
                    <a:pt x="4277525" y="0"/>
                  </a:lnTo>
                </a:path>
                <a:path w="5520055" h="1262379">
                  <a:moveTo>
                    <a:pt x="4461484" y="0"/>
                  </a:moveTo>
                  <a:lnTo>
                    <a:pt x="5519877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2" name="object 12"/>
            <p:cNvSpPr/>
            <p:nvPr/>
          </p:nvSpPr>
          <p:spPr>
            <a:xfrm>
              <a:off x="3230638" y="1432447"/>
              <a:ext cx="5520055" cy="315595"/>
            </a:xfrm>
            <a:custGeom>
              <a:avLst/>
              <a:gdLst/>
              <a:ahLst/>
              <a:cxnLst/>
              <a:rect l="l" t="t" r="r" b="b"/>
              <a:pathLst>
                <a:path w="5520055" h="315594">
                  <a:moveTo>
                    <a:pt x="0" y="315353"/>
                  </a:moveTo>
                  <a:lnTo>
                    <a:pt x="137883" y="315353"/>
                  </a:lnTo>
                </a:path>
                <a:path w="5520055" h="315594">
                  <a:moveTo>
                    <a:pt x="321843" y="315353"/>
                  </a:moveTo>
                  <a:lnTo>
                    <a:pt x="2437917" y="315353"/>
                  </a:lnTo>
                </a:path>
                <a:path w="5520055" h="315594">
                  <a:moveTo>
                    <a:pt x="2621876" y="315353"/>
                  </a:moveTo>
                  <a:lnTo>
                    <a:pt x="2897644" y="315353"/>
                  </a:lnTo>
                </a:path>
                <a:path w="5520055" h="315594">
                  <a:moveTo>
                    <a:pt x="3081604" y="315353"/>
                  </a:moveTo>
                  <a:lnTo>
                    <a:pt x="3357727" y="315353"/>
                  </a:lnTo>
                </a:path>
                <a:path w="5520055" h="315594">
                  <a:moveTo>
                    <a:pt x="3541687" y="315353"/>
                  </a:moveTo>
                  <a:lnTo>
                    <a:pt x="5519877" y="315353"/>
                  </a:lnTo>
                </a:path>
                <a:path w="5520055" h="315594">
                  <a:moveTo>
                    <a:pt x="0" y="0"/>
                  </a:moveTo>
                  <a:lnTo>
                    <a:pt x="137883" y="0"/>
                  </a:lnTo>
                </a:path>
                <a:path w="5520055" h="315594">
                  <a:moveTo>
                    <a:pt x="321843" y="0"/>
                  </a:moveTo>
                  <a:lnTo>
                    <a:pt x="5519877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3" name="object 13"/>
            <p:cNvSpPr/>
            <p:nvPr/>
          </p:nvSpPr>
          <p:spPr>
            <a:xfrm>
              <a:off x="3230638" y="1117081"/>
              <a:ext cx="5520055" cy="0"/>
            </a:xfrm>
            <a:custGeom>
              <a:avLst/>
              <a:gdLst/>
              <a:ahLst/>
              <a:cxnLst/>
              <a:rect l="l" t="t" r="r" b="b"/>
              <a:pathLst>
                <a:path w="5520055">
                  <a:moveTo>
                    <a:pt x="5519877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76638" y="1117081"/>
              <a:ext cx="5574030" cy="2893695"/>
            </a:xfrm>
            <a:custGeom>
              <a:avLst/>
              <a:gdLst/>
              <a:ahLst/>
              <a:cxnLst/>
              <a:rect l="l" t="t" r="r" b="b"/>
              <a:pathLst>
                <a:path w="5574030" h="2893695">
                  <a:moveTo>
                    <a:pt x="54000" y="2893326"/>
                  </a:moveTo>
                  <a:lnTo>
                    <a:pt x="54000" y="2839326"/>
                  </a:lnTo>
                </a:path>
                <a:path w="5574030" h="2893695">
                  <a:moveTo>
                    <a:pt x="513727" y="2893326"/>
                  </a:moveTo>
                  <a:lnTo>
                    <a:pt x="513727" y="2839326"/>
                  </a:lnTo>
                </a:path>
                <a:path w="5574030" h="2893695">
                  <a:moveTo>
                    <a:pt x="973797" y="2893326"/>
                  </a:moveTo>
                  <a:lnTo>
                    <a:pt x="973797" y="2839326"/>
                  </a:lnTo>
                </a:path>
                <a:path w="5574030" h="2893695">
                  <a:moveTo>
                    <a:pt x="1433880" y="2893326"/>
                  </a:moveTo>
                  <a:lnTo>
                    <a:pt x="1433880" y="2839326"/>
                  </a:lnTo>
                </a:path>
                <a:path w="5574030" h="2893695">
                  <a:moveTo>
                    <a:pt x="1893963" y="2893326"/>
                  </a:moveTo>
                  <a:lnTo>
                    <a:pt x="1893963" y="2839326"/>
                  </a:lnTo>
                </a:path>
                <a:path w="5574030" h="2893695">
                  <a:moveTo>
                    <a:pt x="2354046" y="2893326"/>
                  </a:moveTo>
                  <a:lnTo>
                    <a:pt x="2354046" y="2839326"/>
                  </a:lnTo>
                </a:path>
                <a:path w="5574030" h="2893695">
                  <a:moveTo>
                    <a:pt x="2813761" y="2893326"/>
                  </a:moveTo>
                  <a:lnTo>
                    <a:pt x="2813761" y="2839326"/>
                  </a:lnTo>
                </a:path>
                <a:path w="5574030" h="2893695">
                  <a:moveTo>
                    <a:pt x="3273475" y="2893326"/>
                  </a:moveTo>
                  <a:lnTo>
                    <a:pt x="3273475" y="2839326"/>
                  </a:lnTo>
                </a:path>
                <a:path w="5574030" h="2893695">
                  <a:moveTo>
                    <a:pt x="3733558" y="2893326"/>
                  </a:moveTo>
                  <a:lnTo>
                    <a:pt x="3733558" y="2839326"/>
                  </a:lnTo>
                </a:path>
                <a:path w="5574030" h="2893695">
                  <a:moveTo>
                    <a:pt x="4193641" y="2893326"/>
                  </a:moveTo>
                  <a:lnTo>
                    <a:pt x="4193641" y="2839326"/>
                  </a:lnTo>
                </a:path>
                <a:path w="5574030" h="2893695">
                  <a:moveTo>
                    <a:pt x="4653724" y="2893326"/>
                  </a:moveTo>
                  <a:lnTo>
                    <a:pt x="4653724" y="2839326"/>
                  </a:lnTo>
                </a:path>
                <a:path w="5574030" h="2893695">
                  <a:moveTo>
                    <a:pt x="5113807" y="2893326"/>
                  </a:moveTo>
                  <a:lnTo>
                    <a:pt x="5113807" y="2839326"/>
                  </a:lnTo>
                </a:path>
                <a:path w="5574030" h="2893695">
                  <a:moveTo>
                    <a:pt x="5573877" y="2893326"/>
                  </a:moveTo>
                  <a:lnTo>
                    <a:pt x="5573877" y="2839326"/>
                  </a:lnTo>
                </a:path>
                <a:path w="5574030" h="2893695">
                  <a:moveTo>
                    <a:pt x="54000" y="2839326"/>
                  </a:moveTo>
                  <a:lnTo>
                    <a:pt x="5573877" y="2839326"/>
                  </a:lnTo>
                </a:path>
                <a:path w="5574030" h="2893695">
                  <a:moveTo>
                    <a:pt x="0" y="2839326"/>
                  </a:moveTo>
                  <a:lnTo>
                    <a:pt x="54000" y="2839326"/>
                  </a:lnTo>
                </a:path>
                <a:path w="5574030" h="2893695">
                  <a:moveTo>
                    <a:pt x="0" y="2523604"/>
                  </a:moveTo>
                  <a:lnTo>
                    <a:pt x="54000" y="2523604"/>
                  </a:lnTo>
                </a:path>
                <a:path w="5574030" h="2893695">
                  <a:moveTo>
                    <a:pt x="0" y="2208237"/>
                  </a:moveTo>
                  <a:lnTo>
                    <a:pt x="54000" y="2208237"/>
                  </a:lnTo>
                </a:path>
                <a:path w="5574030" h="2893695">
                  <a:moveTo>
                    <a:pt x="0" y="1892515"/>
                  </a:moveTo>
                  <a:lnTo>
                    <a:pt x="54000" y="1892515"/>
                  </a:lnTo>
                </a:path>
                <a:path w="5574030" h="2893695">
                  <a:moveTo>
                    <a:pt x="0" y="1577162"/>
                  </a:moveTo>
                  <a:lnTo>
                    <a:pt x="54000" y="1577162"/>
                  </a:lnTo>
                </a:path>
                <a:path w="5574030" h="2893695">
                  <a:moveTo>
                    <a:pt x="0" y="1261795"/>
                  </a:moveTo>
                  <a:lnTo>
                    <a:pt x="54000" y="1261795"/>
                  </a:lnTo>
                </a:path>
                <a:path w="5574030" h="2893695">
                  <a:moveTo>
                    <a:pt x="0" y="946442"/>
                  </a:moveTo>
                  <a:lnTo>
                    <a:pt x="54000" y="946442"/>
                  </a:lnTo>
                </a:path>
                <a:path w="5574030" h="2893695">
                  <a:moveTo>
                    <a:pt x="0" y="630720"/>
                  </a:moveTo>
                  <a:lnTo>
                    <a:pt x="54000" y="630720"/>
                  </a:lnTo>
                </a:path>
                <a:path w="5574030" h="2893695">
                  <a:moveTo>
                    <a:pt x="0" y="315366"/>
                  </a:moveTo>
                  <a:lnTo>
                    <a:pt x="54000" y="315366"/>
                  </a:lnTo>
                </a:path>
                <a:path w="5574030" h="2893695">
                  <a:moveTo>
                    <a:pt x="0" y="0"/>
                  </a:moveTo>
                  <a:lnTo>
                    <a:pt x="54000" y="0"/>
                  </a:lnTo>
                </a:path>
                <a:path w="5574030" h="2893695">
                  <a:moveTo>
                    <a:pt x="54000" y="2839326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5" name="object 15"/>
            <p:cNvSpPr/>
            <p:nvPr/>
          </p:nvSpPr>
          <p:spPr>
            <a:xfrm>
              <a:off x="3368522" y="1321919"/>
              <a:ext cx="644525" cy="2634615"/>
            </a:xfrm>
            <a:custGeom>
              <a:avLst/>
              <a:gdLst/>
              <a:ahLst/>
              <a:cxnLst/>
              <a:rect l="l" t="t" r="r" b="b"/>
              <a:pathLst>
                <a:path w="644525" h="2634615">
                  <a:moveTo>
                    <a:pt x="183959" y="0"/>
                  </a:moveTo>
                  <a:lnTo>
                    <a:pt x="0" y="0"/>
                  </a:lnTo>
                  <a:lnTo>
                    <a:pt x="0" y="2634488"/>
                  </a:lnTo>
                  <a:lnTo>
                    <a:pt x="183959" y="2634488"/>
                  </a:lnTo>
                  <a:lnTo>
                    <a:pt x="183959" y="0"/>
                  </a:lnTo>
                  <a:close/>
                </a:path>
                <a:path w="644525" h="2634615">
                  <a:moveTo>
                    <a:pt x="644042" y="473405"/>
                  </a:moveTo>
                  <a:lnTo>
                    <a:pt x="460082" y="473405"/>
                  </a:lnTo>
                  <a:lnTo>
                    <a:pt x="460082" y="2634488"/>
                  </a:lnTo>
                  <a:lnTo>
                    <a:pt x="644042" y="2634488"/>
                  </a:lnTo>
                  <a:lnTo>
                    <a:pt x="644042" y="473405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6" name="object 16"/>
            <p:cNvSpPr/>
            <p:nvPr/>
          </p:nvSpPr>
          <p:spPr>
            <a:xfrm>
              <a:off x="4288675" y="2445120"/>
              <a:ext cx="184150" cy="1511300"/>
            </a:xfrm>
            <a:custGeom>
              <a:avLst/>
              <a:gdLst/>
              <a:ahLst/>
              <a:cxnLst/>
              <a:rect l="l" t="t" r="r" b="b"/>
              <a:pathLst>
                <a:path w="184150" h="1511300">
                  <a:moveTo>
                    <a:pt x="183959" y="0"/>
                  </a:moveTo>
                  <a:lnTo>
                    <a:pt x="0" y="0"/>
                  </a:lnTo>
                  <a:lnTo>
                    <a:pt x="0" y="1511287"/>
                  </a:lnTo>
                  <a:lnTo>
                    <a:pt x="183959" y="1511287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7" name="object 17"/>
            <p:cNvSpPr/>
            <p:nvPr/>
          </p:nvSpPr>
          <p:spPr>
            <a:xfrm>
              <a:off x="4748402" y="2133005"/>
              <a:ext cx="184150" cy="1823720"/>
            </a:xfrm>
            <a:custGeom>
              <a:avLst/>
              <a:gdLst/>
              <a:ahLst/>
              <a:cxnLst/>
              <a:rect l="l" t="t" r="r" b="b"/>
              <a:pathLst>
                <a:path w="184150" h="1823720">
                  <a:moveTo>
                    <a:pt x="183959" y="0"/>
                  </a:moveTo>
                  <a:lnTo>
                    <a:pt x="0" y="0"/>
                  </a:lnTo>
                  <a:lnTo>
                    <a:pt x="0" y="1823402"/>
                  </a:lnTo>
                  <a:lnTo>
                    <a:pt x="183959" y="1823402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8" name="object 18"/>
            <p:cNvSpPr/>
            <p:nvPr/>
          </p:nvSpPr>
          <p:spPr>
            <a:xfrm>
              <a:off x="5208485" y="2404086"/>
              <a:ext cx="184150" cy="1552575"/>
            </a:xfrm>
            <a:custGeom>
              <a:avLst/>
              <a:gdLst/>
              <a:ahLst/>
              <a:cxnLst/>
              <a:rect l="l" t="t" r="r" b="b"/>
              <a:pathLst>
                <a:path w="184150" h="1552575">
                  <a:moveTo>
                    <a:pt x="183959" y="0"/>
                  </a:moveTo>
                  <a:lnTo>
                    <a:pt x="0" y="0"/>
                  </a:lnTo>
                  <a:lnTo>
                    <a:pt x="0" y="1552321"/>
                  </a:lnTo>
                  <a:lnTo>
                    <a:pt x="183959" y="1552321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9" name="object 19"/>
            <p:cNvSpPr/>
            <p:nvPr/>
          </p:nvSpPr>
          <p:spPr>
            <a:xfrm>
              <a:off x="5668556" y="1549084"/>
              <a:ext cx="1104265" cy="2407920"/>
            </a:xfrm>
            <a:custGeom>
              <a:avLst/>
              <a:gdLst/>
              <a:ahLst/>
              <a:cxnLst/>
              <a:rect l="l" t="t" r="r" b="b"/>
              <a:pathLst>
                <a:path w="1104265" h="2407920">
                  <a:moveTo>
                    <a:pt x="183959" y="41033"/>
                  </a:moveTo>
                  <a:lnTo>
                    <a:pt x="0" y="41033"/>
                  </a:lnTo>
                  <a:lnTo>
                    <a:pt x="0" y="2407323"/>
                  </a:lnTo>
                  <a:lnTo>
                    <a:pt x="183959" y="2407323"/>
                  </a:lnTo>
                  <a:lnTo>
                    <a:pt x="183959" y="41033"/>
                  </a:lnTo>
                  <a:close/>
                </a:path>
                <a:path w="1104265" h="2407920">
                  <a:moveTo>
                    <a:pt x="643686" y="94678"/>
                  </a:moveTo>
                  <a:lnTo>
                    <a:pt x="459727" y="94678"/>
                  </a:lnTo>
                  <a:lnTo>
                    <a:pt x="459727" y="2407323"/>
                  </a:lnTo>
                  <a:lnTo>
                    <a:pt x="643686" y="2407323"/>
                  </a:lnTo>
                  <a:lnTo>
                    <a:pt x="643686" y="94678"/>
                  </a:lnTo>
                  <a:close/>
                </a:path>
                <a:path w="1104265" h="2407920">
                  <a:moveTo>
                    <a:pt x="1103769" y="0"/>
                  </a:moveTo>
                  <a:lnTo>
                    <a:pt x="919810" y="0"/>
                  </a:lnTo>
                  <a:lnTo>
                    <a:pt x="919810" y="2407323"/>
                  </a:lnTo>
                  <a:lnTo>
                    <a:pt x="1103769" y="2407323"/>
                  </a:lnTo>
                  <a:lnTo>
                    <a:pt x="110376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20" name="object 20"/>
            <p:cNvSpPr/>
            <p:nvPr/>
          </p:nvSpPr>
          <p:spPr>
            <a:xfrm>
              <a:off x="7048436" y="1924559"/>
              <a:ext cx="643890" cy="2032000"/>
            </a:xfrm>
            <a:custGeom>
              <a:avLst/>
              <a:gdLst/>
              <a:ahLst/>
              <a:cxnLst/>
              <a:rect l="l" t="t" r="r" b="b"/>
              <a:pathLst>
                <a:path w="643890" h="2032000">
                  <a:moveTo>
                    <a:pt x="183959" y="378726"/>
                  </a:moveTo>
                  <a:lnTo>
                    <a:pt x="0" y="378726"/>
                  </a:lnTo>
                  <a:lnTo>
                    <a:pt x="0" y="2031847"/>
                  </a:lnTo>
                  <a:lnTo>
                    <a:pt x="183959" y="2031847"/>
                  </a:lnTo>
                  <a:lnTo>
                    <a:pt x="183959" y="378726"/>
                  </a:lnTo>
                  <a:close/>
                </a:path>
                <a:path w="643890" h="2032000">
                  <a:moveTo>
                    <a:pt x="643686" y="0"/>
                  </a:moveTo>
                  <a:lnTo>
                    <a:pt x="459727" y="0"/>
                  </a:lnTo>
                  <a:lnTo>
                    <a:pt x="459727" y="2031847"/>
                  </a:lnTo>
                  <a:lnTo>
                    <a:pt x="643686" y="2031847"/>
                  </a:lnTo>
                  <a:lnTo>
                    <a:pt x="643686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21" name="object 21"/>
            <p:cNvSpPr/>
            <p:nvPr/>
          </p:nvSpPr>
          <p:spPr>
            <a:xfrm>
              <a:off x="7968234" y="2571485"/>
              <a:ext cx="644525" cy="1384935"/>
            </a:xfrm>
            <a:custGeom>
              <a:avLst/>
              <a:gdLst/>
              <a:ahLst/>
              <a:cxnLst/>
              <a:rect l="l" t="t" r="r" b="b"/>
              <a:pathLst>
                <a:path w="644525" h="1384935">
                  <a:moveTo>
                    <a:pt x="183972" y="280441"/>
                  </a:moveTo>
                  <a:lnTo>
                    <a:pt x="0" y="280441"/>
                  </a:lnTo>
                  <a:lnTo>
                    <a:pt x="0" y="1384922"/>
                  </a:lnTo>
                  <a:lnTo>
                    <a:pt x="183972" y="1384922"/>
                  </a:lnTo>
                  <a:lnTo>
                    <a:pt x="183972" y="280441"/>
                  </a:lnTo>
                  <a:close/>
                </a:path>
                <a:path w="644525" h="1384935">
                  <a:moveTo>
                    <a:pt x="644042" y="0"/>
                  </a:moveTo>
                  <a:lnTo>
                    <a:pt x="460082" y="0"/>
                  </a:lnTo>
                  <a:lnTo>
                    <a:pt x="460082" y="1384922"/>
                  </a:lnTo>
                  <a:lnTo>
                    <a:pt x="644042" y="1384922"/>
                  </a:lnTo>
                  <a:lnTo>
                    <a:pt x="644042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58890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IG.01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71545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IG.04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84198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IG.11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96835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IG.12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9489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IG.13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22125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IG.14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34305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IG.15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46942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IG.16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59595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IG.17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72232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IG.18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84886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IG.19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197539" y="5354721"/>
            <a:ext cx="315416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IG.20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09429" y="5171611"/>
            <a:ext cx="99783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45669" y="4751217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10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45669" y="4331315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20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45669" y="3910905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30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45669" y="3491003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40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45669" y="3070610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50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45669" y="2650690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60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45669" y="2230297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70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45669" y="1810378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80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45669" y="1390477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90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34641" y="1552007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84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47278" y="2182368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69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59932" y="3047592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48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89498" y="2632003"/>
            <a:ext cx="146293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58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85222" y="2992948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49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97876" y="1909131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75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10039" y="1980552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73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822692" y="1854487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76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026151" y="2858731"/>
            <a:ext cx="98007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52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047982" y="2354452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64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660619" y="3589755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35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273274" y="3215854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1D283A"/>
                </a:solidFill>
                <a:latin typeface="Arial MT"/>
                <a:cs typeface="Arial MT"/>
              </a:rPr>
              <a:t>44</a:t>
            </a:r>
            <a:endParaRPr sz="93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24309" y="3487197"/>
            <a:ext cx="3179541" cy="2204538"/>
            <a:chOff x="388073" y="2618627"/>
            <a:chExt cx="2387600" cy="1655445"/>
          </a:xfrm>
        </p:grpSpPr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073" y="2618627"/>
              <a:ext cx="2387155" cy="1655292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56844" y="2651406"/>
              <a:ext cx="2286000" cy="1554480"/>
            </a:xfrm>
            <a:custGeom>
              <a:avLst/>
              <a:gdLst/>
              <a:ahLst/>
              <a:cxnLst/>
              <a:rect l="l" t="t" r="r" b="b"/>
              <a:pathLst>
                <a:path w="2286000" h="1554479">
                  <a:moveTo>
                    <a:pt x="2285631" y="0"/>
                  </a:moveTo>
                  <a:lnTo>
                    <a:pt x="0" y="0"/>
                  </a:lnTo>
                  <a:lnTo>
                    <a:pt x="0" y="1554111"/>
                  </a:lnTo>
                  <a:lnTo>
                    <a:pt x="1143000" y="1554111"/>
                  </a:lnTo>
                  <a:lnTo>
                    <a:pt x="2285631" y="1554111"/>
                  </a:lnTo>
                  <a:lnTo>
                    <a:pt x="2285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40589" y="3625644"/>
            <a:ext cx="1018130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Key</a:t>
            </a:r>
            <a:r>
              <a:rPr sz="1330" b="1" spc="-45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Highlights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40589" y="4265644"/>
            <a:ext cx="1478148" cy="30353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1065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Best:</a:t>
            </a:r>
            <a:r>
              <a:rPr sz="1065" b="1" spc="-1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IG.01</a:t>
            </a:r>
            <a:r>
              <a:rPr sz="1065" b="1" spc="-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1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(83.5%)</a:t>
            </a:r>
            <a:endParaRPr sz="1065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IG.16</a:t>
            </a:r>
            <a:r>
              <a:rPr sz="1065" spc="-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(76.3%),</a:t>
            </a:r>
            <a:r>
              <a:rPr sz="1065" spc="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IG.14 </a:t>
            </a:r>
            <a:r>
              <a:rPr sz="1065" spc="-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(75%)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40589" y="4751759"/>
            <a:ext cx="1581314" cy="30353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Worst:</a:t>
            </a:r>
            <a:r>
              <a:rPr sz="1065" b="1" spc="-1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IG.19</a:t>
            </a:r>
            <a:r>
              <a:rPr sz="1065" b="1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(35%)</a:t>
            </a:r>
            <a:endParaRPr sz="1065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IG.20</a:t>
            </a:r>
            <a:r>
              <a:rPr sz="1065" spc="-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(43.9%),</a:t>
            </a:r>
            <a:r>
              <a:rPr sz="1065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IG.11 </a:t>
            </a:r>
            <a:r>
              <a:rPr sz="1065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(47.9%)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5785" y="22431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chemeClr val="bg1"/>
                </a:solidFill>
              </a:rPr>
              <a:t>Machine-</a:t>
            </a:r>
            <a:r>
              <a:rPr sz="2400" b="1" dirty="0">
                <a:solidFill>
                  <a:schemeClr val="bg1"/>
                </a:solidFill>
              </a:rPr>
              <a:t>wise OEE –</a:t>
            </a:r>
            <a:r>
              <a:rPr sz="2400" b="1" spc="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IG </a:t>
            </a:r>
            <a:r>
              <a:rPr sz="2400" b="1" spc="-10" dirty="0">
                <a:solidFill>
                  <a:schemeClr val="bg1"/>
                </a:solidFill>
              </a:rPr>
              <a:t>Section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9760" y="614707"/>
            <a:ext cx="2387193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Detailed</a:t>
            </a:r>
            <a:r>
              <a:rPr sz="1330" spc="-1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Breakdown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7249" y="1213892"/>
          <a:ext cx="11798935" cy="3902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2980"/>
                <a:gridCol w="1598295"/>
                <a:gridCol w="1597660"/>
                <a:gridCol w="1597660"/>
                <a:gridCol w="1597660"/>
                <a:gridCol w="1229360"/>
                <a:gridCol w="3195320"/>
              </a:tblGrid>
              <a:tr h="278765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Machine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Plan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Qty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Good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Qty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Downtime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(hrs)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Achievement</a:t>
                      </a:r>
                      <a:r>
                        <a:rPr sz="10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OEE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1A395B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IG.01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64,513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53,861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69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83.5%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83.5%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Above</a:t>
                      </a:r>
                      <a:r>
                        <a:rPr sz="930" b="1" spc="-4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IG.04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38,000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26,029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124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68.5%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68.5%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Above</a:t>
                      </a:r>
                      <a:r>
                        <a:rPr sz="930" b="1" spc="-4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IG.11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16,354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7,833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181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47.9%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47.9%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Critical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IG.12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34,716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20,049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154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57.8%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57.8%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Below</a:t>
                      </a:r>
                      <a:r>
                        <a:rPr sz="930" b="1" spc="-3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IG.13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20,933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10,299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176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49.2%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49.2%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Critical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IG.14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60,137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45,115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87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75.0%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75.0%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Above</a:t>
                      </a:r>
                      <a:r>
                        <a:rPr sz="930" b="1" spc="-4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IG.15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51,537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37,749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57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73.3%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73.3%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Above</a:t>
                      </a:r>
                      <a:r>
                        <a:rPr sz="930" b="1" spc="-4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IG.16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51,856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39,558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59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76.3%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76.3%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Above</a:t>
                      </a:r>
                      <a:r>
                        <a:rPr sz="930" b="1" spc="-4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0C9387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IG.17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37,417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19,612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158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52.4%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52.4%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Below</a:t>
                      </a:r>
                      <a:r>
                        <a:rPr sz="930" b="1" spc="-3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IG.18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46,800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30,141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131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64.4%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64.4%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Below</a:t>
                      </a:r>
                      <a:r>
                        <a:rPr sz="930" b="1" spc="-3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930" b="1" spc="-10" dirty="0">
                          <a:solidFill>
                            <a:srgbClr val="D87605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IG.19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5,918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2,072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108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35.0%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35.0%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Critical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IG.20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15,020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6,586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25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88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43.9%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10" dirty="0">
                          <a:solidFill>
                            <a:srgbClr val="1D283A"/>
                          </a:solidFill>
                          <a:latin typeface="Calibri" panose="020F0502020204030204"/>
                          <a:cs typeface="Calibri" panose="020F0502020204030204"/>
                        </a:rPr>
                        <a:t>43.9%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930" b="1" spc="-10" dirty="0">
                          <a:solidFill>
                            <a:srgbClr val="DB2525"/>
                          </a:solidFill>
                          <a:latin typeface="Calibri" panose="020F0502020204030204"/>
                          <a:cs typeface="Calibri" panose="020F0502020204030204"/>
                        </a:rPr>
                        <a:t>Critical</a:t>
                      </a:r>
                      <a:endParaRPr sz="93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119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Fleet</a:t>
                      </a:r>
                      <a:r>
                        <a:rPr sz="1000" b="1" spc="-3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Avg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443,200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298,904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1,393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67.4%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58%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Below</a:t>
                      </a:r>
                      <a:r>
                        <a:rPr sz="1000" b="1" spc="-25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A395B"/>
                          </a:solidFill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1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5811" marB="0">
                    <a:lnL w="6350">
                      <a:solidFill>
                        <a:srgbClr val="D0D4DA"/>
                      </a:solidFill>
                      <a:prstDash val="solid"/>
                    </a:lnL>
                    <a:lnR w="6350">
                      <a:solidFill>
                        <a:srgbClr val="D0D4DA"/>
                      </a:solidFill>
                      <a:prstDash val="solid"/>
                    </a:lnR>
                    <a:lnT w="6350">
                      <a:solidFill>
                        <a:srgbClr val="D0D4DA"/>
                      </a:solidFill>
                      <a:prstDash val="solid"/>
                    </a:lnT>
                    <a:lnB w="6350">
                      <a:solidFill>
                        <a:srgbClr val="D0D4DA"/>
                      </a:solidFill>
                      <a:prstDash val="solid"/>
                    </a:lnB>
                    <a:solidFill>
                      <a:srgbClr val="E7EFF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4510" y="207804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chemeClr val="bg1"/>
                </a:solidFill>
              </a:rPr>
              <a:t>Machine-</a:t>
            </a:r>
            <a:r>
              <a:rPr sz="2400" b="1" dirty="0">
                <a:solidFill>
                  <a:schemeClr val="bg1"/>
                </a:solidFill>
              </a:rPr>
              <a:t>wise</a:t>
            </a:r>
            <a:r>
              <a:rPr sz="2400" b="1" spc="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OEE –</a:t>
            </a:r>
            <a:r>
              <a:rPr sz="2400" b="1" spc="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HO</a:t>
            </a:r>
            <a:r>
              <a:rPr sz="2400" b="1" spc="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Section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3720" y="589942"/>
            <a:ext cx="3091597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Near-</a:t>
            </a:r>
            <a:r>
              <a:rPr sz="133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Defect</a:t>
            </a:r>
            <a:r>
              <a:rPr sz="1330" spc="-5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Performance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2826" y="1339468"/>
            <a:ext cx="11446349" cy="4018399"/>
            <a:chOff x="274320" y="1005841"/>
            <a:chExt cx="8595360" cy="3017520"/>
          </a:xfrm>
        </p:grpSpPr>
        <p:sp>
          <p:nvSpPr>
            <p:cNvPr id="5" name="object 5"/>
            <p:cNvSpPr/>
            <p:nvPr/>
          </p:nvSpPr>
          <p:spPr>
            <a:xfrm>
              <a:off x="274320" y="1005841"/>
              <a:ext cx="8595360" cy="3017520"/>
            </a:xfrm>
            <a:custGeom>
              <a:avLst/>
              <a:gdLst/>
              <a:ahLst/>
              <a:cxnLst/>
              <a:rect l="l" t="t" r="r" b="b"/>
              <a:pathLst>
                <a:path w="8595360" h="3017520">
                  <a:moveTo>
                    <a:pt x="8595004" y="0"/>
                  </a:moveTo>
                  <a:lnTo>
                    <a:pt x="0" y="0"/>
                  </a:lnTo>
                  <a:lnTo>
                    <a:pt x="0" y="3017164"/>
                  </a:lnTo>
                  <a:lnTo>
                    <a:pt x="4297680" y="3017164"/>
                  </a:lnTo>
                  <a:lnTo>
                    <a:pt x="8595004" y="3017164"/>
                  </a:lnTo>
                  <a:lnTo>
                    <a:pt x="8595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6" name="object 6"/>
            <p:cNvSpPr/>
            <p:nvPr/>
          </p:nvSpPr>
          <p:spPr>
            <a:xfrm>
              <a:off x="631799" y="3777121"/>
              <a:ext cx="8066405" cy="0"/>
            </a:xfrm>
            <a:custGeom>
              <a:avLst/>
              <a:gdLst/>
              <a:ahLst/>
              <a:cxnLst/>
              <a:rect l="l" t="t" r="r" b="b"/>
              <a:pathLst>
                <a:path w="8066405">
                  <a:moveTo>
                    <a:pt x="8065795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7" name="object 7"/>
            <p:cNvSpPr/>
            <p:nvPr/>
          </p:nvSpPr>
          <p:spPr>
            <a:xfrm>
              <a:off x="631799" y="2112481"/>
              <a:ext cx="8066405" cy="1332230"/>
            </a:xfrm>
            <a:custGeom>
              <a:avLst/>
              <a:gdLst/>
              <a:ahLst/>
              <a:cxnLst/>
              <a:rect l="l" t="t" r="r" b="b"/>
              <a:pathLst>
                <a:path w="8066405" h="1332229">
                  <a:moveTo>
                    <a:pt x="0" y="1331645"/>
                  </a:moveTo>
                  <a:lnTo>
                    <a:pt x="241922" y="1331645"/>
                  </a:lnTo>
                </a:path>
                <a:path w="8066405" h="1332229">
                  <a:moveTo>
                    <a:pt x="564476" y="1331645"/>
                  </a:moveTo>
                  <a:lnTo>
                    <a:pt x="1048321" y="1331645"/>
                  </a:lnTo>
                </a:path>
                <a:path w="8066405" h="1332229">
                  <a:moveTo>
                    <a:pt x="1371244" y="1331645"/>
                  </a:moveTo>
                  <a:lnTo>
                    <a:pt x="1855076" y="1331645"/>
                  </a:lnTo>
                </a:path>
                <a:path w="8066405" h="1332229">
                  <a:moveTo>
                    <a:pt x="2177643" y="1331645"/>
                  </a:moveTo>
                  <a:lnTo>
                    <a:pt x="2661475" y="1331645"/>
                  </a:lnTo>
                </a:path>
                <a:path w="8066405" h="1332229">
                  <a:moveTo>
                    <a:pt x="2984398" y="1331645"/>
                  </a:moveTo>
                  <a:lnTo>
                    <a:pt x="3468243" y="1331645"/>
                  </a:lnTo>
                </a:path>
                <a:path w="8066405" h="1332229">
                  <a:moveTo>
                    <a:pt x="3790797" y="1331645"/>
                  </a:moveTo>
                  <a:lnTo>
                    <a:pt x="4274642" y="1331645"/>
                  </a:lnTo>
                </a:path>
                <a:path w="8066405" h="1332229">
                  <a:moveTo>
                    <a:pt x="4597196" y="1331645"/>
                  </a:moveTo>
                  <a:lnTo>
                    <a:pt x="5081041" y="1331645"/>
                  </a:lnTo>
                </a:path>
                <a:path w="8066405" h="1332229">
                  <a:moveTo>
                    <a:pt x="5403964" y="1331645"/>
                  </a:moveTo>
                  <a:lnTo>
                    <a:pt x="5887796" y="1331645"/>
                  </a:lnTo>
                </a:path>
                <a:path w="8066405" h="1332229">
                  <a:moveTo>
                    <a:pt x="6210363" y="1331645"/>
                  </a:moveTo>
                  <a:lnTo>
                    <a:pt x="6694195" y="1331645"/>
                  </a:lnTo>
                </a:path>
                <a:path w="8066405" h="1332229">
                  <a:moveTo>
                    <a:pt x="7017118" y="1331645"/>
                  </a:moveTo>
                  <a:lnTo>
                    <a:pt x="7500962" y="1331645"/>
                  </a:lnTo>
                </a:path>
                <a:path w="8066405" h="1332229">
                  <a:moveTo>
                    <a:pt x="7823517" y="1331645"/>
                  </a:moveTo>
                  <a:lnTo>
                    <a:pt x="8065795" y="1331645"/>
                  </a:lnTo>
                </a:path>
                <a:path w="8066405" h="1332229">
                  <a:moveTo>
                    <a:pt x="0" y="998639"/>
                  </a:moveTo>
                  <a:lnTo>
                    <a:pt x="241922" y="998639"/>
                  </a:lnTo>
                </a:path>
                <a:path w="8066405" h="1332229">
                  <a:moveTo>
                    <a:pt x="564476" y="998639"/>
                  </a:moveTo>
                  <a:lnTo>
                    <a:pt x="1048321" y="998639"/>
                  </a:lnTo>
                </a:path>
                <a:path w="8066405" h="1332229">
                  <a:moveTo>
                    <a:pt x="1371244" y="998639"/>
                  </a:moveTo>
                  <a:lnTo>
                    <a:pt x="1855076" y="998639"/>
                  </a:lnTo>
                </a:path>
                <a:path w="8066405" h="1332229">
                  <a:moveTo>
                    <a:pt x="2177643" y="998639"/>
                  </a:moveTo>
                  <a:lnTo>
                    <a:pt x="2661475" y="998639"/>
                  </a:lnTo>
                </a:path>
                <a:path w="8066405" h="1332229">
                  <a:moveTo>
                    <a:pt x="2984398" y="998639"/>
                  </a:moveTo>
                  <a:lnTo>
                    <a:pt x="3468243" y="998639"/>
                  </a:lnTo>
                </a:path>
                <a:path w="8066405" h="1332229">
                  <a:moveTo>
                    <a:pt x="3790797" y="998639"/>
                  </a:moveTo>
                  <a:lnTo>
                    <a:pt x="4274642" y="998639"/>
                  </a:lnTo>
                </a:path>
                <a:path w="8066405" h="1332229">
                  <a:moveTo>
                    <a:pt x="4597196" y="998639"/>
                  </a:moveTo>
                  <a:lnTo>
                    <a:pt x="5081041" y="998639"/>
                  </a:lnTo>
                </a:path>
                <a:path w="8066405" h="1332229">
                  <a:moveTo>
                    <a:pt x="5403964" y="998639"/>
                  </a:moveTo>
                  <a:lnTo>
                    <a:pt x="5887796" y="998639"/>
                  </a:lnTo>
                </a:path>
                <a:path w="8066405" h="1332229">
                  <a:moveTo>
                    <a:pt x="6210363" y="998639"/>
                  </a:moveTo>
                  <a:lnTo>
                    <a:pt x="6694195" y="998639"/>
                  </a:lnTo>
                </a:path>
                <a:path w="8066405" h="1332229">
                  <a:moveTo>
                    <a:pt x="7017118" y="998639"/>
                  </a:moveTo>
                  <a:lnTo>
                    <a:pt x="7500962" y="998639"/>
                  </a:lnTo>
                </a:path>
                <a:path w="8066405" h="1332229">
                  <a:moveTo>
                    <a:pt x="7823517" y="998639"/>
                  </a:moveTo>
                  <a:lnTo>
                    <a:pt x="8065795" y="998639"/>
                  </a:lnTo>
                </a:path>
                <a:path w="8066405" h="1332229">
                  <a:moveTo>
                    <a:pt x="0" y="665645"/>
                  </a:moveTo>
                  <a:lnTo>
                    <a:pt x="241922" y="665645"/>
                  </a:lnTo>
                </a:path>
                <a:path w="8066405" h="1332229">
                  <a:moveTo>
                    <a:pt x="564476" y="665645"/>
                  </a:moveTo>
                  <a:lnTo>
                    <a:pt x="1048321" y="665645"/>
                  </a:lnTo>
                </a:path>
                <a:path w="8066405" h="1332229">
                  <a:moveTo>
                    <a:pt x="1371244" y="665645"/>
                  </a:moveTo>
                  <a:lnTo>
                    <a:pt x="1855076" y="665645"/>
                  </a:lnTo>
                </a:path>
                <a:path w="8066405" h="1332229">
                  <a:moveTo>
                    <a:pt x="2177643" y="665645"/>
                  </a:moveTo>
                  <a:lnTo>
                    <a:pt x="2661475" y="665645"/>
                  </a:lnTo>
                </a:path>
                <a:path w="8066405" h="1332229">
                  <a:moveTo>
                    <a:pt x="2984398" y="665645"/>
                  </a:moveTo>
                  <a:lnTo>
                    <a:pt x="3468243" y="665645"/>
                  </a:lnTo>
                </a:path>
                <a:path w="8066405" h="1332229">
                  <a:moveTo>
                    <a:pt x="3790797" y="665645"/>
                  </a:moveTo>
                  <a:lnTo>
                    <a:pt x="4274642" y="665645"/>
                  </a:lnTo>
                </a:path>
                <a:path w="8066405" h="1332229">
                  <a:moveTo>
                    <a:pt x="4597196" y="665645"/>
                  </a:moveTo>
                  <a:lnTo>
                    <a:pt x="5081041" y="665645"/>
                  </a:lnTo>
                </a:path>
                <a:path w="8066405" h="1332229">
                  <a:moveTo>
                    <a:pt x="5403964" y="665645"/>
                  </a:moveTo>
                  <a:lnTo>
                    <a:pt x="5887796" y="665645"/>
                  </a:lnTo>
                </a:path>
                <a:path w="8066405" h="1332229">
                  <a:moveTo>
                    <a:pt x="6210363" y="665645"/>
                  </a:moveTo>
                  <a:lnTo>
                    <a:pt x="6694195" y="665645"/>
                  </a:lnTo>
                </a:path>
                <a:path w="8066405" h="1332229">
                  <a:moveTo>
                    <a:pt x="7017118" y="665645"/>
                  </a:moveTo>
                  <a:lnTo>
                    <a:pt x="7500962" y="665645"/>
                  </a:lnTo>
                </a:path>
                <a:path w="8066405" h="1332229">
                  <a:moveTo>
                    <a:pt x="7823517" y="665645"/>
                  </a:moveTo>
                  <a:lnTo>
                    <a:pt x="8065795" y="665645"/>
                  </a:lnTo>
                </a:path>
                <a:path w="8066405" h="1332229">
                  <a:moveTo>
                    <a:pt x="0" y="332994"/>
                  </a:moveTo>
                  <a:lnTo>
                    <a:pt x="241922" y="332994"/>
                  </a:lnTo>
                </a:path>
                <a:path w="8066405" h="1332229">
                  <a:moveTo>
                    <a:pt x="564476" y="332994"/>
                  </a:moveTo>
                  <a:lnTo>
                    <a:pt x="1048321" y="332994"/>
                  </a:lnTo>
                </a:path>
                <a:path w="8066405" h="1332229">
                  <a:moveTo>
                    <a:pt x="1371244" y="332994"/>
                  </a:moveTo>
                  <a:lnTo>
                    <a:pt x="1855076" y="332994"/>
                  </a:lnTo>
                </a:path>
                <a:path w="8066405" h="1332229">
                  <a:moveTo>
                    <a:pt x="2177643" y="332994"/>
                  </a:moveTo>
                  <a:lnTo>
                    <a:pt x="2661475" y="332994"/>
                  </a:lnTo>
                </a:path>
                <a:path w="8066405" h="1332229">
                  <a:moveTo>
                    <a:pt x="2984398" y="332994"/>
                  </a:moveTo>
                  <a:lnTo>
                    <a:pt x="3468243" y="332994"/>
                  </a:lnTo>
                </a:path>
                <a:path w="8066405" h="1332229">
                  <a:moveTo>
                    <a:pt x="3790797" y="332994"/>
                  </a:moveTo>
                  <a:lnTo>
                    <a:pt x="4274642" y="332994"/>
                  </a:lnTo>
                </a:path>
                <a:path w="8066405" h="1332229">
                  <a:moveTo>
                    <a:pt x="4597196" y="332994"/>
                  </a:moveTo>
                  <a:lnTo>
                    <a:pt x="5081041" y="332994"/>
                  </a:lnTo>
                </a:path>
                <a:path w="8066405" h="1332229">
                  <a:moveTo>
                    <a:pt x="5403964" y="332994"/>
                  </a:moveTo>
                  <a:lnTo>
                    <a:pt x="5887796" y="332994"/>
                  </a:lnTo>
                </a:path>
                <a:path w="8066405" h="1332229">
                  <a:moveTo>
                    <a:pt x="6210363" y="332994"/>
                  </a:moveTo>
                  <a:lnTo>
                    <a:pt x="6694195" y="332994"/>
                  </a:lnTo>
                </a:path>
                <a:path w="8066405" h="1332229">
                  <a:moveTo>
                    <a:pt x="7017118" y="332994"/>
                  </a:moveTo>
                  <a:lnTo>
                    <a:pt x="7500962" y="332994"/>
                  </a:lnTo>
                </a:path>
                <a:path w="8066405" h="1332229">
                  <a:moveTo>
                    <a:pt x="7823517" y="332994"/>
                  </a:moveTo>
                  <a:lnTo>
                    <a:pt x="8065795" y="332994"/>
                  </a:lnTo>
                </a:path>
                <a:path w="8066405" h="1332229">
                  <a:moveTo>
                    <a:pt x="0" y="0"/>
                  </a:moveTo>
                  <a:lnTo>
                    <a:pt x="241922" y="0"/>
                  </a:lnTo>
                </a:path>
                <a:path w="8066405" h="1332229">
                  <a:moveTo>
                    <a:pt x="564476" y="0"/>
                  </a:moveTo>
                  <a:lnTo>
                    <a:pt x="1048321" y="0"/>
                  </a:lnTo>
                </a:path>
                <a:path w="8066405" h="1332229">
                  <a:moveTo>
                    <a:pt x="1371244" y="0"/>
                  </a:moveTo>
                  <a:lnTo>
                    <a:pt x="1855076" y="0"/>
                  </a:lnTo>
                </a:path>
                <a:path w="8066405" h="1332229">
                  <a:moveTo>
                    <a:pt x="2177643" y="0"/>
                  </a:moveTo>
                  <a:lnTo>
                    <a:pt x="2661475" y="0"/>
                  </a:lnTo>
                </a:path>
                <a:path w="8066405" h="1332229">
                  <a:moveTo>
                    <a:pt x="2984398" y="0"/>
                  </a:moveTo>
                  <a:lnTo>
                    <a:pt x="3468243" y="0"/>
                  </a:lnTo>
                </a:path>
                <a:path w="8066405" h="1332229">
                  <a:moveTo>
                    <a:pt x="3790797" y="0"/>
                  </a:moveTo>
                  <a:lnTo>
                    <a:pt x="4274642" y="0"/>
                  </a:lnTo>
                </a:path>
                <a:path w="8066405" h="1332229">
                  <a:moveTo>
                    <a:pt x="4597196" y="0"/>
                  </a:moveTo>
                  <a:lnTo>
                    <a:pt x="5081041" y="0"/>
                  </a:lnTo>
                </a:path>
                <a:path w="8066405" h="1332229">
                  <a:moveTo>
                    <a:pt x="5403964" y="0"/>
                  </a:moveTo>
                  <a:lnTo>
                    <a:pt x="5887796" y="0"/>
                  </a:lnTo>
                </a:path>
                <a:path w="8066405" h="1332229">
                  <a:moveTo>
                    <a:pt x="6210363" y="0"/>
                  </a:moveTo>
                  <a:lnTo>
                    <a:pt x="6694195" y="0"/>
                  </a:lnTo>
                </a:path>
                <a:path w="8066405" h="1332229">
                  <a:moveTo>
                    <a:pt x="7017118" y="0"/>
                  </a:moveTo>
                  <a:lnTo>
                    <a:pt x="8065795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8" name="object 8"/>
            <p:cNvSpPr/>
            <p:nvPr/>
          </p:nvSpPr>
          <p:spPr>
            <a:xfrm>
              <a:off x="631799" y="1446481"/>
              <a:ext cx="8066405" cy="333375"/>
            </a:xfrm>
            <a:custGeom>
              <a:avLst/>
              <a:gdLst/>
              <a:ahLst/>
              <a:cxnLst/>
              <a:rect l="l" t="t" r="r" b="b"/>
              <a:pathLst>
                <a:path w="8066405" h="333375">
                  <a:moveTo>
                    <a:pt x="0" y="333006"/>
                  </a:moveTo>
                  <a:lnTo>
                    <a:pt x="241922" y="333006"/>
                  </a:lnTo>
                </a:path>
                <a:path w="8066405" h="333375">
                  <a:moveTo>
                    <a:pt x="564476" y="333006"/>
                  </a:moveTo>
                  <a:lnTo>
                    <a:pt x="1048321" y="333006"/>
                  </a:lnTo>
                </a:path>
                <a:path w="8066405" h="333375">
                  <a:moveTo>
                    <a:pt x="1371244" y="333006"/>
                  </a:moveTo>
                  <a:lnTo>
                    <a:pt x="1855076" y="333006"/>
                  </a:lnTo>
                </a:path>
                <a:path w="8066405" h="333375">
                  <a:moveTo>
                    <a:pt x="2177643" y="333006"/>
                  </a:moveTo>
                  <a:lnTo>
                    <a:pt x="2661475" y="333006"/>
                  </a:lnTo>
                </a:path>
                <a:path w="8066405" h="333375">
                  <a:moveTo>
                    <a:pt x="2984398" y="333006"/>
                  </a:moveTo>
                  <a:lnTo>
                    <a:pt x="5081041" y="333006"/>
                  </a:lnTo>
                </a:path>
                <a:path w="8066405" h="333375">
                  <a:moveTo>
                    <a:pt x="5403964" y="333006"/>
                  </a:moveTo>
                  <a:lnTo>
                    <a:pt x="5887796" y="333006"/>
                  </a:lnTo>
                </a:path>
                <a:path w="8066405" h="333375">
                  <a:moveTo>
                    <a:pt x="6210363" y="333006"/>
                  </a:moveTo>
                  <a:lnTo>
                    <a:pt x="6694195" y="333006"/>
                  </a:lnTo>
                </a:path>
                <a:path w="8066405" h="333375">
                  <a:moveTo>
                    <a:pt x="7017118" y="333006"/>
                  </a:moveTo>
                  <a:lnTo>
                    <a:pt x="8065795" y="333006"/>
                  </a:lnTo>
                </a:path>
                <a:path w="8066405" h="333375">
                  <a:moveTo>
                    <a:pt x="0" y="0"/>
                  </a:moveTo>
                  <a:lnTo>
                    <a:pt x="2661475" y="0"/>
                  </a:lnTo>
                </a:path>
                <a:path w="8066405" h="333375">
                  <a:moveTo>
                    <a:pt x="2984398" y="0"/>
                  </a:moveTo>
                  <a:lnTo>
                    <a:pt x="5081041" y="0"/>
                  </a:lnTo>
                </a:path>
                <a:path w="8066405" h="333375">
                  <a:moveTo>
                    <a:pt x="5403964" y="0"/>
                  </a:moveTo>
                  <a:lnTo>
                    <a:pt x="6694195" y="0"/>
                  </a:lnTo>
                </a:path>
                <a:path w="8066405" h="333375">
                  <a:moveTo>
                    <a:pt x="7017118" y="0"/>
                  </a:moveTo>
                  <a:lnTo>
                    <a:pt x="8065795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631799" y="1113487"/>
              <a:ext cx="8066405" cy="0"/>
            </a:xfrm>
            <a:custGeom>
              <a:avLst/>
              <a:gdLst/>
              <a:ahLst/>
              <a:cxnLst/>
              <a:rect l="l" t="t" r="r" b="b"/>
              <a:pathLst>
                <a:path w="8066405">
                  <a:moveTo>
                    <a:pt x="8065795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577799" y="1113487"/>
              <a:ext cx="8120380" cy="2717800"/>
            </a:xfrm>
            <a:custGeom>
              <a:avLst/>
              <a:gdLst/>
              <a:ahLst/>
              <a:cxnLst/>
              <a:rect l="l" t="t" r="r" b="b"/>
              <a:pathLst>
                <a:path w="8120380" h="2717800">
                  <a:moveTo>
                    <a:pt x="54000" y="2717634"/>
                  </a:moveTo>
                  <a:lnTo>
                    <a:pt x="54000" y="2663634"/>
                  </a:lnTo>
                </a:path>
                <a:path w="8120380" h="2717800">
                  <a:moveTo>
                    <a:pt x="860399" y="2717634"/>
                  </a:moveTo>
                  <a:lnTo>
                    <a:pt x="860399" y="2663634"/>
                  </a:lnTo>
                </a:path>
                <a:path w="8120380" h="2717800">
                  <a:moveTo>
                    <a:pt x="1667167" y="2717634"/>
                  </a:moveTo>
                  <a:lnTo>
                    <a:pt x="1667167" y="2663634"/>
                  </a:lnTo>
                </a:path>
                <a:path w="8120380" h="2717800">
                  <a:moveTo>
                    <a:pt x="2473566" y="2717634"/>
                  </a:moveTo>
                  <a:lnTo>
                    <a:pt x="2473566" y="2663634"/>
                  </a:lnTo>
                </a:path>
                <a:path w="8120380" h="2717800">
                  <a:moveTo>
                    <a:pt x="3280321" y="2717634"/>
                  </a:moveTo>
                  <a:lnTo>
                    <a:pt x="3280321" y="2663634"/>
                  </a:lnTo>
                </a:path>
                <a:path w="8120380" h="2717800">
                  <a:moveTo>
                    <a:pt x="4086720" y="2717634"/>
                  </a:moveTo>
                  <a:lnTo>
                    <a:pt x="4086720" y="2663634"/>
                  </a:lnTo>
                </a:path>
                <a:path w="8120380" h="2717800">
                  <a:moveTo>
                    <a:pt x="4893119" y="2717634"/>
                  </a:moveTo>
                  <a:lnTo>
                    <a:pt x="4893119" y="2663634"/>
                  </a:lnTo>
                </a:path>
                <a:path w="8120380" h="2717800">
                  <a:moveTo>
                    <a:pt x="5699887" y="2717634"/>
                  </a:moveTo>
                  <a:lnTo>
                    <a:pt x="5699887" y="2663634"/>
                  </a:lnTo>
                </a:path>
                <a:path w="8120380" h="2717800">
                  <a:moveTo>
                    <a:pt x="6506286" y="2717634"/>
                  </a:moveTo>
                  <a:lnTo>
                    <a:pt x="6506286" y="2663634"/>
                  </a:lnTo>
                </a:path>
                <a:path w="8120380" h="2717800">
                  <a:moveTo>
                    <a:pt x="7313041" y="2717634"/>
                  </a:moveTo>
                  <a:lnTo>
                    <a:pt x="7313041" y="2663634"/>
                  </a:lnTo>
                </a:path>
                <a:path w="8120380" h="2717800">
                  <a:moveTo>
                    <a:pt x="8119795" y="2717634"/>
                  </a:moveTo>
                  <a:lnTo>
                    <a:pt x="8119795" y="2663634"/>
                  </a:lnTo>
                </a:path>
                <a:path w="8120380" h="2717800">
                  <a:moveTo>
                    <a:pt x="54000" y="2663634"/>
                  </a:moveTo>
                  <a:lnTo>
                    <a:pt x="8119795" y="2663634"/>
                  </a:lnTo>
                </a:path>
                <a:path w="8120380" h="2717800">
                  <a:moveTo>
                    <a:pt x="0" y="2663634"/>
                  </a:moveTo>
                  <a:lnTo>
                    <a:pt x="54000" y="2663634"/>
                  </a:lnTo>
                </a:path>
                <a:path w="8120380" h="2717800">
                  <a:moveTo>
                    <a:pt x="0" y="2330640"/>
                  </a:moveTo>
                  <a:lnTo>
                    <a:pt x="54000" y="2330640"/>
                  </a:lnTo>
                </a:path>
                <a:path w="8120380" h="2717800">
                  <a:moveTo>
                    <a:pt x="0" y="1997633"/>
                  </a:moveTo>
                  <a:lnTo>
                    <a:pt x="54000" y="1997633"/>
                  </a:lnTo>
                </a:path>
                <a:path w="8120380" h="2717800">
                  <a:moveTo>
                    <a:pt x="0" y="1664639"/>
                  </a:moveTo>
                  <a:lnTo>
                    <a:pt x="54000" y="1664639"/>
                  </a:lnTo>
                </a:path>
                <a:path w="8120380" h="2717800">
                  <a:moveTo>
                    <a:pt x="0" y="1331988"/>
                  </a:moveTo>
                  <a:lnTo>
                    <a:pt x="54000" y="1331988"/>
                  </a:lnTo>
                </a:path>
                <a:path w="8120380" h="2717800">
                  <a:moveTo>
                    <a:pt x="0" y="998994"/>
                  </a:moveTo>
                  <a:lnTo>
                    <a:pt x="54000" y="998994"/>
                  </a:lnTo>
                </a:path>
                <a:path w="8120380" h="2717800">
                  <a:moveTo>
                    <a:pt x="0" y="666000"/>
                  </a:moveTo>
                  <a:lnTo>
                    <a:pt x="54000" y="666000"/>
                  </a:lnTo>
                </a:path>
                <a:path w="8120380" h="2717800">
                  <a:moveTo>
                    <a:pt x="0" y="332994"/>
                  </a:moveTo>
                  <a:lnTo>
                    <a:pt x="54000" y="332994"/>
                  </a:lnTo>
                </a:path>
                <a:path w="8120380" h="2717800">
                  <a:moveTo>
                    <a:pt x="0" y="0"/>
                  </a:moveTo>
                  <a:lnTo>
                    <a:pt x="54000" y="0"/>
                  </a:lnTo>
                </a:path>
                <a:path w="8120380" h="2717800">
                  <a:moveTo>
                    <a:pt x="54000" y="2663634"/>
                  </a:moveTo>
                  <a:lnTo>
                    <a:pt x="54000" y="0"/>
                  </a:lnTo>
                </a:path>
              </a:pathLst>
            </a:custGeom>
            <a:ln w="12599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1" name="object 11"/>
            <p:cNvSpPr/>
            <p:nvPr/>
          </p:nvSpPr>
          <p:spPr>
            <a:xfrm>
              <a:off x="873721" y="1712876"/>
              <a:ext cx="322580" cy="2064385"/>
            </a:xfrm>
            <a:custGeom>
              <a:avLst/>
              <a:gdLst/>
              <a:ahLst/>
              <a:cxnLst/>
              <a:rect l="l" t="t" r="r" b="b"/>
              <a:pathLst>
                <a:path w="322580" h="2064385">
                  <a:moveTo>
                    <a:pt x="322554" y="0"/>
                  </a:moveTo>
                  <a:lnTo>
                    <a:pt x="0" y="0"/>
                  </a:lnTo>
                  <a:lnTo>
                    <a:pt x="0" y="2064245"/>
                  </a:lnTo>
                  <a:lnTo>
                    <a:pt x="322554" y="2064245"/>
                  </a:lnTo>
                  <a:lnTo>
                    <a:pt x="32255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2" name="object 12"/>
            <p:cNvSpPr/>
            <p:nvPr/>
          </p:nvSpPr>
          <p:spPr>
            <a:xfrm>
              <a:off x="1680121" y="1379882"/>
              <a:ext cx="1936114" cy="2397760"/>
            </a:xfrm>
            <a:custGeom>
              <a:avLst/>
              <a:gdLst/>
              <a:ahLst/>
              <a:cxnLst/>
              <a:rect l="l" t="t" r="r" b="b"/>
              <a:pathLst>
                <a:path w="1936114" h="2397760">
                  <a:moveTo>
                    <a:pt x="322922" y="133197"/>
                  </a:moveTo>
                  <a:lnTo>
                    <a:pt x="0" y="133197"/>
                  </a:lnTo>
                  <a:lnTo>
                    <a:pt x="0" y="2397239"/>
                  </a:lnTo>
                  <a:lnTo>
                    <a:pt x="322922" y="2397239"/>
                  </a:lnTo>
                  <a:lnTo>
                    <a:pt x="322922" y="133197"/>
                  </a:lnTo>
                  <a:close/>
                </a:path>
                <a:path w="1936114" h="2397760">
                  <a:moveTo>
                    <a:pt x="1129322" y="232918"/>
                  </a:moveTo>
                  <a:lnTo>
                    <a:pt x="806754" y="232918"/>
                  </a:lnTo>
                  <a:lnTo>
                    <a:pt x="806754" y="2397239"/>
                  </a:lnTo>
                  <a:lnTo>
                    <a:pt x="1129322" y="2397239"/>
                  </a:lnTo>
                  <a:lnTo>
                    <a:pt x="1129322" y="232918"/>
                  </a:lnTo>
                  <a:close/>
                </a:path>
                <a:path w="1936114" h="2397760">
                  <a:moveTo>
                    <a:pt x="1936076" y="0"/>
                  </a:moveTo>
                  <a:lnTo>
                    <a:pt x="1613154" y="0"/>
                  </a:lnTo>
                  <a:lnTo>
                    <a:pt x="1613154" y="2397239"/>
                  </a:lnTo>
                  <a:lnTo>
                    <a:pt x="1936076" y="2397239"/>
                  </a:lnTo>
                  <a:lnTo>
                    <a:pt x="1936076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3" name="object 13"/>
            <p:cNvSpPr/>
            <p:nvPr/>
          </p:nvSpPr>
          <p:spPr>
            <a:xfrm>
              <a:off x="4100042" y="1779487"/>
              <a:ext cx="1129030" cy="1997710"/>
            </a:xfrm>
            <a:custGeom>
              <a:avLst/>
              <a:gdLst/>
              <a:ahLst/>
              <a:cxnLst/>
              <a:rect l="l" t="t" r="r" b="b"/>
              <a:pathLst>
                <a:path w="1129029" h="1997710">
                  <a:moveTo>
                    <a:pt x="322554" y="66598"/>
                  </a:moveTo>
                  <a:lnTo>
                    <a:pt x="0" y="66598"/>
                  </a:lnTo>
                  <a:lnTo>
                    <a:pt x="0" y="1997633"/>
                  </a:lnTo>
                  <a:lnTo>
                    <a:pt x="322554" y="1997633"/>
                  </a:lnTo>
                  <a:lnTo>
                    <a:pt x="322554" y="66598"/>
                  </a:lnTo>
                  <a:close/>
                </a:path>
                <a:path w="1129029" h="1997710">
                  <a:moveTo>
                    <a:pt x="1128953" y="0"/>
                  </a:moveTo>
                  <a:lnTo>
                    <a:pt x="806399" y="0"/>
                  </a:lnTo>
                  <a:lnTo>
                    <a:pt x="806399" y="1997633"/>
                  </a:lnTo>
                  <a:lnTo>
                    <a:pt x="1128953" y="1997633"/>
                  </a:lnTo>
                  <a:lnTo>
                    <a:pt x="1128953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12841" y="1279806"/>
              <a:ext cx="1936114" cy="2497455"/>
            </a:xfrm>
            <a:custGeom>
              <a:avLst/>
              <a:gdLst/>
              <a:ahLst/>
              <a:cxnLst/>
              <a:rect l="l" t="t" r="r" b="b"/>
              <a:pathLst>
                <a:path w="1936115" h="2497454">
                  <a:moveTo>
                    <a:pt x="322922" y="0"/>
                  </a:moveTo>
                  <a:lnTo>
                    <a:pt x="0" y="0"/>
                  </a:lnTo>
                  <a:lnTo>
                    <a:pt x="0" y="2497315"/>
                  </a:lnTo>
                  <a:lnTo>
                    <a:pt x="322922" y="2497315"/>
                  </a:lnTo>
                  <a:lnTo>
                    <a:pt x="322922" y="0"/>
                  </a:lnTo>
                  <a:close/>
                </a:path>
                <a:path w="1936115" h="2497454">
                  <a:moveTo>
                    <a:pt x="1129322" y="166674"/>
                  </a:moveTo>
                  <a:lnTo>
                    <a:pt x="806754" y="166674"/>
                  </a:lnTo>
                  <a:lnTo>
                    <a:pt x="806754" y="2497315"/>
                  </a:lnTo>
                  <a:lnTo>
                    <a:pt x="1129322" y="2497315"/>
                  </a:lnTo>
                  <a:lnTo>
                    <a:pt x="1129322" y="166674"/>
                  </a:lnTo>
                  <a:close/>
                </a:path>
                <a:path w="1936115" h="2497454">
                  <a:moveTo>
                    <a:pt x="1936076" y="100076"/>
                  </a:moveTo>
                  <a:lnTo>
                    <a:pt x="1613154" y="100076"/>
                  </a:lnTo>
                  <a:lnTo>
                    <a:pt x="1613154" y="2497315"/>
                  </a:lnTo>
                  <a:lnTo>
                    <a:pt x="1936076" y="2497315"/>
                  </a:lnTo>
                  <a:lnTo>
                    <a:pt x="1936076" y="100076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5" name="object 15"/>
            <p:cNvSpPr/>
            <p:nvPr/>
          </p:nvSpPr>
          <p:spPr>
            <a:xfrm>
              <a:off x="8132762" y="2278801"/>
              <a:ext cx="322580" cy="1498600"/>
            </a:xfrm>
            <a:custGeom>
              <a:avLst/>
              <a:gdLst/>
              <a:ahLst/>
              <a:cxnLst/>
              <a:rect l="l" t="t" r="r" b="b"/>
              <a:pathLst>
                <a:path w="322579" h="1498600">
                  <a:moveTo>
                    <a:pt x="322554" y="0"/>
                  </a:moveTo>
                  <a:lnTo>
                    <a:pt x="0" y="0"/>
                  </a:lnTo>
                  <a:lnTo>
                    <a:pt x="0" y="1498320"/>
                  </a:lnTo>
                  <a:lnTo>
                    <a:pt x="322554" y="1498320"/>
                  </a:lnTo>
                  <a:lnTo>
                    <a:pt x="322554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03937" y="511596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HO.02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77759" y="511596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HO.03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2072" y="511596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HO.06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6385" y="5115968"/>
            <a:ext cx="51244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98581" y="5115968"/>
            <a:ext cx="56403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HO.07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3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04537" y="5115968"/>
            <a:ext cx="51244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46716" y="5115968"/>
            <a:ext cx="56403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HO.08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3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52672" y="5115968"/>
            <a:ext cx="512447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IR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95342" y="5115968"/>
            <a:ext cx="56403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HO.09</a:t>
            </a:r>
            <a:r>
              <a:rPr sz="930" spc="-15" dirty="0">
                <a:solidFill>
                  <a:srgbClr val="6A717F"/>
                </a:solidFill>
                <a:latin typeface="Arial MT"/>
                <a:cs typeface="Arial MT"/>
              </a:rPr>
              <a:t> </a:t>
            </a:r>
            <a:r>
              <a:rPr sz="930" spc="-35" dirty="0">
                <a:solidFill>
                  <a:srgbClr val="6A717F"/>
                </a:solidFill>
                <a:latin typeface="Arial MT"/>
                <a:cs typeface="Arial MT"/>
              </a:rPr>
              <a:t>OR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70808" y="5115968"/>
            <a:ext cx="367000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10" dirty="0">
                <a:solidFill>
                  <a:srgbClr val="6A717F"/>
                </a:solidFill>
                <a:latin typeface="Arial MT"/>
                <a:cs typeface="Arial MT"/>
              </a:rPr>
              <a:t>HO.10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5042" y="3159265"/>
            <a:ext cx="164049" cy="19627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40</a:t>
            </a: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3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30</a:t>
            </a: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3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20</a:t>
            </a: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93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10</a:t>
            </a: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3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30">
              <a:latin typeface="Arial MT"/>
              <a:cs typeface="Arial MT"/>
            </a:endParaRPr>
          </a:p>
          <a:p>
            <a:pPr marL="60325">
              <a:lnSpc>
                <a:spcPct val="100000"/>
              </a:lnSpc>
            </a:pPr>
            <a:r>
              <a:rPr sz="930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5042" y="2715871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50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5042" y="2272461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60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5042" y="1829067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70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5042" y="1385673"/>
            <a:ext cx="163205" cy="15938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" spc="-25" dirty="0">
                <a:solidFill>
                  <a:srgbClr val="6A717F"/>
                </a:solidFill>
                <a:latin typeface="Arial MT"/>
                <a:cs typeface="Arial MT"/>
              </a:rPr>
              <a:t>80</a:t>
            </a:r>
            <a:endParaRPr sz="93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92626" y="2055795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62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66448" y="1789762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68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40761" y="1922542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65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15074" y="1612401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72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05809" y="2233156"/>
            <a:ext cx="16827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58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80122" y="2144484"/>
            <a:ext cx="168278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60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37031" y="1479131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75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11344" y="1701073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70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885657" y="1612401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72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959480" y="2809346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1D283A"/>
                </a:solidFill>
                <a:latin typeface="Arial MT"/>
                <a:cs typeface="Arial MT"/>
              </a:rPr>
              <a:t>45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15891" y="5540048"/>
            <a:ext cx="10959270" cy="608848"/>
          </a:xfrm>
          <a:custGeom>
            <a:avLst/>
            <a:gdLst/>
            <a:ahLst/>
            <a:cxnLst/>
            <a:rect l="l" t="t" r="r" b="b"/>
            <a:pathLst>
              <a:path w="8229600" h="457200">
                <a:moveTo>
                  <a:pt x="8229231" y="0"/>
                </a:moveTo>
                <a:lnTo>
                  <a:pt x="0" y="0"/>
                </a:lnTo>
                <a:lnTo>
                  <a:pt x="0" y="456831"/>
                </a:lnTo>
                <a:lnTo>
                  <a:pt x="4114800" y="456831"/>
                </a:lnTo>
                <a:lnTo>
                  <a:pt x="8229231" y="456831"/>
                </a:lnTo>
                <a:lnTo>
                  <a:pt x="8229231" y="0"/>
                </a:lnTo>
                <a:close/>
              </a:path>
            </a:pathLst>
          </a:custGeom>
          <a:solidFill>
            <a:srgbClr val="EBFCF4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42" name="object 42"/>
          <p:cNvSpPr txBox="1"/>
          <p:nvPr/>
        </p:nvSpPr>
        <p:spPr>
          <a:xfrm>
            <a:off x="962359" y="5735996"/>
            <a:ext cx="6410666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HO</a:t>
            </a:r>
            <a:r>
              <a:rPr sz="1200" b="1" spc="-2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Section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Average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OEE: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~65%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200" b="1" spc="-2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Best: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HO.08</a:t>
            </a:r>
            <a:r>
              <a:rPr sz="1200" b="1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(75%)</a:t>
            </a:r>
            <a:r>
              <a:rPr sz="1200" b="1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Quality Rate: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Near</a:t>
            </a:r>
            <a:r>
              <a:rPr sz="1200" b="1" spc="-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200" b="1" spc="-2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200" b="1" spc="-2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1200" b="1" spc="-15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E756D"/>
                </a:solidFill>
                <a:latin typeface="Calibri" panose="020F0502020204030204"/>
                <a:cs typeface="Calibri" panose="020F0502020204030204"/>
              </a:rPr>
              <a:t>machines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75"/>
          <p:cNvSpPr/>
          <p:nvPr/>
        </p:nvSpPr>
        <p:spPr>
          <a:xfrm>
            <a:off x="7620" y="-16087"/>
            <a:ext cx="12176760" cy="944880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p>
            <a:endParaRPr sz="240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1490" y="216059"/>
            <a:ext cx="10515600" cy="38544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chemeClr val="bg1"/>
                </a:solidFill>
              </a:rPr>
              <a:t>Machine-</a:t>
            </a:r>
            <a:r>
              <a:rPr sz="2400" b="1" dirty="0">
                <a:solidFill>
                  <a:schemeClr val="bg1"/>
                </a:solidFill>
              </a:rPr>
              <a:t>wise</a:t>
            </a:r>
            <a:r>
              <a:rPr sz="2400" b="1" spc="-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OEE</a:t>
            </a:r>
            <a:r>
              <a:rPr sz="2400" b="1" spc="-5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– EG</a:t>
            </a:r>
            <a:r>
              <a:rPr sz="2400" b="1" spc="-5" dirty="0">
                <a:solidFill>
                  <a:schemeClr val="bg1"/>
                </a:solidFill>
              </a:rPr>
              <a:t> </a:t>
            </a:r>
            <a:r>
              <a:rPr sz="2400" b="1" spc="-10" dirty="0">
                <a:solidFill>
                  <a:schemeClr val="bg1"/>
                </a:solidFill>
              </a:rPr>
              <a:t>Section</a:t>
            </a:r>
            <a:endParaRPr sz="2400" b="1" spc="-10" dirty="0">
              <a:solidFill>
                <a:schemeClr val="bg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210" y="631217"/>
            <a:ext cx="854079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1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March </a:t>
            </a:r>
            <a:r>
              <a:rPr sz="1330" spc="-20" dirty="0">
                <a:solidFill>
                  <a:srgbClr val="AFC3DD"/>
                </a:solidFill>
                <a:latin typeface="Calibri" panose="020F0502020204030204"/>
                <a:cs typeface="Calibri" panose="020F0502020204030204"/>
              </a:rPr>
              <a:t>2026</a:t>
            </a:r>
            <a:endParaRPr sz="133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6365" y="1339468"/>
            <a:ext cx="6088483" cy="4018399"/>
            <a:chOff x="457200" y="1005841"/>
            <a:chExt cx="4572000" cy="3017520"/>
          </a:xfrm>
        </p:grpSpPr>
        <p:sp>
          <p:nvSpPr>
            <p:cNvPr id="5" name="object 5"/>
            <p:cNvSpPr/>
            <p:nvPr/>
          </p:nvSpPr>
          <p:spPr>
            <a:xfrm>
              <a:off x="457200" y="1005841"/>
              <a:ext cx="4572000" cy="3017520"/>
            </a:xfrm>
            <a:custGeom>
              <a:avLst/>
              <a:gdLst/>
              <a:ahLst/>
              <a:cxnLst/>
              <a:rect l="l" t="t" r="r" b="b"/>
              <a:pathLst>
                <a:path w="4572000" h="3017520">
                  <a:moveTo>
                    <a:pt x="4571644" y="0"/>
                  </a:moveTo>
                  <a:lnTo>
                    <a:pt x="0" y="0"/>
                  </a:lnTo>
                  <a:lnTo>
                    <a:pt x="0" y="3017164"/>
                  </a:lnTo>
                  <a:lnTo>
                    <a:pt x="2286000" y="3017164"/>
                  </a:lnTo>
                  <a:lnTo>
                    <a:pt x="4571644" y="3017164"/>
                  </a:lnTo>
                  <a:lnTo>
                    <a:pt x="4571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6" name="object 6"/>
            <p:cNvSpPr/>
            <p:nvPr/>
          </p:nvSpPr>
          <p:spPr>
            <a:xfrm>
              <a:off x="753478" y="3739326"/>
              <a:ext cx="4184015" cy="0"/>
            </a:xfrm>
            <a:custGeom>
              <a:avLst/>
              <a:gdLst/>
              <a:ahLst/>
              <a:cxnLst/>
              <a:rect l="l" t="t" r="r" b="b"/>
              <a:pathLst>
                <a:path w="4184015">
                  <a:moveTo>
                    <a:pt x="4183926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7" name="object 7"/>
            <p:cNvSpPr/>
            <p:nvPr/>
          </p:nvSpPr>
          <p:spPr>
            <a:xfrm>
              <a:off x="753478" y="1450087"/>
              <a:ext cx="4184015" cy="1962150"/>
            </a:xfrm>
            <a:custGeom>
              <a:avLst/>
              <a:gdLst/>
              <a:ahLst/>
              <a:cxnLst/>
              <a:rect l="l" t="t" r="r" b="b"/>
              <a:pathLst>
                <a:path w="4184015" h="1962150">
                  <a:moveTo>
                    <a:pt x="0" y="1961997"/>
                  </a:moveTo>
                  <a:lnTo>
                    <a:pt x="250926" y="1961997"/>
                  </a:lnTo>
                </a:path>
                <a:path w="4184015" h="1962150">
                  <a:moveTo>
                    <a:pt x="585724" y="1961997"/>
                  </a:moveTo>
                  <a:lnTo>
                    <a:pt x="1087564" y="1961997"/>
                  </a:lnTo>
                </a:path>
                <a:path w="4184015" h="1962150">
                  <a:moveTo>
                    <a:pt x="1422361" y="1961997"/>
                  </a:moveTo>
                  <a:lnTo>
                    <a:pt x="1924558" y="1961997"/>
                  </a:lnTo>
                </a:path>
                <a:path w="4184015" h="1962150">
                  <a:moveTo>
                    <a:pt x="2258999" y="1961997"/>
                  </a:moveTo>
                  <a:lnTo>
                    <a:pt x="2761195" y="1961997"/>
                  </a:lnTo>
                </a:path>
                <a:path w="4184015" h="1962150">
                  <a:moveTo>
                    <a:pt x="3096005" y="1961997"/>
                  </a:moveTo>
                  <a:lnTo>
                    <a:pt x="3597846" y="1961997"/>
                  </a:lnTo>
                </a:path>
                <a:path w="4184015" h="1962150">
                  <a:moveTo>
                    <a:pt x="3932643" y="1961997"/>
                  </a:moveTo>
                  <a:lnTo>
                    <a:pt x="4183926" y="1961997"/>
                  </a:lnTo>
                </a:path>
                <a:path w="4184015" h="1962150">
                  <a:moveTo>
                    <a:pt x="0" y="1635112"/>
                  </a:moveTo>
                  <a:lnTo>
                    <a:pt x="250926" y="1635112"/>
                  </a:lnTo>
                </a:path>
                <a:path w="4184015" h="1962150">
                  <a:moveTo>
                    <a:pt x="585724" y="1635112"/>
                  </a:moveTo>
                  <a:lnTo>
                    <a:pt x="1087564" y="1635112"/>
                  </a:lnTo>
                </a:path>
                <a:path w="4184015" h="1962150">
                  <a:moveTo>
                    <a:pt x="1422361" y="1635112"/>
                  </a:moveTo>
                  <a:lnTo>
                    <a:pt x="1924558" y="1635112"/>
                  </a:lnTo>
                </a:path>
                <a:path w="4184015" h="1962150">
                  <a:moveTo>
                    <a:pt x="2258999" y="1635112"/>
                  </a:moveTo>
                  <a:lnTo>
                    <a:pt x="2761195" y="1635112"/>
                  </a:lnTo>
                </a:path>
                <a:path w="4184015" h="1962150">
                  <a:moveTo>
                    <a:pt x="3096005" y="1635112"/>
                  </a:moveTo>
                  <a:lnTo>
                    <a:pt x="3597846" y="1635112"/>
                  </a:lnTo>
                </a:path>
                <a:path w="4184015" h="1962150">
                  <a:moveTo>
                    <a:pt x="3932643" y="1635112"/>
                  </a:moveTo>
                  <a:lnTo>
                    <a:pt x="4183926" y="1635112"/>
                  </a:lnTo>
                </a:path>
                <a:path w="4184015" h="1962150">
                  <a:moveTo>
                    <a:pt x="0" y="1307871"/>
                  </a:moveTo>
                  <a:lnTo>
                    <a:pt x="250926" y="1307871"/>
                  </a:lnTo>
                </a:path>
                <a:path w="4184015" h="1962150">
                  <a:moveTo>
                    <a:pt x="585724" y="1307871"/>
                  </a:moveTo>
                  <a:lnTo>
                    <a:pt x="1087564" y="1307871"/>
                  </a:lnTo>
                </a:path>
                <a:path w="4184015" h="1962150">
                  <a:moveTo>
                    <a:pt x="1422361" y="1307871"/>
                  </a:moveTo>
                  <a:lnTo>
                    <a:pt x="1924558" y="1307871"/>
                  </a:lnTo>
                </a:path>
                <a:path w="4184015" h="1962150">
                  <a:moveTo>
                    <a:pt x="2258999" y="1307871"/>
                  </a:moveTo>
                  <a:lnTo>
                    <a:pt x="2761195" y="1307871"/>
                  </a:lnTo>
                </a:path>
                <a:path w="4184015" h="1962150">
                  <a:moveTo>
                    <a:pt x="3096005" y="1307871"/>
                  </a:moveTo>
                  <a:lnTo>
                    <a:pt x="3597846" y="1307871"/>
                  </a:lnTo>
                </a:path>
                <a:path w="4184015" h="1962150">
                  <a:moveTo>
                    <a:pt x="3932643" y="1307871"/>
                  </a:moveTo>
                  <a:lnTo>
                    <a:pt x="4183926" y="1307871"/>
                  </a:lnTo>
                </a:path>
                <a:path w="4184015" h="1962150">
                  <a:moveTo>
                    <a:pt x="0" y="981354"/>
                  </a:moveTo>
                  <a:lnTo>
                    <a:pt x="250926" y="981354"/>
                  </a:lnTo>
                </a:path>
                <a:path w="4184015" h="1962150">
                  <a:moveTo>
                    <a:pt x="585724" y="981354"/>
                  </a:moveTo>
                  <a:lnTo>
                    <a:pt x="1924558" y="981354"/>
                  </a:lnTo>
                </a:path>
                <a:path w="4184015" h="1962150">
                  <a:moveTo>
                    <a:pt x="2258999" y="981354"/>
                  </a:moveTo>
                  <a:lnTo>
                    <a:pt x="2761195" y="981354"/>
                  </a:lnTo>
                </a:path>
                <a:path w="4184015" h="1962150">
                  <a:moveTo>
                    <a:pt x="3096005" y="981354"/>
                  </a:moveTo>
                  <a:lnTo>
                    <a:pt x="3597846" y="981354"/>
                  </a:lnTo>
                </a:path>
                <a:path w="4184015" h="1962150">
                  <a:moveTo>
                    <a:pt x="3932643" y="981354"/>
                  </a:moveTo>
                  <a:lnTo>
                    <a:pt x="4183926" y="981354"/>
                  </a:lnTo>
                </a:path>
                <a:path w="4184015" h="1962150">
                  <a:moveTo>
                    <a:pt x="0" y="654113"/>
                  </a:moveTo>
                  <a:lnTo>
                    <a:pt x="250926" y="654113"/>
                  </a:lnTo>
                </a:path>
                <a:path w="4184015" h="1962150">
                  <a:moveTo>
                    <a:pt x="585724" y="654113"/>
                  </a:moveTo>
                  <a:lnTo>
                    <a:pt x="1924558" y="654113"/>
                  </a:lnTo>
                </a:path>
                <a:path w="4184015" h="1962150">
                  <a:moveTo>
                    <a:pt x="2258999" y="654113"/>
                  </a:moveTo>
                  <a:lnTo>
                    <a:pt x="2761195" y="654113"/>
                  </a:lnTo>
                </a:path>
                <a:path w="4184015" h="1962150">
                  <a:moveTo>
                    <a:pt x="0" y="327228"/>
                  </a:moveTo>
                  <a:lnTo>
                    <a:pt x="250926" y="327228"/>
                  </a:lnTo>
                </a:path>
                <a:path w="4184015" h="1962150">
                  <a:moveTo>
                    <a:pt x="585724" y="327228"/>
                  </a:moveTo>
                  <a:lnTo>
                    <a:pt x="2761195" y="327228"/>
                  </a:lnTo>
                </a:path>
                <a:path w="4184015" h="1962150">
                  <a:moveTo>
                    <a:pt x="3096005" y="327228"/>
                  </a:moveTo>
                  <a:lnTo>
                    <a:pt x="4183926" y="327228"/>
                  </a:lnTo>
                </a:path>
                <a:path w="4184015" h="1962150">
                  <a:moveTo>
                    <a:pt x="0" y="0"/>
                  </a:moveTo>
                  <a:lnTo>
                    <a:pt x="2761195" y="0"/>
                  </a:lnTo>
                </a:path>
                <a:path w="4184015" h="1962150">
                  <a:moveTo>
                    <a:pt x="3096005" y="0"/>
                  </a:moveTo>
                  <a:lnTo>
                    <a:pt x="4183926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8" name="object 8"/>
            <p:cNvSpPr/>
            <p:nvPr/>
          </p:nvSpPr>
          <p:spPr>
            <a:xfrm>
              <a:off x="753478" y="1123202"/>
              <a:ext cx="4184015" cy="0"/>
            </a:xfrm>
            <a:custGeom>
              <a:avLst/>
              <a:gdLst/>
              <a:ahLst/>
              <a:cxnLst/>
              <a:rect l="l" t="t" r="r" b="b"/>
              <a:pathLst>
                <a:path w="4184015">
                  <a:moveTo>
                    <a:pt x="4183926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9" name="object 9"/>
            <p:cNvSpPr/>
            <p:nvPr/>
          </p:nvSpPr>
          <p:spPr>
            <a:xfrm>
              <a:off x="699477" y="1123202"/>
              <a:ext cx="4237990" cy="2670175"/>
            </a:xfrm>
            <a:custGeom>
              <a:avLst/>
              <a:gdLst/>
              <a:ahLst/>
              <a:cxnLst/>
              <a:rect l="l" t="t" r="r" b="b"/>
              <a:pathLst>
                <a:path w="4237990" h="2670175">
                  <a:moveTo>
                    <a:pt x="54000" y="2670124"/>
                  </a:moveTo>
                  <a:lnTo>
                    <a:pt x="54000" y="2616123"/>
                  </a:lnTo>
                </a:path>
                <a:path w="4237990" h="2670175">
                  <a:moveTo>
                    <a:pt x="890638" y="2670124"/>
                  </a:moveTo>
                  <a:lnTo>
                    <a:pt x="890638" y="2616123"/>
                  </a:lnTo>
                </a:path>
                <a:path w="4237990" h="2670175">
                  <a:moveTo>
                    <a:pt x="1727644" y="2670124"/>
                  </a:moveTo>
                  <a:lnTo>
                    <a:pt x="1727644" y="2616123"/>
                  </a:lnTo>
                </a:path>
                <a:path w="4237990" h="2670175">
                  <a:moveTo>
                    <a:pt x="2563926" y="2670124"/>
                  </a:moveTo>
                  <a:lnTo>
                    <a:pt x="2563926" y="2616123"/>
                  </a:lnTo>
                </a:path>
                <a:path w="4237990" h="2670175">
                  <a:moveTo>
                    <a:pt x="3400920" y="2670124"/>
                  </a:moveTo>
                  <a:lnTo>
                    <a:pt x="3400920" y="2616123"/>
                  </a:lnTo>
                </a:path>
                <a:path w="4237990" h="2670175">
                  <a:moveTo>
                    <a:pt x="4237926" y="2670124"/>
                  </a:moveTo>
                  <a:lnTo>
                    <a:pt x="4237926" y="2616123"/>
                  </a:lnTo>
                </a:path>
                <a:path w="4237990" h="2670175">
                  <a:moveTo>
                    <a:pt x="54000" y="2616123"/>
                  </a:moveTo>
                  <a:lnTo>
                    <a:pt x="4237926" y="2616123"/>
                  </a:lnTo>
                </a:path>
                <a:path w="4237990" h="2670175">
                  <a:moveTo>
                    <a:pt x="0" y="2616123"/>
                  </a:moveTo>
                  <a:lnTo>
                    <a:pt x="54000" y="2616123"/>
                  </a:lnTo>
                </a:path>
                <a:path w="4237990" h="2670175">
                  <a:moveTo>
                    <a:pt x="0" y="2288882"/>
                  </a:moveTo>
                  <a:lnTo>
                    <a:pt x="54000" y="2288882"/>
                  </a:lnTo>
                </a:path>
                <a:path w="4237990" h="2670175">
                  <a:moveTo>
                    <a:pt x="0" y="1961997"/>
                  </a:moveTo>
                  <a:lnTo>
                    <a:pt x="54000" y="1961997"/>
                  </a:lnTo>
                </a:path>
                <a:path w="4237990" h="2670175">
                  <a:moveTo>
                    <a:pt x="0" y="1634756"/>
                  </a:moveTo>
                  <a:lnTo>
                    <a:pt x="54000" y="1634756"/>
                  </a:lnTo>
                </a:path>
                <a:path w="4237990" h="2670175">
                  <a:moveTo>
                    <a:pt x="0" y="1308239"/>
                  </a:moveTo>
                  <a:lnTo>
                    <a:pt x="54000" y="1308239"/>
                  </a:lnTo>
                </a:path>
                <a:path w="4237990" h="2670175">
                  <a:moveTo>
                    <a:pt x="0" y="980998"/>
                  </a:moveTo>
                  <a:lnTo>
                    <a:pt x="54000" y="980998"/>
                  </a:lnTo>
                </a:path>
                <a:path w="4237990" h="2670175">
                  <a:moveTo>
                    <a:pt x="0" y="654113"/>
                  </a:moveTo>
                  <a:lnTo>
                    <a:pt x="54000" y="654113"/>
                  </a:lnTo>
                </a:path>
                <a:path w="4237990" h="2670175">
                  <a:moveTo>
                    <a:pt x="0" y="326885"/>
                  </a:moveTo>
                  <a:lnTo>
                    <a:pt x="54000" y="326885"/>
                  </a:lnTo>
                </a:path>
                <a:path w="4237990" h="2670175">
                  <a:moveTo>
                    <a:pt x="0" y="0"/>
                  </a:moveTo>
                  <a:lnTo>
                    <a:pt x="54000" y="0"/>
                  </a:lnTo>
                </a:path>
                <a:path w="4237990" h="2670175">
                  <a:moveTo>
                    <a:pt x="54000" y="2616123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4404" y="1613524"/>
              <a:ext cx="335280" cy="2125980"/>
            </a:xfrm>
            <a:custGeom>
              <a:avLst/>
              <a:gdLst/>
              <a:ahLst/>
              <a:cxnLst/>
              <a:rect l="l" t="t" r="r" b="b"/>
              <a:pathLst>
                <a:path w="335280" h="2125979">
                  <a:moveTo>
                    <a:pt x="334797" y="0"/>
                  </a:moveTo>
                  <a:lnTo>
                    <a:pt x="0" y="0"/>
                  </a:lnTo>
                  <a:lnTo>
                    <a:pt x="0" y="2125802"/>
                  </a:lnTo>
                  <a:lnTo>
                    <a:pt x="334797" y="2125802"/>
                  </a:lnTo>
                  <a:lnTo>
                    <a:pt x="33479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1" name="object 11"/>
            <p:cNvSpPr/>
            <p:nvPr/>
          </p:nvSpPr>
          <p:spPr>
            <a:xfrm>
              <a:off x="1841042" y="2594523"/>
              <a:ext cx="335280" cy="1144905"/>
            </a:xfrm>
            <a:custGeom>
              <a:avLst/>
              <a:gdLst/>
              <a:ahLst/>
              <a:cxnLst/>
              <a:rect l="l" t="t" r="r" b="b"/>
              <a:pathLst>
                <a:path w="335280" h="1144904">
                  <a:moveTo>
                    <a:pt x="334797" y="0"/>
                  </a:moveTo>
                  <a:lnTo>
                    <a:pt x="0" y="0"/>
                  </a:lnTo>
                  <a:lnTo>
                    <a:pt x="0" y="1144803"/>
                  </a:lnTo>
                  <a:lnTo>
                    <a:pt x="334797" y="1144803"/>
                  </a:lnTo>
                  <a:lnTo>
                    <a:pt x="334797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2" name="object 12"/>
            <p:cNvSpPr/>
            <p:nvPr/>
          </p:nvSpPr>
          <p:spPr>
            <a:xfrm>
              <a:off x="2678036" y="1940765"/>
              <a:ext cx="334645" cy="1798955"/>
            </a:xfrm>
            <a:custGeom>
              <a:avLst/>
              <a:gdLst/>
              <a:ahLst/>
              <a:cxnLst/>
              <a:rect l="l" t="t" r="r" b="b"/>
              <a:pathLst>
                <a:path w="334644" h="1798954">
                  <a:moveTo>
                    <a:pt x="334441" y="0"/>
                  </a:moveTo>
                  <a:lnTo>
                    <a:pt x="0" y="0"/>
                  </a:lnTo>
                  <a:lnTo>
                    <a:pt x="0" y="1798561"/>
                  </a:lnTo>
                  <a:lnTo>
                    <a:pt x="334441" y="1798561"/>
                  </a:lnTo>
                  <a:lnTo>
                    <a:pt x="334441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3" name="object 13"/>
            <p:cNvSpPr/>
            <p:nvPr/>
          </p:nvSpPr>
          <p:spPr>
            <a:xfrm>
              <a:off x="3514674" y="1384555"/>
              <a:ext cx="335280" cy="2355215"/>
            </a:xfrm>
            <a:custGeom>
              <a:avLst/>
              <a:gdLst/>
              <a:ahLst/>
              <a:cxnLst/>
              <a:rect l="l" t="t" r="r" b="b"/>
              <a:pathLst>
                <a:path w="335279" h="2355215">
                  <a:moveTo>
                    <a:pt x="334810" y="0"/>
                  </a:moveTo>
                  <a:lnTo>
                    <a:pt x="0" y="0"/>
                  </a:lnTo>
                  <a:lnTo>
                    <a:pt x="0" y="2354770"/>
                  </a:lnTo>
                  <a:lnTo>
                    <a:pt x="334810" y="2354770"/>
                  </a:lnTo>
                  <a:lnTo>
                    <a:pt x="33481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  <p:sp>
          <p:nvSpPr>
            <p:cNvPr id="14" name="object 14"/>
            <p:cNvSpPr/>
            <p:nvPr/>
          </p:nvSpPr>
          <p:spPr>
            <a:xfrm>
              <a:off x="4351324" y="2169720"/>
              <a:ext cx="335280" cy="1569720"/>
            </a:xfrm>
            <a:custGeom>
              <a:avLst/>
              <a:gdLst/>
              <a:ahLst/>
              <a:cxnLst/>
              <a:rect l="l" t="t" r="r" b="b"/>
              <a:pathLst>
                <a:path w="335279" h="1569720">
                  <a:moveTo>
                    <a:pt x="334797" y="0"/>
                  </a:moveTo>
                  <a:lnTo>
                    <a:pt x="0" y="0"/>
                  </a:lnTo>
                  <a:lnTo>
                    <a:pt x="0" y="1569605"/>
                  </a:lnTo>
                  <a:lnTo>
                    <a:pt x="334797" y="1569605"/>
                  </a:lnTo>
                  <a:lnTo>
                    <a:pt x="334797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35245" y="506947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9302" y="506947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3833" y="506947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78364" y="506947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92420" y="5069476"/>
            <a:ext cx="461710" cy="20066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A717F"/>
                </a:solidFill>
                <a:latin typeface="Arial MT"/>
                <a:cs typeface="Arial MT"/>
              </a:rPr>
              <a:t>EG.08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7869" y="4878214"/>
            <a:ext cx="10908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50" dirty="0">
                <a:solidFill>
                  <a:srgbClr val="6A717F"/>
                </a:solidFill>
                <a:latin typeface="Arial MT"/>
                <a:cs typeface="Arial MT"/>
              </a:rPr>
              <a:t>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1644" y="4442481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10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1644" y="4007239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20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644" y="3571507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30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1644" y="3136248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40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1644" y="2700533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50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1644" y="2265273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60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1644" y="1829541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70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1644" y="1394299"/>
            <a:ext cx="185191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spc="-25" dirty="0">
                <a:solidFill>
                  <a:srgbClr val="6A717F"/>
                </a:solidFill>
                <a:latin typeface="Arial MT"/>
                <a:cs typeface="Arial MT"/>
              </a:rPr>
              <a:t>80</a:t>
            </a:r>
            <a:endParaRPr sz="1065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62274" y="1877013"/>
            <a:ext cx="217325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25" dirty="0">
                <a:solidFill>
                  <a:srgbClr val="1D283A"/>
                </a:solidFill>
                <a:latin typeface="Arial MT"/>
                <a:cs typeface="Arial MT"/>
              </a:rPr>
              <a:t>65</a:t>
            </a:r>
            <a:endParaRPr sz="133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90918" y="3183720"/>
            <a:ext cx="1783418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330" spc="-25" dirty="0">
                <a:solidFill>
                  <a:srgbClr val="1D283A"/>
                </a:solidFill>
                <a:latin typeface="Arial MT"/>
                <a:cs typeface="Arial MT"/>
              </a:rPr>
              <a:t>35</a:t>
            </a:r>
            <a:endParaRPr sz="133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90918" y="2312729"/>
            <a:ext cx="2897103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438910">
              <a:lnSpc>
                <a:spcPct val="100000"/>
              </a:lnSpc>
              <a:spcBef>
                <a:spcPts val="100"/>
              </a:spcBef>
            </a:pPr>
            <a:r>
              <a:rPr sz="1330" spc="-25" dirty="0">
                <a:solidFill>
                  <a:srgbClr val="1D283A"/>
                </a:solidFill>
                <a:latin typeface="Arial MT"/>
                <a:cs typeface="Arial MT"/>
              </a:rPr>
              <a:t>55</a:t>
            </a:r>
            <a:endParaRPr sz="133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05411" y="1572132"/>
            <a:ext cx="217325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spc="-25" dirty="0">
                <a:solidFill>
                  <a:srgbClr val="1D283A"/>
                </a:solidFill>
                <a:latin typeface="Arial MT"/>
                <a:cs typeface="Arial MT"/>
              </a:rPr>
              <a:t>72</a:t>
            </a:r>
            <a:endParaRPr sz="133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16921" y="2617610"/>
            <a:ext cx="1483222" cy="22098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4680" algn="l"/>
                <a:tab pos="1100455" algn="l"/>
              </a:tabLst>
            </a:pPr>
            <a:r>
              <a:rPr sz="1330" u="sng" dirty="0">
                <a:solidFill>
                  <a:srgbClr val="1D283A"/>
                </a:solidFill>
                <a:uFill>
                  <a:solidFill>
                    <a:srgbClr val="E1E7EF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330" u="sng" spc="-25" dirty="0">
                <a:solidFill>
                  <a:srgbClr val="1D283A"/>
                </a:solidFill>
                <a:uFill>
                  <a:solidFill>
                    <a:srgbClr val="E1E7EF"/>
                  </a:solidFill>
                </a:uFill>
                <a:latin typeface="Arial MT"/>
                <a:cs typeface="Arial MT"/>
              </a:rPr>
              <a:t>48</a:t>
            </a:r>
            <a:r>
              <a:rPr sz="1330" u="sng" dirty="0">
                <a:solidFill>
                  <a:srgbClr val="1D283A"/>
                </a:solidFill>
                <a:uFill>
                  <a:solidFill>
                    <a:srgbClr val="E1E7EF"/>
                  </a:solidFill>
                </a:uFill>
                <a:latin typeface="Arial MT"/>
                <a:cs typeface="Arial MT"/>
              </a:rPr>
              <a:t>	</a:t>
            </a:r>
            <a:endParaRPr sz="133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978103" y="1295343"/>
            <a:ext cx="4762547" cy="4152853"/>
            <a:chOff x="5234394" y="972707"/>
            <a:chExt cx="3576320" cy="3118485"/>
          </a:xfrm>
        </p:grpSpPr>
        <p:pic>
          <p:nvPicPr>
            <p:cNvPr id="35" name="object 3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34394" y="972707"/>
              <a:ext cx="3575875" cy="311833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303164" y="1005486"/>
              <a:ext cx="3474720" cy="3017520"/>
            </a:xfrm>
            <a:custGeom>
              <a:avLst/>
              <a:gdLst/>
              <a:ahLst/>
              <a:cxnLst/>
              <a:rect l="l" t="t" r="r" b="b"/>
              <a:pathLst>
                <a:path w="3474720" h="3017520">
                  <a:moveTo>
                    <a:pt x="3474351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1737359" y="3017151"/>
                  </a:lnTo>
                  <a:lnTo>
                    <a:pt x="3474351" y="3017151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395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294382" y="1504720"/>
            <a:ext cx="1487450" cy="26225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EG</a:t>
            </a:r>
            <a:r>
              <a:rPr sz="1600" b="1" spc="-4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OEE</a:t>
            </a:r>
            <a:r>
              <a:rPr sz="1600" b="1" spc="-3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1A395B"/>
                </a:solidFill>
                <a:latin typeface="Calibri" panose="020F0502020204030204"/>
                <a:cs typeface="Calibri" panose="020F0502020204030204"/>
              </a:rPr>
              <a:t>Summary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16152" y="2650522"/>
            <a:ext cx="1442632" cy="40513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0" b="1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Fleet</a:t>
            </a:r>
            <a:r>
              <a:rPr sz="1330" b="1" spc="-3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b="1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Average:</a:t>
            </a:r>
            <a:r>
              <a:rPr sz="1330" b="1" spc="-3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0" b="1" spc="-2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~55%</a:t>
            </a:r>
            <a:endParaRPr sz="133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Target:</a:t>
            </a:r>
            <a:r>
              <a:rPr sz="1200" spc="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6A717F"/>
                </a:solidFill>
                <a:latin typeface="Calibri" panose="020F0502020204030204"/>
                <a:cs typeface="Calibri" panose="020F0502020204030204"/>
              </a:rPr>
              <a:t>&gt;65%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16152" y="3240192"/>
            <a:ext cx="1988905" cy="3651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Best:</a:t>
            </a:r>
            <a:r>
              <a:rPr sz="1200" b="1" spc="-4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EG.07</a:t>
            </a:r>
            <a:r>
              <a:rPr sz="1200" b="1" spc="-4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0" dirty="0">
                <a:solidFill>
                  <a:srgbClr val="0C9387"/>
                </a:solidFill>
                <a:latin typeface="Calibri" panose="020F0502020204030204"/>
                <a:cs typeface="Calibri" panose="020F0502020204030204"/>
              </a:rPr>
              <a:t>(72%)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1065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065" spc="-1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lowest</a:t>
            </a:r>
            <a:r>
              <a:rPr sz="1065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1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defects.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16152" y="3788628"/>
            <a:ext cx="1999898" cy="365125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Worst:</a:t>
            </a:r>
            <a:r>
              <a:rPr sz="1200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EG.04</a:t>
            </a:r>
            <a:r>
              <a:rPr sz="1200" b="1" spc="5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DB2525"/>
                </a:solidFill>
                <a:latin typeface="Calibri" panose="020F0502020204030204"/>
                <a:cs typeface="Calibri" panose="020F0502020204030204"/>
              </a:rPr>
              <a:t>(35%)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Lowest</a:t>
            </a:r>
            <a:r>
              <a:rPr sz="1065" spc="-4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output,</a:t>
            </a:r>
            <a:r>
              <a:rPr sz="1065" spc="-4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highest</a:t>
            </a:r>
            <a:r>
              <a:rPr sz="1065" spc="-3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rework</a:t>
            </a:r>
            <a:r>
              <a:rPr sz="1065" spc="-3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spc="-20" dirty="0">
                <a:solidFill>
                  <a:srgbClr val="1D283A"/>
                </a:solidFill>
                <a:latin typeface="Calibri" panose="020F0502020204030204"/>
                <a:cs typeface="Calibri" panose="020F0502020204030204"/>
              </a:rPr>
              <a:t>rate.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16152" y="4337066"/>
            <a:ext cx="1874745" cy="180340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EG.08</a:t>
            </a:r>
            <a:r>
              <a:rPr sz="1065" spc="-1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(48%)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65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needs</a:t>
            </a:r>
            <a:r>
              <a:rPr sz="1065" spc="-10" dirty="0">
                <a:solidFill>
                  <a:srgbClr val="D87605"/>
                </a:solidFill>
                <a:latin typeface="Calibri" panose="020F0502020204030204"/>
                <a:cs typeface="Calibri" panose="020F0502020204030204"/>
              </a:rPr>
              <a:t> improvement.</a:t>
            </a:r>
            <a:endParaRPr sz="106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44" y="6331551"/>
            <a:ext cx="12176967" cy="517521"/>
          </a:xfrm>
          <a:custGeom>
            <a:avLst/>
            <a:gdLst/>
            <a:ahLst/>
            <a:cxnLst/>
            <a:rect l="l" t="t" r="r" b="b"/>
            <a:pathLst>
              <a:path w="9144000" h="388620">
                <a:moveTo>
                  <a:pt x="9143631" y="0"/>
                </a:moveTo>
                <a:lnTo>
                  <a:pt x="0" y="0"/>
                </a:lnTo>
                <a:lnTo>
                  <a:pt x="0" y="388429"/>
                </a:lnTo>
                <a:lnTo>
                  <a:pt x="4572000" y="388429"/>
                </a:lnTo>
                <a:lnTo>
                  <a:pt x="9143631" y="388429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5B"/>
          </a:solidFill>
        </p:spPr>
        <p:txBody>
          <a:bodyPr wrap="square" lIns="0" tIns="0" rIns="0" bIns="0" rtlCol="0"/>
          <a:lstStyle/>
          <a:p>
            <a:endParaRPr sz="2395"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xfrm>
            <a:off x="4038600" y="6226493"/>
            <a:ext cx="4114800" cy="624840"/>
          </a:xfrm>
          <a:prstGeom prst="rect">
            <a:avLst/>
          </a:prstGeom>
        </p:spPr>
        <p:txBody>
          <a:bodyPr vert="horz" wrap="square" lIns="0" tIns="1327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600" dirty="0"/>
              <a:t>CONFIDENTIAL</a:t>
            </a:r>
            <a:r>
              <a:rPr sz="1600" spc="150" dirty="0"/>
              <a:t> </a:t>
            </a:r>
            <a:r>
              <a:rPr sz="1600" dirty="0"/>
              <a:t>|</a:t>
            </a:r>
            <a:r>
              <a:rPr sz="1600" spc="135" dirty="0"/>
              <a:t> </a:t>
            </a:r>
            <a:r>
              <a:rPr sz="1600" dirty="0"/>
              <a:t>FOR</a:t>
            </a:r>
            <a:r>
              <a:rPr sz="1600" spc="-5" dirty="0"/>
              <a:t> </a:t>
            </a:r>
            <a:r>
              <a:rPr sz="1600" spc="-10" dirty="0"/>
              <a:t>MANAGEMENT</a:t>
            </a:r>
            <a:r>
              <a:rPr sz="1600" spc="-15" dirty="0"/>
              <a:t> </a:t>
            </a:r>
            <a:r>
              <a:rPr sz="1600" dirty="0"/>
              <a:t>REVIEW</a:t>
            </a:r>
            <a:r>
              <a:rPr sz="1600" spc="130" dirty="0"/>
              <a:t> </a:t>
            </a:r>
            <a:r>
              <a:rPr sz="1600" dirty="0"/>
              <a:t>|</a:t>
            </a:r>
            <a:r>
              <a:rPr sz="1600" spc="145" dirty="0"/>
              <a:t> </a:t>
            </a:r>
            <a:r>
              <a:rPr sz="1600" dirty="0"/>
              <a:t>MRS</a:t>
            </a:r>
            <a:r>
              <a:rPr sz="1600" spc="-20" dirty="0"/>
              <a:t> </a:t>
            </a:r>
            <a:r>
              <a:rPr sz="1600" dirty="0"/>
              <a:t>BEARINGS</a:t>
            </a:r>
            <a:r>
              <a:rPr sz="1600" spc="-10" dirty="0"/>
              <a:t> </a:t>
            </a:r>
            <a:r>
              <a:rPr sz="1600" spc="-20" dirty="0"/>
              <a:t>PRIVATE</a:t>
            </a:r>
            <a:r>
              <a:rPr sz="1600" spc="-15" dirty="0"/>
              <a:t> </a:t>
            </a:r>
            <a:r>
              <a:rPr sz="1600" spc="-10" dirty="0"/>
              <a:t>LIMITED</a:t>
            </a:r>
            <a:endParaRPr sz="1600"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Presentation</Application>
  <PresentationFormat>Widescreen</PresentationFormat>
  <Paragraphs>2025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SimSun</vt:lpstr>
      <vt:lpstr>Wingdings</vt:lpstr>
      <vt:lpstr>Calibri</vt:lpstr>
      <vt:lpstr>Liter</vt:lpstr>
      <vt:lpstr>Calibri</vt:lpstr>
      <vt:lpstr>Quattrocento Sans</vt:lpstr>
      <vt:lpstr>Calibri</vt:lpstr>
      <vt:lpstr>Times New Roman</vt:lpstr>
      <vt:lpstr>Liter</vt:lpstr>
      <vt:lpstr>Arial MT</vt:lpstr>
      <vt:lpstr>Arial</vt:lpstr>
      <vt:lpstr>Arial</vt:lpstr>
      <vt:lpstr>Calibri</vt:lpstr>
      <vt:lpstr>Microsoft YaHei</vt:lpstr>
      <vt:lpstr>Arial Unicode MS</vt:lpstr>
      <vt:lpstr>Calibri Light</vt:lpstr>
      <vt:lpstr>MingLiU-ExtB</vt:lpstr>
      <vt:lpstr>Office Theme</vt:lpstr>
      <vt:lpstr>PowerPoint 演示文稿</vt:lpstr>
      <vt:lpstr>PowerPoint 演示文稿</vt:lpstr>
      <vt:lpstr>PowerPoint 演示文稿</vt:lpstr>
      <vt:lpstr>Production Achievement – IG Machines</vt:lpstr>
      <vt:lpstr>IG Section – Downtime Analysis (Minutes)</vt:lpstr>
      <vt:lpstr>Production Achievement – EG Machines</vt:lpstr>
      <vt:lpstr>EG Section – Production Summary</vt:lpstr>
      <vt:lpstr>EG Section – Rework Analysis (Machine-wise)</vt:lpstr>
      <vt:lpstr>EG Section – Rejection Analysis (Machine-wise)</vt:lpstr>
      <vt:lpstr>Production Achievement – HO Machines</vt:lpstr>
      <vt:lpstr>HO Section – Production Summary</vt:lpstr>
      <vt:lpstr>HO Section – Rework Analysis (Machine-wise)</vt:lpstr>
      <vt:lpstr>HO Section – Rejection Analysis (Machine-wise)</vt:lpstr>
      <vt:lpstr>IG Section – Rework Analysis (Machine-wise)</vt:lpstr>
      <vt:lpstr>Operator Performance – IG Machines</vt:lpstr>
      <vt:lpstr>Operator Performance – HO Machines</vt:lpstr>
      <vt:lpstr>Operator Performance – EG Machines</vt:lpstr>
      <vt:lpstr>March 2026 | Target: &gt;65%</vt:lpstr>
      <vt:lpstr>Machine-wise OEE – IG Section</vt:lpstr>
      <vt:lpstr>Machine-wise OEE – HO Section</vt:lpstr>
      <vt:lpstr>Machine-wise OEE – EG Section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PE-07</cp:lastModifiedBy>
  <cp:revision>15</cp:revision>
  <dcterms:created xsi:type="dcterms:W3CDTF">2026-04-05T06:15:00Z</dcterms:created>
  <dcterms:modified xsi:type="dcterms:W3CDTF">2026-04-05T12:45:31Z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1033-11.2.0.8310</vt:lpwstr>
  </property>
</Properties>
</file>