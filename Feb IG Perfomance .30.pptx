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8" r:id="rId3"/>
    <p:sldId id="258" r:id="rId4"/>
    <p:sldId id="283" r:id="rId5"/>
    <p:sldId id="297" r:id="rId6"/>
    <p:sldId id="300" r:id="rId7"/>
    <p:sldId id="298" r:id="rId8"/>
    <p:sldId id="289" r:id="rId9"/>
    <p:sldId id="301" r:id="rId10"/>
    <p:sldId id="302" r:id="rId11"/>
    <p:sldId id="284" r:id="rId12"/>
    <p:sldId id="285" r:id="rId13"/>
    <p:sldId id="296" r:id="rId14"/>
    <p:sldId id="303" r:id="rId15"/>
    <p:sldId id="287" r:id="rId16"/>
    <p:sldId id="26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20" autoAdjust="0"/>
  </p:normalViewPr>
  <p:slideViewPr>
    <p:cSldViewPr snapToGrid="0" snapToObjects="1">
      <p:cViewPr>
        <p:scale>
          <a:sx n="90" d="100"/>
          <a:sy n="90" d="100"/>
        </p:scale>
        <p:origin x="1262" y="28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0800396389600704E-2"/>
          <c:y val="6.3534239879966786E-2"/>
          <c:w val="0.85937072154969851"/>
          <c:h val="0.775292010640763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 Qty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IG.14</c:v>
                </c:pt>
                <c:pt idx="1">
                  <c:v>IG.01</c:v>
                </c:pt>
                <c:pt idx="2">
                  <c:v>IG.16</c:v>
                </c:pt>
                <c:pt idx="3">
                  <c:v>IG.15</c:v>
                </c:pt>
                <c:pt idx="4">
                  <c:v>IG.18</c:v>
                </c:pt>
                <c:pt idx="5">
                  <c:v>IG.04</c:v>
                </c:pt>
                <c:pt idx="6">
                  <c:v>IG.11</c:v>
                </c:pt>
                <c:pt idx="7">
                  <c:v>IG.20</c:v>
                </c:pt>
                <c:pt idx="8">
                  <c:v>IG.13</c:v>
                </c:pt>
                <c:pt idx="9">
                  <c:v>IG.12</c:v>
                </c:pt>
                <c:pt idx="10">
                  <c:v>IG.17</c:v>
                </c:pt>
                <c:pt idx="11">
                  <c:v>IG.19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62622</c:v>
                </c:pt>
                <c:pt idx="1">
                  <c:v>60997</c:v>
                </c:pt>
                <c:pt idx="2">
                  <c:v>52484</c:v>
                </c:pt>
                <c:pt idx="3">
                  <c:v>50667</c:v>
                </c:pt>
                <c:pt idx="4">
                  <c:v>38763</c:v>
                </c:pt>
                <c:pt idx="5">
                  <c:v>37097</c:v>
                </c:pt>
                <c:pt idx="6">
                  <c:v>32035</c:v>
                </c:pt>
                <c:pt idx="7">
                  <c:v>28290</c:v>
                </c:pt>
                <c:pt idx="8">
                  <c:v>25877</c:v>
                </c:pt>
                <c:pt idx="9">
                  <c:v>21474</c:v>
                </c:pt>
                <c:pt idx="10">
                  <c:v>13697</c:v>
                </c:pt>
                <c:pt idx="11">
                  <c:v>5520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16-46D1-B669-C945A49664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Good Qty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B2E-47B3-AB6F-9EC8144E42E9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2E-47B3-AB6F-9EC8144E42E9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216-46D1-B669-C945A49664A4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7B2E-47B3-AB6F-9EC8144E42E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IG.14</c:v>
                </c:pt>
                <c:pt idx="1">
                  <c:v>IG.01</c:v>
                </c:pt>
                <c:pt idx="2">
                  <c:v>IG.16</c:v>
                </c:pt>
                <c:pt idx="3">
                  <c:v>IG.15</c:v>
                </c:pt>
                <c:pt idx="4">
                  <c:v>IG.18</c:v>
                </c:pt>
                <c:pt idx="5">
                  <c:v>IG.04</c:v>
                </c:pt>
                <c:pt idx="6">
                  <c:v>IG.11</c:v>
                </c:pt>
                <c:pt idx="7">
                  <c:v>IG.20</c:v>
                </c:pt>
                <c:pt idx="8">
                  <c:v>IG.13</c:v>
                </c:pt>
                <c:pt idx="9">
                  <c:v>IG.12</c:v>
                </c:pt>
                <c:pt idx="10">
                  <c:v>IG.17</c:v>
                </c:pt>
                <c:pt idx="11">
                  <c:v>IG.19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49901</c:v>
                </c:pt>
                <c:pt idx="1">
                  <c:v>48836</c:v>
                </c:pt>
                <c:pt idx="2">
                  <c:v>42431</c:v>
                </c:pt>
                <c:pt idx="3">
                  <c:v>33484</c:v>
                </c:pt>
                <c:pt idx="4">
                  <c:v>23871</c:v>
                </c:pt>
                <c:pt idx="5">
                  <c:v>21625</c:v>
                </c:pt>
                <c:pt idx="6">
                  <c:v>15504</c:v>
                </c:pt>
                <c:pt idx="7">
                  <c:v>12059</c:v>
                </c:pt>
                <c:pt idx="8">
                  <c:v>13808</c:v>
                </c:pt>
                <c:pt idx="9">
                  <c:v>13855</c:v>
                </c:pt>
                <c:pt idx="10">
                  <c:v>5716</c:v>
                </c:pt>
                <c:pt idx="11">
                  <c:v>2641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16-46D1-B669-C945A49664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3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A2533"/>
                </a:solidFill>
                <a:latin typeface="Arial"/>
              </a:rPr>
              <a:t>OEE % per Machine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OEE %</c:v>
                </c:pt>
              </c:strCache>
            </c:strRef>
          </c:tx>
          <c:spPr>
            <a:solidFill>
              <a:srgbClr val="1C6E7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AB1-403F-BDA8-C387C162426D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AB1-403F-BDA8-C387C162426D}"/>
              </c:ext>
            </c:extLst>
          </c:dPt>
          <c:dPt>
            <c:idx val="6"/>
            <c:invertIfNegative val="0"/>
            <c:bubble3D val="0"/>
            <c:spPr>
              <a:solidFill>
                <a:srgbClr val="92D0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B1-403F-BDA8-C387C162426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5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IG.01</c:v>
                </c:pt>
                <c:pt idx="1">
                  <c:v>IG.04</c:v>
                </c:pt>
                <c:pt idx="2">
                  <c:v>IG.12</c:v>
                </c:pt>
                <c:pt idx="3">
                  <c:v>IG.13</c:v>
                </c:pt>
                <c:pt idx="4">
                  <c:v>IG.14</c:v>
                </c:pt>
                <c:pt idx="5">
                  <c:v>IG.15</c:v>
                </c:pt>
                <c:pt idx="6">
                  <c:v>IG.16</c:v>
                </c:pt>
                <c:pt idx="7">
                  <c:v>IG.17</c:v>
                </c:pt>
                <c:pt idx="8">
                  <c:v>IG.18</c:v>
                </c:pt>
                <c:pt idx="9">
                  <c:v>IG.11</c:v>
                </c:pt>
                <c:pt idx="10">
                  <c:v>IG.19</c:v>
                </c:pt>
                <c:pt idx="11">
                  <c:v>IG.20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80.099999999999994</c:v>
                </c:pt>
                <c:pt idx="1">
                  <c:v>58.3</c:v>
                </c:pt>
                <c:pt idx="2">
                  <c:v>64.5</c:v>
                </c:pt>
                <c:pt idx="3">
                  <c:v>53.4</c:v>
                </c:pt>
                <c:pt idx="4">
                  <c:v>79.7</c:v>
                </c:pt>
                <c:pt idx="5">
                  <c:v>66.099999999999994</c:v>
                </c:pt>
                <c:pt idx="6">
                  <c:v>80.8</c:v>
                </c:pt>
                <c:pt idx="7">
                  <c:v>41.7</c:v>
                </c:pt>
                <c:pt idx="8">
                  <c:v>61.6</c:v>
                </c:pt>
                <c:pt idx="9">
                  <c:v>48.4</c:v>
                </c:pt>
                <c:pt idx="10">
                  <c:v>47.8</c:v>
                </c:pt>
                <c:pt idx="11">
                  <c:v>42.6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B1-403F-BDA8-C387C16242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3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A2533"/>
                </a:solidFill>
                <a:latin typeface="Arial"/>
              </a:rPr>
              <a:t>Rework &amp; Rejection — Actual Quantity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6.5616135104324083E-2"/>
          <c:y val="0.19248790073933195"/>
          <c:w val="0.91123571674752779"/>
          <c:h val="0.524044483543175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Rework (Qty)</c:v>
                </c:pt>
              </c:strCache>
            </c:strRef>
          </c:tx>
          <c:spPr>
            <a:solidFill>
              <a:srgbClr val="E88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A25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IG.01</c:v>
                </c:pt>
                <c:pt idx="1">
                  <c:v>IG.04</c:v>
                </c:pt>
                <c:pt idx="2">
                  <c:v>IG.12</c:v>
                </c:pt>
                <c:pt idx="3">
                  <c:v>IG.13</c:v>
                </c:pt>
                <c:pt idx="4">
                  <c:v>IG.14</c:v>
                </c:pt>
                <c:pt idx="5">
                  <c:v>IG.15</c:v>
                </c:pt>
                <c:pt idx="6">
                  <c:v>IG.16</c:v>
                </c:pt>
                <c:pt idx="7">
                  <c:v>IG.17</c:v>
                </c:pt>
                <c:pt idx="8">
                  <c:v>IG.18</c:v>
                </c:pt>
                <c:pt idx="9">
                  <c:v>IG.11</c:v>
                </c:pt>
                <c:pt idx="10">
                  <c:v>IG.19</c:v>
                </c:pt>
                <c:pt idx="11">
                  <c:v>IG.20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649</c:v>
                </c:pt>
                <c:pt idx="1">
                  <c:v>1135</c:v>
                </c:pt>
                <c:pt idx="2">
                  <c:v>704</c:v>
                </c:pt>
                <c:pt idx="3">
                  <c:v>930</c:v>
                </c:pt>
                <c:pt idx="4">
                  <c:v>693</c:v>
                </c:pt>
                <c:pt idx="5">
                  <c:v>2055</c:v>
                </c:pt>
                <c:pt idx="6">
                  <c:v>277</c:v>
                </c:pt>
                <c:pt idx="7">
                  <c:v>538</c:v>
                </c:pt>
                <c:pt idx="8">
                  <c:v>899</c:v>
                </c:pt>
                <c:pt idx="9">
                  <c:v>944</c:v>
                </c:pt>
                <c:pt idx="10">
                  <c:v>220</c:v>
                </c:pt>
                <c:pt idx="11">
                  <c:v>411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46-4ADD-9748-7175FFA000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Rejection (Qty)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A25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IG.01</c:v>
                </c:pt>
                <c:pt idx="1">
                  <c:v>IG.04</c:v>
                </c:pt>
                <c:pt idx="2">
                  <c:v>IG.12</c:v>
                </c:pt>
                <c:pt idx="3">
                  <c:v>IG.13</c:v>
                </c:pt>
                <c:pt idx="4">
                  <c:v>IG.14</c:v>
                </c:pt>
                <c:pt idx="5">
                  <c:v>IG.15</c:v>
                </c:pt>
                <c:pt idx="6">
                  <c:v>IG.16</c:v>
                </c:pt>
                <c:pt idx="7">
                  <c:v>IG.17</c:v>
                </c:pt>
                <c:pt idx="8">
                  <c:v>IG.18</c:v>
                </c:pt>
                <c:pt idx="9">
                  <c:v>IG.11</c:v>
                </c:pt>
                <c:pt idx="10">
                  <c:v>IG.19</c:v>
                </c:pt>
                <c:pt idx="11">
                  <c:v>IG.20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1299</c:v>
                </c:pt>
                <c:pt idx="1">
                  <c:v>602</c:v>
                </c:pt>
                <c:pt idx="2">
                  <c:v>214</c:v>
                </c:pt>
                <c:pt idx="3">
                  <c:v>257</c:v>
                </c:pt>
                <c:pt idx="4">
                  <c:v>213</c:v>
                </c:pt>
                <c:pt idx="5">
                  <c:v>800</c:v>
                </c:pt>
                <c:pt idx="6">
                  <c:v>323</c:v>
                </c:pt>
                <c:pt idx="7">
                  <c:v>188</c:v>
                </c:pt>
                <c:pt idx="8">
                  <c:v>730</c:v>
                </c:pt>
                <c:pt idx="9">
                  <c:v>702</c:v>
                </c:pt>
                <c:pt idx="10">
                  <c:v>27</c:v>
                </c:pt>
                <c:pt idx="11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46-4ADD-9748-7175FFA000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0.57334</cdr:x>
      <cdr:y>0.64312</cdr:y>
    </cdr:from>
    <cdr:to>
      <cdr:x>0.59623</cdr:x>
      <cdr:y>0.81668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142D680A-228C-62B0-DA04-ED4558279203}"/>
            </a:ext>
          </a:extLst>
        </cdr:cNvPr>
        <cdr:cNvSpPr/>
      </cdr:nvSpPr>
      <cdr:spPr>
        <a:xfrm xmlns:a="http://schemas.openxmlformats.org/drawingml/2006/main">
          <a:off x="3101098" y="2110564"/>
          <a:ext cx="123825" cy="569595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IN" kern="12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303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2AFB9-7F0C-4F83-E40F-643ED51A7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19061-DC81-8DD5-A1F9-B37059F85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C6D91-6CFB-BA7B-AB68-9CB09A28C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68A94-B13D-CDAF-491F-7A43EF6305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3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4724B-A0DD-594E-D039-37F18AFB5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74904-0182-6B75-A2EF-4EABE8751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68A6B-5DB3-9379-7A4E-2BDC50C5E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725DF-C001-14F2-818B-72711F798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2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5F54-040F-C55E-B951-914F55FE2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F7128-E973-D987-E6A5-226AA2DA6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A2CEF-C9F0-AFAB-8965-7B665031B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E31F0-3F7A-F8A6-0D14-0FBEEF43D7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73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47023-73DB-B5FF-A4D4-9089C692D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7309A-8426-5A04-FB56-4AD4B2EC8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B3F26-6127-3674-8453-8AFD9A8D1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A1B17-A714-EFB1-BC76-3EDC56A55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62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0149C-783A-51C6-FDFD-802FE1DF7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90167-022A-6D73-FB11-423CACAD0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7B7B47-6906-CCFB-40B6-05F6B7E2F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F03CA-10D8-9418-3B4B-9CC0D767AA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04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5817D-2FE5-04E5-E304-FEF0D51A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D2A2F-6D90-2541-BA2C-732FF2A8D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95C4E-76F9-9533-914A-1DC2125F6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C4329-8386-DCB7-4819-374BD35448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92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01929-F169-879B-53A7-E18D79569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B8684-9B11-55F4-83A0-CA4F6EF86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870C0-E8EE-653D-3AA1-0BDC7678F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F7148-B062-548D-68C8-0E384BC67C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1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3.xml"/><Relationship Id="rId7" Type="http://schemas.openxmlformats.org/officeDocument/2006/relationships/slide" Target="slide1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slide" Target="slide12.xml"/><Relationship Id="rId4" Type="http://schemas.openxmlformats.org/officeDocument/2006/relationships/slide" Target="slide4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chart" Target="../charts/char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slide" Target="slide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LeftPanel"/>
          <p:cNvSpPr/>
          <p:nvPr/>
        </p:nvSpPr>
        <p:spPr>
          <a:xfrm>
            <a:off x="4411440" y="0"/>
            <a:ext cx="4745271" cy="51435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02" name="TealBar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03" name="Ring1"/>
          <p:cNvSpPr/>
          <p:nvPr/>
        </p:nvSpPr>
        <p:spPr>
          <a:xfrm>
            <a:off x="5500000" y="-800000"/>
            <a:ext cx="4000000" cy="4000000"/>
          </a:xfrm>
          <a:prstGeom prst="ellipse">
            <a:avLst/>
          </a:prstGeom>
          <a:noFill/>
          <a:ln w="57150">
            <a:solidFill>
              <a:srgbClr val="0D9488">
                <a:alpha val="18000"/>
              </a:srgbClr>
            </a:solidFill>
          </a:ln>
        </p:spPr>
      </p:sp>
      <p:sp>
        <p:nvSpPr>
          <p:cNvPr id="104" name="Ring2"/>
          <p:cNvSpPr/>
          <p:nvPr/>
        </p:nvSpPr>
        <p:spPr>
          <a:xfrm>
            <a:off x="6100000" y="-300000"/>
            <a:ext cx="2800000" cy="2800000"/>
          </a:xfrm>
          <a:prstGeom prst="ellipse">
            <a:avLst/>
          </a:prstGeom>
          <a:noFill/>
          <a:ln w="38100">
            <a:solidFill>
              <a:srgbClr val="14B8A6">
                <a:alpha val="28000"/>
              </a:srgbClr>
            </a:solidFill>
          </a:ln>
        </p:spPr>
      </p:sp>
      <p:sp>
        <p:nvSpPr>
          <p:cNvPr id="107" name="HLine"/>
          <p:cNvSpPr/>
          <p:nvPr/>
        </p:nvSpPr>
        <p:spPr>
          <a:xfrm>
            <a:off x="274320" y="1900000"/>
            <a:ext cx="3900000" cy="4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08" name="BottomBar"/>
          <p:cNvSpPr/>
          <p:nvPr/>
        </p:nvSpPr>
        <p:spPr>
          <a:xfrm>
            <a:off x="0" y="4810000"/>
            <a:ext cx="9144000" cy="333500"/>
          </a:xfrm>
          <a:prstGeom prst="rect">
            <a:avLst/>
          </a:prstGeom>
          <a:solidFill>
            <a:srgbClr val="071225"/>
          </a:solidFill>
          <a:ln>
            <a:noFill/>
          </a:ln>
        </p:spPr>
      </p:sp>
      <p:sp>
        <p:nvSpPr>
          <p:cNvPr id="109" name="BottomTeal"/>
          <p:cNvSpPr/>
          <p:nvPr/>
        </p:nvSpPr>
        <p:spPr>
          <a:xfrm>
            <a:off x="0" y="4810000"/>
            <a:ext cx="1400000" cy="33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10" name="CompanyLabel"/>
          <p:cNvSpPr/>
          <p:nvPr/>
        </p:nvSpPr>
        <p:spPr>
          <a:xfrm>
            <a:off x="274320" y="380000"/>
            <a:ext cx="4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spc="300" dirty="0">
                <a:solidFill>
                  <a:srgbClr val="0D9488"/>
                </a:solidFill>
                <a:latin typeface="Calibri" pitchFamily="34" charset="0"/>
              </a:rPr>
              <a:t>MRS BEARINGS PRIVATE LIMITED</a:t>
            </a:r>
          </a:p>
        </p:txBody>
      </p:sp>
      <p:sp>
        <p:nvSpPr>
          <p:cNvPr id="111" name="UnitBadge"/>
          <p:cNvSpPr/>
          <p:nvPr/>
        </p:nvSpPr>
        <p:spPr>
          <a:xfrm>
            <a:off x="274320" y="870000"/>
            <a:ext cx="1600000" cy="31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 pitchFamily="34" charset="0"/>
              </a:rPr>
              <a:t>PRODUCTION  |  UNIT </a:t>
            </a:r>
          </a:p>
        </p:txBody>
      </p:sp>
      <p:sp>
        <p:nvSpPr>
          <p:cNvPr id="112" name="MonthBig"/>
          <p:cNvSpPr/>
          <p:nvPr/>
        </p:nvSpPr>
        <p:spPr>
          <a:xfrm>
            <a:off x="220000" y="1980000"/>
            <a:ext cx="410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</a:rPr>
              <a:t>FEB</a:t>
            </a:r>
          </a:p>
        </p:txBody>
      </p:sp>
      <p:sp>
        <p:nvSpPr>
          <p:cNvPr id="113" name="Year"/>
          <p:cNvSpPr/>
          <p:nvPr/>
        </p:nvSpPr>
        <p:spPr>
          <a:xfrm>
            <a:off x="274320" y="2870000"/>
            <a:ext cx="4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0" dirty="0">
                <a:solidFill>
                  <a:srgbClr val="A8C4E0"/>
                </a:solidFill>
                <a:latin typeface="Calibri" pitchFamily="34" charset="0"/>
              </a:rPr>
              <a:t>2026</a:t>
            </a:r>
          </a:p>
        </p:txBody>
      </p:sp>
      <p:sp>
        <p:nvSpPr>
          <p:cNvPr id="114" name="SubTitle"/>
          <p:cNvSpPr/>
          <p:nvPr/>
        </p:nvSpPr>
        <p:spPr>
          <a:xfrm>
            <a:off x="274320" y="3420000"/>
            <a:ext cx="4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0" i="1" dirty="0">
                <a:solidFill>
                  <a:srgbClr val="0D9488"/>
                </a:solidFill>
                <a:latin typeface="Calibri" pitchFamily="34" charset="0"/>
              </a:rPr>
              <a:t>Performance Report</a:t>
            </a:r>
          </a:p>
        </p:txBody>
      </p:sp>
      <p:sp>
        <p:nvSpPr>
          <p:cNvPr id="115" name="BottomInfo"/>
          <p:cNvSpPr/>
          <p:nvPr/>
        </p:nvSpPr>
        <p:spPr>
          <a:xfrm>
            <a:off x="274320" y="4100000"/>
            <a:ext cx="40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spc="200" dirty="0">
                <a:solidFill>
                  <a:srgbClr val="5A8FAA"/>
                </a:solidFill>
                <a:latin typeface="Calibri" pitchFamily="34" charset="0"/>
              </a:rPr>
              <a:t>PERIOD</a:t>
            </a:r>
            <a:r>
              <a:rPr lang="en-US" sz="800" dirty="0">
                <a:solidFill>
                  <a:srgbClr val="CCDDEE"/>
                </a:solidFill>
                <a:latin typeface="Calibri" pitchFamily="34" charset="0"/>
              </a:rPr>
              <a:t>    February 1 – 28, 2026</a:t>
            </a:r>
          </a:p>
          <a:p>
            <a:pPr marL="0" indent="0">
              <a:buNone/>
            </a:pPr>
            <a:r>
              <a:rPr lang="en-US" sz="800" b="1" spc="200" dirty="0">
                <a:solidFill>
                  <a:srgbClr val="5A8FAA"/>
                </a:solidFill>
                <a:latin typeface="Calibri" pitchFamily="34" charset="0"/>
              </a:rPr>
              <a:t>PREPARED BY</a:t>
            </a:r>
            <a:r>
              <a:rPr lang="en-US" sz="800" dirty="0">
                <a:solidFill>
                  <a:srgbClr val="CCDDEE"/>
                </a:solidFill>
                <a:latin typeface="Calibri" pitchFamily="34" charset="0"/>
              </a:rPr>
              <a:t>    Production Management Team</a:t>
            </a:r>
          </a:p>
        </p:txBody>
      </p:sp>
      <p:sp>
        <p:nvSpPr>
          <p:cNvPr id="117" name="RightDivider"/>
          <p:cNvSpPr/>
          <p:nvPr/>
        </p:nvSpPr>
        <p:spPr>
          <a:xfrm>
            <a:off x="4480000" y="1900000"/>
            <a:ext cx="466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18" name="RightHeading"/>
          <p:cNvSpPr/>
          <p:nvPr/>
        </p:nvSpPr>
        <p:spPr>
          <a:xfrm>
            <a:off x="4560000" y="1955000"/>
            <a:ext cx="44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0" i="1" dirty="0">
                <a:solidFill>
                  <a:srgbClr val="FFFFFF"/>
                </a:solidFill>
                <a:latin typeface="Calibri" pitchFamily="34" charset="0"/>
              </a:rPr>
              <a:t>Operational &amp; KPI Review</a:t>
            </a:r>
          </a:p>
        </p:txBody>
      </p:sp>
      <p:sp>
        <p:nvSpPr>
          <p:cNvPr id="119" name="Box1"/>
          <p:cNvSpPr/>
          <p:nvPr/>
        </p:nvSpPr>
        <p:spPr>
          <a:xfrm>
            <a:off x="4560000" y="2443000"/>
            <a:ext cx="4500000" cy="510000"/>
          </a:xfrm>
          <a:prstGeom prst="rect">
            <a:avLst/>
          </a:prstGeom>
          <a:solidFill>
            <a:srgbClr val="152B52"/>
          </a:solidFill>
          <a:ln w="19050">
            <a:solidFill>
              <a:srgbClr val="0D9488"/>
            </a:solidFill>
          </a:ln>
        </p:spPr>
      </p:sp>
      <p:sp>
        <p:nvSpPr>
          <p:cNvPr id="120" name="Box1L"/>
          <p:cNvSpPr/>
          <p:nvPr/>
        </p:nvSpPr>
        <p:spPr>
          <a:xfrm>
            <a:off x="4560000" y="2450000"/>
            <a:ext cx="76200" cy="51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21" name="Box1T"/>
          <p:cNvSpPr/>
          <p:nvPr/>
        </p:nvSpPr>
        <p:spPr>
          <a:xfrm>
            <a:off x="4700000" y="2462000"/>
            <a:ext cx="4300000" cy="4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spc="300" dirty="0">
                <a:solidFill>
                  <a:srgbClr val="0D9488"/>
                </a:solidFill>
                <a:latin typeface="Calibri" pitchFamily="34" charset="0"/>
              </a:rPr>
              <a:t>COMPANY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MRS Bearings Private Limited</a:t>
            </a:r>
          </a:p>
        </p:txBody>
      </p:sp>
      <p:sp>
        <p:nvSpPr>
          <p:cNvPr id="122" name="Box2"/>
          <p:cNvSpPr/>
          <p:nvPr/>
        </p:nvSpPr>
        <p:spPr>
          <a:xfrm>
            <a:off x="4560000" y="3000000"/>
            <a:ext cx="4500000" cy="510000"/>
          </a:xfrm>
          <a:prstGeom prst="rect">
            <a:avLst/>
          </a:prstGeom>
          <a:solidFill>
            <a:srgbClr val="0D1F3C"/>
          </a:solidFill>
          <a:ln w="19050">
            <a:solidFill>
              <a:srgbClr val="2E86AB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123" name="Box2L"/>
          <p:cNvSpPr/>
          <p:nvPr/>
        </p:nvSpPr>
        <p:spPr>
          <a:xfrm>
            <a:off x="4560000" y="3000000"/>
            <a:ext cx="76200" cy="51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124" name="Box2T"/>
          <p:cNvSpPr/>
          <p:nvPr/>
        </p:nvSpPr>
        <p:spPr>
          <a:xfrm>
            <a:off x="4700000" y="3012000"/>
            <a:ext cx="4300000" cy="4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spc="300" dirty="0">
                <a:solidFill>
                  <a:srgbClr val="2E86AB"/>
                </a:solidFill>
                <a:latin typeface="Calibri" pitchFamily="34" charset="0"/>
              </a:rPr>
              <a:t>DEPARTMENT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Production </a:t>
            </a:r>
          </a:p>
        </p:txBody>
      </p:sp>
      <p:sp>
        <p:nvSpPr>
          <p:cNvPr id="125" name="Box3"/>
          <p:cNvSpPr/>
          <p:nvPr/>
        </p:nvSpPr>
        <p:spPr>
          <a:xfrm>
            <a:off x="4560000" y="3550000"/>
            <a:ext cx="4500000" cy="510000"/>
          </a:xfrm>
          <a:prstGeom prst="rect">
            <a:avLst/>
          </a:prstGeom>
          <a:solidFill>
            <a:srgbClr val="152B52"/>
          </a:solidFill>
          <a:ln w="19050">
            <a:solidFill>
              <a:srgbClr val="0D9488"/>
            </a:solidFill>
          </a:ln>
        </p:spPr>
      </p:sp>
      <p:sp>
        <p:nvSpPr>
          <p:cNvPr id="126" name="Box3L"/>
          <p:cNvSpPr/>
          <p:nvPr/>
        </p:nvSpPr>
        <p:spPr>
          <a:xfrm>
            <a:off x="4560000" y="3550000"/>
            <a:ext cx="76200" cy="51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27" name="Box3T"/>
          <p:cNvSpPr/>
          <p:nvPr/>
        </p:nvSpPr>
        <p:spPr>
          <a:xfrm>
            <a:off x="4700000" y="3562000"/>
            <a:ext cx="4300000" cy="4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spc="300" dirty="0">
                <a:solidFill>
                  <a:srgbClr val="0D9488"/>
                </a:solidFill>
                <a:latin typeface="Calibri" pitchFamily="34" charset="0"/>
              </a:rPr>
              <a:t>REPORTING PERIOD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February 1 – 28, 2026</a:t>
            </a:r>
          </a:p>
        </p:txBody>
      </p:sp>
      <p:sp>
        <p:nvSpPr>
          <p:cNvPr id="128" name="Box4"/>
          <p:cNvSpPr/>
          <p:nvPr/>
        </p:nvSpPr>
        <p:spPr>
          <a:xfrm>
            <a:off x="4560000" y="4100000"/>
            <a:ext cx="4500000" cy="510000"/>
          </a:xfrm>
          <a:prstGeom prst="rect">
            <a:avLst/>
          </a:prstGeom>
          <a:solidFill>
            <a:srgbClr val="0D1F3C"/>
          </a:solidFill>
          <a:ln w="19050">
            <a:solidFill>
              <a:srgbClr val="2E86AB"/>
            </a:solidFill>
          </a:ln>
        </p:spPr>
      </p:sp>
      <p:sp>
        <p:nvSpPr>
          <p:cNvPr id="129" name="Box4L"/>
          <p:cNvSpPr/>
          <p:nvPr/>
        </p:nvSpPr>
        <p:spPr>
          <a:xfrm>
            <a:off x="4560000" y="4100000"/>
            <a:ext cx="76200" cy="51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130" name="Box4T"/>
          <p:cNvSpPr/>
          <p:nvPr/>
        </p:nvSpPr>
        <p:spPr>
          <a:xfrm>
            <a:off x="4700000" y="4112000"/>
            <a:ext cx="4300000" cy="4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spc="300" dirty="0">
                <a:solidFill>
                  <a:srgbClr val="2E86AB"/>
                </a:solidFill>
                <a:latin typeface="Calibri" pitchFamily="34" charset="0"/>
              </a:rPr>
              <a:t>PREPARED BY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Production Management Team</a:t>
            </a:r>
          </a:p>
        </p:txBody>
      </p:sp>
      <p:sp>
        <p:nvSpPr>
          <p:cNvPr id="131" name="FooterTxt"/>
          <p:cNvSpPr/>
          <p:nvPr/>
        </p:nvSpPr>
        <p:spPr>
          <a:xfrm>
            <a:off x="1500000" y="4830000"/>
            <a:ext cx="6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spc="200" dirty="0">
                <a:solidFill>
                  <a:srgbClr val="4A7090"/>
                </a:solidFill>
                <a:latin typeface="Calibri" pitchFamily="34" charset="0"/>
              </a:rPr>
              <a:t>CONFIDENTIAL  |  FOR MANAGEMENT REVIEW  |  MRS BEARINGS PRIVATE LIMITED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1052C0-F446-D0C3-78FF-8AA49F8BA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433" y="362568"/>
            <a:ext cx="2741567" cy="1274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77907" y="431894"/>
            <a:ext cx="4811566" cy="269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– February 2026</a:t>
            </a:r>
            <a:endParaRPr lang="en-US" sz="2000" dirty="0"/>
          </a:p>
        </p:txBody>
      </p:sp>
      <p:sp>
        <p:nvSpPr>
          <p:cNvPr id="5" name="Shape 3">
            <a:hlinkClick r:id="rId3" action="ppaction://hlinksldjump"/>
          </p:cNvPr>
          <p:cNvSpPr/>
          <p:nvPr/>
        </p:nvSpPr>
        <p:spPr>
          <a:xfrm>
            <a:off x="283431" y="863788"/>
            <a:ext cx="2387998" cy="1221449"/>
          </a:xfrm>
          <a:custGeom>
            <a:avLst/>
            <a:gdLst/>
            <a:ahLst/>
            <a:cxnLst/>
            <a:rect l="l" t="t" r="r" b="b"/>
            <a:pathLst>
              <a:path w="2744325" h="1628599">
                <a:moveTo>
                  <a:pt x="35991" y="0"/>
                </a:moveTo>
                <a:lnTo>
                  <a:pt x="2636349" y="0"/>
                </a:lnTo>
                <a:cubicBezTo>
                  <a:pt x="2695982" y="0"/>
                  <a:pt x="2744325" y="48343"/>
                  <a:pt x="2744325" y="107976"/>
                </a:cubicBezTo>
                <a:lnTo>
                  <a:pt x="2744325" y="1520623"/>
                </a:lnTo>
                <a:cubicBezTo>
                  <a:pt x="2744325" y="1580257"/>
                  <a:pt x="2695982" y="1628599"/>
                  <a:pt x="2636349" y="1628599"/>
                </a:cubicBez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83431" y="863788"/>
            <a:ext cx="26993" cy="1221449"/>
          </a:xfrm>
          <a:custGeom>
            <a:avLst/>
            <a:gdLst/>
            <a:ahLst/>
            <a:cxnLst/>
            <a:rect l="l" t="t" r="r" b="b"/>
            <a:pathLst>
              <a:path w="35991" h="1628599">
                <a:moveTo>
                  <a:pt x="35991" y="0"/>
                </a:moveTo>
                <a:lnTo>
                  <a:pt x="35991" y="0"/>
                </a:lnTo>
                <a:lnTo>
                  <a:pt x="35991" y="1628599"/>
                </a:ln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7" name="Shape 5"/>
          <p:cNvSpPr/>
          <p:nvPr/>
        </p:nvSpPr>
        <p:spPr>
          <a:xfrm>
            <a:off x="425146" y="971761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26993" y="26993"/>
                </a:moveTo>
                <a:cubicBezTo>
                  <a:pt x="26993" y="19528"/>
                  <a:pt x="20962" y="13497"/>
                  <a:pt x="13497" y="13497"/>
                </a:cubicBezTo>
                <a:cubicBezTo>
                  <a:pt x="6031" y="13497"/>
                  <a:pt x="0" y="19528"/>
                  <a:pt x="0" y="26993"/>
                </a:cubicBezTo>
                <a:lnTo>
                  <a:pt x="0" y="168708"/>
                </a:lnTo>
                <a:cubicBezTo>
                  <a:pt x="0" y="187351"/>
                  <a:pt x="15099" y="202450"/>
                  <a:pt x="33742" y="202450"/>
                </a:cubicBezTo>
                <a:lnTo>
                  <a:pt x="202450" y="202450"/>
                </a:lnTo>
                <a:cubicBezTo>
                  <a:pt x="209916" y="202450"/>
                  <a:pt x="215947" y="196419"/>
                  <a:pt x="215947" y="188954"/>
                </a:cubicBezTo>
                <a:cubicBezTo>
                  <a:pt x="215947" y="181488"/>
                  <a:pt x="209916" y="175457"/>
                  <a:pt x="202450" y="175457"/>
                </a:cubicBezTo>
                <a:lnTo>
                  <a:pt x="33742" y="175457"/>
                </a:lnTo>
                <a:cubicBezTo>
                  <a:pt x="30030" y="175457"/>
                  <a:pt x="26993" y="172420"/>
                  <a:pt x="26993" y="168708"/>
                </a:cubicBezTo>
                <a:lnTo>
                  <a:pt x="26993" y="26993"/>
                </a:lnTo>
                <a:close/>
                <a:moveTo>
                  <a:pt x="198486" y="63519"/>
                </a:moveTo>
                <a:cubicBezTo>
                  <a:pt x="203758" y="58247"/>
                  <a:pt x="203758" y="49685"/>
                  <a:pt x="198486" y="44413"/>
                </a:cubicBezTo>
                <a:cubicBezTo>
                  <a:pt x="193213" y="39140"/>
                  <a:pt x="184651" y="39140"/>
                  <a:pt x="179379" y="44413"/>
                </a:cubicBezTo>
                <a:lnTo>
                  <a:pt x="134967" y="88867"/>
                </a:lnTo>
                <a:lnTo>
                  <a:pt x="110757" y="64700"/>
                </a:lnTo>
                <a:cubicBezTo>
                  <a:pt x="105485" y="59428"/>
                  <a:pt x="96923" y="59428"/>
                  <a:pt x="91651" y="64700"/>
                </a:cubicBezTo>
                <a:lnTo>
                  <a:pt x="51161" y="105190"/>
                </a:lnTo>
                <a:cubicBezTo>
                  <a:pt x="45889" y="110462"/>
                  <a:pt x="45889" y="119024"/>
                  <a:pt x="51161" y="124296"/>
                </a:cubicBezTo>
                <a:cubicBezTo>
                  <a:pt x="56433" y="129568"/>
                  <a:pt x="64995" y="129568"/>
                  <a:pt x="70267" y="124296"/>
                </a:cubicBezTo>
                <a:lnTo>
                  <a:pt x="101225" y="93338"/>
                </a:lnTo>
                <a:lnTo>
                  <a:pt x="125435" y="117548"/>
                </a:lnTo>
                <a:cubicBezTo>
                  <a:pt x="130707" y="122820"/>
                  <a:pt x="139269" y="122820"/>
                  <a:pt x="144541" y="117548"/>
                </a:cubicBezTo>
                <a:lnTo>
                  <a:pt x="198528" y="63561"/>
                </a:ln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8" name="Shape 6"/>
          <p:cNvSpPr/>
          <p:nvPr/>
        </p:nvSpPr>
        <p:spPr>
          <a:xfrm>
            <a:off x="1519136" y="971761"/>
            <a:ext cx="928642" cy="161960"/>
          </a:xfrm>
          <a:custGeom>
            <a:avLst/>
            <a:gdLst/>
            <a:ahLst/>
            <a:cxnLst/>
            <a:rect l="l" t="t" r="r" b="b"/>
            <a:pathLst>
              <a:path w="953765" h="215947">
                <a:moveTo>
                  <a:pt x="35992" y="0"/>
                </a:moveTo>
                <a:lnTo>
                  <a:pt x="917773" y="0"/>
                </a:lnTo>
                <a:cubicBezTo>
                  <a:pt x="937638" y="0"/>
                  <a:pt x="953765" y="16127"/>
                  <a:pt x="953765" y="35992"/>
                </a:cubicBezTo>
                <a:lnTo>
                  <a:pt x="953765" y="179955"/>
                </a:lnTo>
                <a:cubicBezTo>
                  <a:pt x="953765" y="199819"/>
                  <a:pt x="937638" y="215947"/>
                  <a:pt x="917773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19135" y="971761"/>
            <a:ext cx="1152291" cy="130919"/>
          </a:xfrm>
          <a:prstGeom prst="rect">
            <a:avLst/>
          </a:prstGeom>
          <a:noFill/>
          <a:ln/>
        </p:spPr>
        <p:txBody>
          <a:bodyPr wrap="square" lIns="53987" tIns="26993" rIns="53987" bIns="26993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BELOW TARGET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4900" y="1187708"/>
            <a:ext cx="1882787" cy="16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Capability (Cpk)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4900" y="1376662"/>
            <a:ext cx="1950270" cy="269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1.35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4900" y="1703281"/>
            <a:ext cx="1828800" cy="53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404901" y="1759967"/>
            <a:ext cx="1876039" cy="134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≥ 1.67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4900" y="1921927"/>
            <a:ext cx="1828800" cy="53987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404901" y="1921927"/>
            <a:ext cx="1477886" cy="53987"/>
          </a:xfrm>
          <a:custGeom>
            <a:avLst/>
            <a:gdLst/>
            <a:ahLst/>
            <a:cxnLst/>
            <a:rect l="l" t="t" r="r" b="b"/>
            <a:pathLst>
              <a:path w="1970515" h="71982">
                <a:moveTo>
                  <a:pt x="35991" y="0"/>
                </a:moveTo>
                <a:lnTo>
                  <a:pt x="1934524" y="0"/>
                </a:lnTo>
                <a:cubicBezTo>
                  <a:pt x="1954401" y="0"/>
                  <a:pt x="1970515" y="16114"/>
                  <a:pt x="1970515" y="35991"/>
                </a:cubicBezTo>
                <a:lnTo>
                  <a:pt x="1970515" y="35991"/>
                </a:lnTo>
                <a:cubicBezTo>
                  <a:pt x="1970515" y="55869"/>
                  <a:pt x="1954401" y="71982"/>
                  <a:pt x="1934524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6" name="Shape 14">
            <a:hlinkClick r:id="rId4" action="ppaction://hlinksldjump"/>
          </p:cNvPr>
          <p:cNvSpPr/>
          <p:nvPr/>
        </p:nvSpPr>
        <p:spPr>
          <a:xfrm>
            <a:off x="2960271" y="863788"/>
            <a:ext cx="2642626" cy="1221449"/>
          </a:xfrm>
          <a:custGeom>
            <a:avLst/>
            <a:gdLst/>
            <a:ahLst/>
            <a:cxnLst/>
            <a:rect l="l" t="t" r="r" b="b"/>
            <a:pathLst>
              <a:path w="2744325" h="1628599">
                <a:moveTo>
                  <a:pt x="35991" y="0"/>
                </a:moveTo>
                <a:lnTo>
                  <a:pt x="2636349" y="0"/>
                </a:lnTo>
                <a:cubicBezTo>
                  <a:pt x="2695982" y="0"/>
                  <a:pt x="2744325" y="48343"/>
                  <a:pt x="2744325" y="107976"/>
                </a:cubicBezTo>
                <a:lnTo>
                  <a:pt x="2744325" y="1520623"/>
                </a:lnTo>
                <a:cubicBezTo>
                  <a:pt x="2744325" y="1580257"/>
                  <a:pt x="2695982" y="1628599"/>
                  <a:pt x="2636349" y="1628599"/>
                </a:cubicBez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60271" y="863788"/>
            <a:ext cx="45719" cy="1221449"/>
          </a:xfrm>
          <a:custGeom>
            <a:avLst/>
            <a:gdLst/>
            <a:ahLst/>
            <a:cxnLst/>
            <a:rect l="l" t="t" r="r" b="b"/>
            <a:pathLst>
              <a:path w="35991" h="1628599">
                <a:moveTo>
                  <a:pt x="35991" y="0"/>
                </a:moveTo>
                <a:lnTo>
                  <a:pt x="35991" y="0"/>
                </a:lnTo>
                <a:lnTo>
                  <a:pt x="35991" y="1628599"/>
                </a:ln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12108" y="971761"/>
            <a:ext cx="141716" cy="161960"/>
          </a:xfrm>
          <a:custGeom>
            <a:avLst/>
            <a:gdLst/>
            <a:ahLst/>
            <a:cxnLst/>
            <a:rect l="l" t="t" r="r" b="b"/>
            <a:pathLst>
              <a:path w="188954" h="215947">
                <a:moveTo>
                  <a:pt x="80980" y="53987"/>
                </a:moveTo>
                <a:cubicBezTo>
                  <a:pt x="80980" y="31640"/>
                  <a:pt x="62837" y="13497"/>
                  <a:pt x="40490" y="13497"/>
                </a:cubicBezTo>
                <a:cubicBezTo>
                  <a:pt x="18143" y="13497"/>
                  <a:pt x="0" y="31640"/>
                  <a:pt x="0" y="53987"/>
                </a:cubicBezTo>
                <a:cubicBezTo>
                  <a:pt x="0" y="76334"/>
                  <a:pt x="18143" y="94477"/>
                  <a:pt x="40490" y="94477"/>
                </a:cubicBezTo>
                <a:cubicBezTo>
                  <a:pt x="62837" y="94477"/>
                  <a:pt x="80980" y="76334"/>
                  <a:pt x="80980" y="53987"/>
                </a:cubicBezTo>
                <a:close/>
                <a:moveTo>
                  <a:pt x="188954" y="161960"/>
                </a:moveTo>
                <a:cubicBezTo>
                  <a:pt x="188954" y="139613"/>
                  <a:pt x="170811" y="121470"/>
                  <a:pt x="148463" y="121470"/>
                </a:cubicBezTo>
                <a:cubicBezTo>
                  <a:pt x="126116" y="121470"/>
                  <a:pt x="107973" y="139613"/>
                  <a:pt x="107973" y="161960"/>
                </a:cubicBezTo>
                <a:cubicBezTo>
                  <a:pt x="107973" y="184307"/>
                  <a:pt x="126116" y="202450"/>
                  <a:pt x="148463" y="202450"/>
                </a:cubicBezTo>
                <a:cubicBezTo>
                  <a:pt x="170811" y="202450"/>
                  <a:pt x="188954" y="184307"/>
                  <a:pt x="188954" y="161960"/>
                </a:cubicBezTo>
                <a:close/>
                <a:moveTo>
                  <a:pt x="184989" y="36525"/>
                </a:moveTo>
                <a:cubicBezTo>
                  <a:pt x="190261" y="31253"/>
                  <a:pt x="190261" y="22691"/>
                  <a:pt x="184989" y="17419"/>
                </a:cubicBezTo>
                <a:cubicBezTo>
                  <a:pt x="179717" y="12147"/>
                  <a:pt x="171155" y="12147"/>
                  <a:pt x="165883" y="17419"/>
                </a:cubicBezTo>
                <a:lnTo>
                  <a:pt x="3922" y="179379"/>
                </a:lnTo>
                <a:cubicBezTo>
                  <a:pt x="-1350" y="184651"/>
                  <a:pt x="-1350" y="193213"/>
                  <a:pt x="3922" y="198486"/>
                </a:cubicBezTo>
                <a:cubicBezTo>
                  <a:pt x="9195" y="203758"/>
                  <a:pt x="17757" y="203758"/>
                  <a:pt x="23029" y="198486"/>
                </a:cubicBezTo>
                <a:lnTo>
                  <a:pt x="184989" y="36525"/>
                </a:ln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9" name="Shape 17"/>
          <p:cNvSpPr/>
          <p:nvPr/>
        </p:nvSpPr>
        <p:spPr>
          <a:xfrm>
            <a:off x="4195975" y="971761"/>
            <a:ext cx="1128646" cy="135051"/>
          </a:xfrm>
          <a:custGeom>
            <a:avLst/>
            <a:gdLst/>
            <a:ahLst/>
            <a:cxnLst/>
            <a:rect l="l" t="t" r="r" b="b"/>
            <a:pathLst>
              <a:path w="953765" h="215947">
                <a:moveTo>
                  <a:pt x="35992" y="0"/>
                </a:moveTo>
                <a:lnTo>
                  <a:pt x="917773" y="0"/>
                </a:lnTo>
                <a:cubicBezTo>
                  <a:pt x="937638" y="0"/>
                  <a:pt x="953765" y="16127"/>
                  <a:pt x="953765" y="35992"/>
                </a:cubicBezTo>
                <a:lnTo>
                  <a:pt x="953765" y="179955"/>
                </a:lnTo>
                <a:cubicBezTo>
                  <a:pt x="953765" y="199819"/>
                  <a:pt x="937638" y="215947"/>
                  <a:pt x="917773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95976" y="971761"/>
            <a:ext cx="1128646" cy="135051"/>
          </a:xfrm>
          <a:prstGeom prst="rect">
            <a:avLst/>
          </a:prstGeom>
          <a:noFill/>
          <a:ln/>
        </p:spPr>
        <p:txBody>
          <a:bodyPr wrap="square" lIns="53987" tIns="26993" rIns="53987" bIns="26993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BELOW TARGET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81740" y="1187708"/>
            <a:ext cx="1882787" cy="16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Achievement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81740" y="1376662"/>
            <a:ext cx="1950270" cy="269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69%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81740" y="1703281"/>
            <a:ext cx="1828800" cy="53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3081741" y="1759967"/>
            <a:ext cx="1876039" cy="134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&gt;95%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81740" y="1921927"/>
            <a:ext cx="1828800" cy="53987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6" name="Shape 24"/>
          <p:cNvSpPr/>
          <p:nvPr/>
        </p:nvSpPr>
        <p:spPr>
          <a:xfrm>
            <a:off x="3081740" y="1921927"/>
            <a:ext cx="1336172" cy="53987"/>
          </a:xfrm>
          <a:custGeom>
            <a:avLst/>
            <a:gdLst/>
            <a:ahLst/>
            <a:cxnLst/>
            <a:rect l="l" t="t" r="r" b="b"/>
            <a:pathLst>
              <a:path w="1781562" h="71982">
                <a:moveTo>
                  <a:pt x="35991" y="0"/>
                </a:moveTo>
                <a:lnTo>
                  <a:pt x="1745570" y="0"/>
                </a:lnTo>
                <a:cubicBezTo>
                  <a:pt x="1765448" y="0"/>
                  <a:pt x="1781562" y="16114"/>
                  <a:pt x="1781562" y="35991"/>
                </a:cubicBezTo>
                <a:lnTo>
                  <a:pt x="1781562" y="35991"/>
                </a:lnTo>
                <a:cubicBezTo>
                  <a:pt x="1781562" y="55869"/>
                  <a:pt x="1765448" y="71982"/>
                  <a:pt x="1745570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49" name="Shape 47">
            <a:hlinkClick r:id="rId5" action="ppaction://hlinksldjump"/>
          </p:cNvPr>
          <p:cNvSpPr/>
          <p:nvPr/>
        </p:nvSpPr>
        <p:spPr>
          <a:xfrm>
            <a:off x="283430" y="2191861"/>
            <a:ext cx="2387997" cy="1356416"/>
          </a:xfrm>
          <a:custGeom>
            <a:avLst/>
            <a:gdLst/>
            <a:ahLst/>
            <a:cxnLst/>
            <a:rect l="l" t="t" r="r" b="b"/>
            <a:pathLst>
              <a:path w="2744325" h="1808555">
                <a:moveTo>
                  <a:pt x="35991" y="0"/>
                </a:moveTo>
                <a:lnTo>
                  <a:pt x="2636354" y="0"/>
                </a:lnTo>
                <a:cubicBezTo>
                  <a:pt x="2695985" y="0"/>
                  <a:pt x="2744325" y="48340"/>
                  <a:pt x="2744325" y="107971"/>
                </a:cubicBezTo>
                <a:lnTo>
                  <a:pt x="2744325" y="1700584"/>
                </a:lnTo>
                <a:cubicBezTo>
                  <a:pt x="2744325" y="1760215"/>
                  <a:pt x="2695985" y="1808555"/>
                  <a:pt x="2636354" y="1808555"/>
                </a:cubicBezTo>
                <a:lnTo>
                  <a:pt x="35991" y="1808555"/>
                </a:lnTo>
                <a:cubicBezTo>
                  <a:pt x="16114" y="1808555"/>
                  <a:pt x="0" y="1792441"/>
                  <a:pt x="0" y="1772564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83431" y="2191861"/>
            <a:ext cx="26993" cy="1356416"/>
          </a:xfrm>
          <a:custGeom>
            <a:avLst/>
            <a:gdLst/>
            <a:ahLst/>
            <a:cxnLst/>
            <a:rect l="l" t="t" r="r" b="b"/>
            <a:pathLst>
              <a:path w="35991" h="1808555">
                <a:moveTo>
                  <a:pt x="35991" y="0"/>
                </a:moveTo>
                <a:lnTo>
                  <a:pt x="35991" y="0"/>
                </a:lnTo>
                <a:lnTo>
                  <a:pt x="35991" y="1808555"/>
                </a:lnTo>
                <a:lnTo>
                  <a:pt x="35991" y="1808555"/>
                </a:lnTo>
                <a:cubicBezTo>
                  <a:pt x="16114" y="1808555"/>
                  <a:pt x="0" y="1792441"/>
                  <a:pt x="0" y="1772564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51" name="Shape 49"/>
          <p:cNvSpPr/>
          <p:nvPr/>
        </p:nvSpPr>
        <p:spPr>
          <a:xfrm>
            <a:off x="425146" y="2299835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0"/>
                </a:moveTo>
                <a:cubicBezTo>
                  <a:pt x="114173" y="0"/>
                  <a:pt x="119867" y="3416"/>
                  <a:pt x="122820" y="8857"/>
                </a:cubicBezTo>
                <a:lnTo>
                  <a:pt x="213922" y="177566"/>
                </a:lnTo>
                <a:cubicBezTo>
                  <a:pt x="216748" y="182796"/>
                  <a:pt x="216622" y="189122"/>
                  <a:pt x="213585" y="194226"/>
                </a:cubicBezTo>
                <a:cubicBezTo>
                  <a:pt x="210548" y="199329"/>
                  <a:pt x="205023" y="202450"/>
                  <a:pt x="199076" y="202450"/>
                </a:cubicBezTo>
                <a:lnTo>
                  <a:pt x="16871" y="202450"/>
                </a:lnTo>
                <a:cubicBezTo>
                  <a:pt x="10924" y="202450"/>
                  <a:pt x="5441" y="199329"/>
                  <a:pt x="2362" y="194226"/>
                </a:cubicBezTo>
                <a:cubicBezTo>
                  <a:pt x="-717" y="189122"/>
                  <a:pt x="-801" y="182796"/>
                  <a:pt x="2025" y="177566"/>
                </a:cubicBezTo>
                <a:lnTo>
                  <a:pt x="93127" y="8857"/>
                </a:lnTo>
                <a:cubicBezTo>
                  <a:pt x="96079" y="3416"/>
                  <a:pt x="101773" y="0"/>
                  <a:pt x="107973" y="0"/>
                </a:cubicBezTo>
                <a:close/>
                <a:moveTo>
                  <a:pt x="107973" y="70858"/>
                </a:moveTo>
                <a:cubicBezTo>
                  <a:pt x="102364" y="70858"/>
                  <a:pt x="97851" y="75371"/>
                  <a:pt x="97851" y="80980"/>
                </a:cubicBezTo>
                <a:lnTo>
                  <a:pt x="97851" y="128218"/>
                </a:lnTo>
                <a:cubicBezTo>
                  <a:pt x="97851" y="133828"/>
                  <a:pt x="102364" y="138341"/>
                  <a:pt x="107973" y="138341"/>
                </a:cubicBezTo>
                <a:cubicBezTo>
                  <a:pt x="113583" y="138341"/>
                  <a:pt x="118096" y="133828"/>
                  <a:pt x="118096" y="128218"/>
                </a:cubicBezTo>
                <a:lnTo>
                  <a:pt x="118096" y="80980"/>
                </a:lnTo>
                <a:cubicBezTo>
                  <a:pt x="118096" y="75371"/>
                  <a:pt x="113583" y="70858"/>
                  <a:pt x="107973" y="70858"/>
                </a:cubicBezTo>
                <a:close/>
                <a:moveTo>
                  <a:pt x="119235" y="161960"/>
                </a:moveTo>
                <a:cubicBezTo>
                  <a:pt x="119491" y="157780"/>
                  <a:pt x="117406" y="153803"/>
                  <a:pt x="113823" y="151636"/>
                </a:cubicBezTo>
                <a:cubicBezTo>
                  <a:pt x="110240" y="149468"/>
                  <a:pt x="105749" y="149468"/>
                  <a:pt x="102166" y="151636"/>
                </a:cubicBezTo>
                <a:cubicBezTo>
                  <a:pt x="98583" y="153803"/>
                  <a:pt x="96498" y="157780"/>
                  <a:pt x="96754" y="161960"/>
                </a:cubicBezTo>
                <a:cubicBezTo>
                  <a:pt x="96498" y="166140"/>
                  <a:pt x="98583" y="170117"/>
                  <a:pt x="102166" y="172285"/>
                </a:cubicBezTo>
                <a:cubicBezTo>
                  <a:pt x="105749" y="174452"/>
                  <a:pt x="110240" y="174452"/>
                  <a:pt x="113823" y="172285"/>
                </a:cubicBezTo>
                <a:cubicBezTo>
                  <a:pt x="117406" y="170117"/>
                  <a:pt x="119491" y="166140"/>
                  <a:pt x="119235" y="16196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52" name="Shape 50"/>
          <p:cNvSpPr/>
          <p:nvPr/>
        </p:nvSpPr>
        <p:spPr>
          <a:xfrm>
            <a:off x="1519136" y="2299834"/>
            <a:ext cx="928642" cy="159262"/>
          </a:xfrm>
          <a:custGeom>
            <a:avLst/>
            <a:gdLst/>
            <a:ahLst/>
            <a:cxnLst/>
            <a:rect l="l" t="t" r="r" b="b"/>
            <a:pathLst>
              <a:path w="611849" h="215947">
                <a:moveTo>
                  <a:pt x="35992" y="0"/>
                </a:moveTo>
                <a:lnTo>
                  <a:pt x="575858" y="0"/>
                </a:lnTo>
                <a:cubicBezTo>
                  <a:pt x="595722" y="0"/>
                  <a:pt x="611849" y="16127"/>
                  <a:pt x="611849" y="35992"/>
                </a:cubicBezTo>
                <a:lnTo>
                  <a:pt x="611849" y="179955"/>
                </a:lnTo>
                <a:cubicBezTo>
                  <a:pt x="611849" y="199819"/>
                  <a:pt x="595722" y="215947"/>
                  <a:pt x="575858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510932" y="2292801"/>
            <a:ext cx="928642" cy="159261"/>
          </a:xfrm>
          <a:prstGeom prst="rect">
            <a:avLst/>
          </a:prstGeom>
          <a:noFill/>
          <a:ln/>
        </p:spPr>
        <p:txBody>
          <a:bodyPr wrap="square" lIns="53987" tIns="26993" rIns="53987" bIns="26993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04900" y="2515782"/>
            <a:ext cx="1882787" cy="16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 Rejection (ppm)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04900" y="2704735"/>
            <a:ext cx="1950270" cy="269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18,747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04900" y="3031354"/>
            <a:ext cx="1828800" cy="53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7" name="Text 55"/>
          <p:cNvSpPr/>
          <p:nvPr/>
        </p:nvSpPr>
        <p:spPr>
          <a:xfrm>
            <a:off x="404901" y="3088040"/>
            <a:ext cx="1876039" cy="134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&lt;1,500 ppm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04900" y="3250000"/>
            <a:ext cx="1828800" cy="53987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9" name="Shape 57"/>
          <p:cNvSpPr/>
          <p:nvPr/>
        </p:nvSpPr>
        <p:spPr>
          <a:xfrm>
            <a:off x="404900" y="3250000"/>
            <a:ext cx="1828800" cy="53987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60" name="Text 58"/>
          <p:cNvSpPr/>
          <p:nvPr/>
        </p:nvSpPr>
        <p:spPr>
          <a:xfrm>
            <a:off x="404901" y="3330981"/>
            <a:ext cx="1869290" cy="107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14× OVER TARGET</a:t>
            </a:r>
            <a:endParaRPr lang="en-US" sz="1000" dirty="0"/>
          </a:p>
        </p:txBody>
      </p:sp>
      <p:sp>
        <p:nvSpPr>
          <p:cNvPr id="73" name="Shape 71">
            <a:hlinkClick r:id="rId6" action="ppaction://hlinksldjump"/>
          </p:cNvPr>
          <p:cNvSpPr/>
          <p:nvPr/>
        </p:nvSpPr>
        <p:spPr>
          <a:xfrm>
            <a:off x="5982696" y="820259"/>
            <a:ext cx="2556631" cy="1356416"/>
          </a:xfrm>
          <a:custGeom>
            <a:avLst/>
            <a:gdLst/>
            <a:ahLst/>
            <a:cxnLst/>
            <a:rect l="l" t="t" r="r" b="b"/>
            <a:pathLst>
              <a:path w="2744325" h="1808555">
                <a:moveTo>
                  <a:pt x="35991" y="0"/>
                </a:moveTo>
                <a:lnTo>
                  <a:pt x="2636354" y="0"/>
                </a:lnTo>
                <a:cubicBezTo>
                  <a:pt x="2695985" y="0"/>
                  <a:pt x="2744325" y="48340"/>
                  <a:pt x="2744325" y="107971"/>
                </a:cubicBezTo>
                <a:lnTo>
                  <a:pt x="2744325" y="1700584"/>
                </a:lnTo>
                <a:cubicBezTo>
                  <a:pt x="2744325" y="1760215"/>
                  <a:pt x="2695985" y="1808555"/>
                  <a:pt x="2636354" y="1808555"/>
                </a:cubicBezTo>
                <a:lnTo>
                  <a:pt x="35991" y="1808555"/>
                </a:lnTo>
                <a:cubicBezTo>
                  <a:pt x="16114" y="1808555"/>
                  <a:pt x="0" y="1792441"/>
                  <a:pt x="0" y="1772564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982697" y="820259"/>
            <a:ext cx="26993" cy="1356416"/>
          </a:xfrm>
          <a:custGeom>
            <a:avLst/>
            <a:gdLst/>
            <a:ahLst/>
            <a:cxnLst/>
            <a:rect l="l" t="t" r="r" b="b"/>
            <a:pathLst>
              <a:path w="35991" h="1808555">
                <a:moveTo>
                  <a:pt x="35991" y="0"/>
                </a:moveTo>
                <a:lnTo>
                  <a:pt x="35991" y="0"/>
                </a:lnTo>
                <a:lnTo>
                  <a:pt x="35991" y="1808555"/>
                </a:lnTo>
                <a:lnTo>
                  <a:pt x="35991" y="1808555"/>
                </a:lnTo>
                <a:cubicBezTo>
                  <a:pt x="16114" y="1808555"/>
                  <a:pt x="0" y="1792441"/>
                  <a:pt x="0" y="1772564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75" name="Shape 73"/>
          <p:cNvSpPr/>
          <p:nvPr/>
        </p:nvSpPr>
        <p:spPr>
          <a:xfrm>
            <a:off x="6124412" y="928233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215947"/>
                </a:moveTo>
                <a:cubicBezTo>
                  <a:pt x="167566" y="215947"/>
                  <a:pt x="215947" y="167566"/>
                  <a:pt x="215947" y="107973"/>
                </a:cubicBezTo>
                <a:cubicBezTo>
                  <a:pt x="215947" y="48381"/>
                  <a:pt x="167566" y="0"/>
                  <a:pt x="107973" y="0"/>
                </a:cubicBezTo>
                <a:cubicBezTo>
                  <a:pt x="48381" y="0"/>
                  <a:pt x="0" y="48381"/>
                  <a:pt x="0" y="107973"/>
                </a:cubicBezTo>
                <a:cubicBezTo>
                  <a:pt x="0" y="167566"/>
                  <a:pt x="48381" y="215947"/>
                  <a:pt x="107973" y="215947"/>
                </a:cubicBezTo>
                <a:close/>
                <a:moveTo>
                  <a:pt x="70436" y="70436"/>
                </a:moveTo>
                <a:cubicBezTo>
                  <a:pt x="74400" y="66471"/>
                  <a:pt x="80811" y="66471"/>
                  <a:pt x="84734" y="70436"/>
                </a:cubicBezTo>
                <a:lnTo>
                  <a:pt x="107931" y="93633"/>
                </a:lnTo>
                <a:lnTo>
                  <a:pt x="131129" y="70436"/>
                </a:lnTo>
                <a:cubicBezTo>
                  <a:pt x="135093" y="66471"/>
                  <a:pt x="141504" y="66471"/>
                  <a:pt x="145427" y="70436"/>
                </a:cubicBezTo>
                <a:cubicBezTo>
                  <a:pt x="149349" y="74400"/>
                  <a:pt x="149391" y="80811"/>
                  <a:pt x="145427" y="84734"/>
                </a:cubicBezTo>
                <a:lnTo>
                  <a:pt x="122229" y="107931"/>
                </a:lnTo>
                <a:lnTo>
                  <a:pt x="145427" y="131129"/>
                </a:lnTo>
                <a:cubicBezTo>
                  <a:pt x="149391" y="135093"/>
                  <a:pt x="149391" y="141504"/>
                  <a:pt x="145427" y="145427"/>
                </a:cubicBezTo>
                <a:cubicBezTo>
                  <a:pt x="141462" y="149349"/>
                  <a:pt x="135051" y="149391"/>
                  <a:pt x="131129" y="145427"/>
                </a:cubicBezTo>
                <a:lnTo>
                  <a:pt x="107931" y="122229"/>
                </a:lnTo>
                <a:lnTo>
                  <a:pt x="84734" y="145427"/>
                </a:lnTo>
                <a:cubicBezTo>
                  <a:pt x="80769" y="149391"/>
                  <a:pt x="74358" y="149391"/>
                  <a:pt x="70436" y="145427"/>
                </a:cubicBezTo>
                <a:cubicBezTo>
                  <a:pt x="66513" y="141462"/>
                  <a:pt x="66471" y="135051"/>
                  <a:pt x="70436" y="131129"/>
                </a:cubicBezTo>
                <a:lnTo>
                  <a:pt x="93633" y="107931"/>
                </a:lnTo>
                <a:lnTo>
                  <a:pt x="70436" y="84734"/>
                </a:lnTo>
                <a:cubicBezTo>
                  <a:pt x="66471" y="80769"/>
                  <a:pt x="66471" y="74358"/>
                  <a:pt x="70436" y="70436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76" name="Shape 74"/>
          <p:cNvSpPr/>
          <p:nvPr/>
        </p:nvSpPr>
        <p:spPr>
          <a:xfrm>
            <a:off x="7470452" y="928233"/>
            <a:ext cx="940991" cy="178579"/>
          </a:xfrm>
          <a:custGeom>
            <a:avLst/>
            <a:gdLst/>
            <a:ahLst/>
            <a:cxnLst/>
            <a:rect l="l" t="t" r="r" b="b"/>
            <a:pathLst>
              <a:path w="611849" h="215947">
                <a:moveTo>
                  <a:pt x="35992" y="0"/>
                </a:moveTo>
                <a:lnTo>
                  <a:pt x="575858" y="0"/>
                </a:lnTo>
                <a:cubicBezTo>
                  <a:pt x="595722" y="0"/>
                  <a:pt x="611849" y="16127"/>
                  <a:pt x="611849" y="35992"/>
                </a:cubicBezTo>
                <a:lnTo>
                  <a:pt x="611849" y="179955"/>
                </a:lnTo>
                <a:cubicBezTo>
                  <a:pt x="611849" y="199819"/>
                  <a:pt x="595722" y="215947"/>
                  <a:pt x="575858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7470453" y="928232"/>
            <a:ext cx="788220" cy="178579"/>
          </a:xfrm>
          <a:prstGeom prst="rect">
            <a:avLst/>
          </a:prstGeom>
          <a:noFill/>
          <a:ln/>
        </p:spPr>
        <p:txBody>
          <a:bodyPr wrap="square" lIns="53987" tIns="26993" rIns="53987" bIns="26993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104167" y="1144180"/>
            <a:ext cx="1882787" cy="16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 Rework (ppm)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104167" y="1333133"/>
            <a:ext cx="1950270" cy="269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32,343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104167" y="1716438"/>
            <a:ext cx="1876039" cy="134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&lt;7,500 ppm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104167" y="1878398"/>
            <a:ext cx="1828800" cy="53987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83" name="Shape 81"/>
          <p:cNvSpPr/>
          <p:nvPr/>
        </p:nvSpPr>
        <p:spPr>
          <a:xfrm>
            <a:off x="6104167" y="1878398"/>
            <a:ext cx="2154506" cy="53987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84" name="Text 82"/>
          <p:cNvSpPr/>
          <p:nvPr/>
        </p:nvSpPr>
        <p:spPr>
          <a:xfrm>
            <a:off x="6104168" y="1959379"/>
            <a:ext cx="1869290" cy="107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5× OVER TARGET</a:t>
            </a:r>
            <a:endParaRPr lang="en-US" sz="1000" dirty="0"/>
          </a:p>
        </p:txBody>
      </p:sp>
      <p:sp>
        <p:nvSpPr>
          <p:cNvPr id="97" name="Shape 95">
            <a:hlinkClick r:id="rId7" action="ppaction://hlinksldjump"/>
          </p:cNvPr>
          <p:cNvSpPr/>
          <p:nvPr/>
        </p:nvSpPr>
        <p:spPr>
          <a:xfrm>
            <a:off x="2977382" y="2198816"/>
            <a:ext cx="2625515" cy="1356416"/>
          </a:xfrm>
          <a:custGeom>
            <a:avLst/>
            <a:gdLst/>
            <a:ahLst/>
            <a:cxnLst/>
            <a:rect l="l" t="t" r="r" b="b"/>
            <a:pathLst>
              <a:path w="2744325" h="1628599">
                <a:moveTo>
                  <a:pt x="35991" y="0"/>
                </a:moveTo>
                <a:lnTo>
                  <a:pt x="2636349" y="0"/>
                </a:lnTo>
                <a:cubicBezTo>
                  <a:pt x="2695982" y="0"/>
                  <a:pt x="2744325" y="48343"/>
                  <a:pt x="2744325" y="107976"/>
                </a:cubicBezTo>
                <a:lnTo>
                  <a:pt x="2744325" y="1520623"/>
                </a:lnTo>
                <a:cubicBezTo>
                  <a:pt x="2744325" y="1580257"/>
                  <a:pt x="2695982" y="1628599"/>
                  <a:pt x="2636349" y="1628599"/>
                </a:cubicBez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2977383" y="2198815"/>
            <a:ext cx="45719" cy="1339175"/>
          </a:xfrm>
          <a:custGeom>
            <a:avLst/>
            <a:gdLst/>
            <a:ahLst/>
            <a:cxnLst/>
            <a:rect l="l" t="t" r="r" b="b"/>
            <a:pathLst>
              <a:path w="35991" h="1628599">
                <a:moveTo>
                  <a:pt x="35991" y="0"/>
                </a:moveTo>
                <a:lnTo>
                  <a:pt x="35991" y="0"/>
                </a:lnTo>
                <a:lnTo>
                  <a:pt x="35991" y="1628599"/>
                </a:ln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8BB78"/>
          </a:solidFill>
          <a:ln/>
        </p:spPr>
      </p:sp>
      <p:sp>
        <p:nvSpPr>
          <p:cNvPr id="99" name="Shape 97"/>
          <p:cNvSpPr/>
          <p:nvPr/>
        </p:nvSpPr>
        <p:spPr>
          <a:xfrm>
            <a:off x="3119098" y="2306788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215947"/>
                </a:moveTo>
                <a:cubicBezTo>
                  <a:pt x="167566" y="215947"/>
                  <a:pt x="215947" y="167566"/>
                  <a:pt x="215947" y="107973"/>
                </a:cubicBezTo>
                <a:cubicBezTo>
                  <a:pt x="215947" y="48381"/>
                  <a:pt x="167566" y="0"/>
                  <a:pt x="107973" y="0"/>
                </a:cubicBezTo>
                <a:cubicBezTo>
                  <a:pt x="48381" y="0"/>
                  <a:pt x="0" y="48381"/>
                  <a:pt x="0" y="107973"/>
                </a:cubicBezTo>
                <a:cubicBezTo>
                  <a:pt x="0" y="167566"/>
                  <a:pt x="48381" y="215947"/>
                  <a:pt x="107973" y="215947"/>
                </a:cubicBezTo>
                <a:close/>
                <a:moveTo>
                  <a:pt x="143571" y="89711"/>
                </a:moveTo>
                <a:lnTo>
                  <a:pt x="109829" y="143697"/>
                </a:lnTo>
                <a:cubicBezTo>
                  <a:pt x="108058" y="146523"/>
                  <a:pt x="105021" y="148295"/>
                  <a:pt x="101689" y="148463"/>
                </a:cubicBezTo>
                <a:cubicBezTo>
                  <a:pt x="98357" y="148632"/>
                  <a:pt x="95152" y="147114"/>
                  <a:pt x="93169" y="144414"/>
                </a:cubicBezTo>
                <a:lnTo>
                  <a:pt x="72924" y="117421"/>
                </a:lnTo>
                <a:cubicBezTo>
                  <a:pt x="69550" y="112950"/>
                  <a:pt x="70478" y="106624"/>
                  <a:pt x="74949" y="103250"/>
                </a:cubicBezTo>
                <a:cubicBezTo>
                  <a:pt x="79420" y="99875"/>
                  <a:pt x="85746" y="100803"/>
                  <a:pt x="89120" y="105274"/>
                </a:cubicBezTo>
                <a:lnTo>
                  <a:pt x="100508" y="120458"/>
                </a:lnTo>
                <a:lnTo>
                  <a:pt x="126405" y="78998"/>
                </a:lnTo>
                <a:cubicBezTo>
                  <a:pt x="129357" y="74274"/>
                  <a:pt x="135599" y="72798"/>
                  <a:pt x="140365" y="75792"/>
                </a:cubicBezTo>
                <a:cubicBezTo>
                  <a:pt x="145131" y="78787"/>
                  <a:pt x="146565" y="84987"/>
                  <a:pt x="143571" y="89753"/>
                </a:cubicBezTo>
                <a:close/>
              </a:path>
            </a:pathLst>
          </a:custGeom>
          <a:solidFill>
            <a:srgbClr val="48BB78"/>
          </a:solidFill>
          <a:ln/>
        </p:spPr>
      </p:sp>
      <p:sp>
        <p:nvSpPr>
          <p:cNvPr id="100" name="Shape 98"/>
          <p:cNvSpPr/>
          <p:nvPr/>
        </p:nvSpPr>
        <p:spPr>
          <a:xfrm>
            <a:off x="4195976" y="2306788"/>
            <a:ext cx="1188434" cy="147973"/>
          </a:xfrm>
          <a:custGeom>
            <a:avLst/>
            <a:gdLst/>
            <a:ahLst/>
            <a:cxnLst/>
            <a:rect l="l" t="t" r="r" b="b"/>
            <a:pathLst>
              <a:path w="728821" h="215947">
                <a:moveTo>
                  <a:pt x="35992" y="0"/>
                </a:moveTo>
                <a:lnTo>
                  <a:pt x="692829" y="0"/>
                </a:lnTo>
                <a:cubicBezTo>
                  <a:pt x="712693" y="0"/>
                  <a:pt x="728821" y="16127"/>
                  <a:pt x="728821" y="35992"/>
                </a:cubicBezTo>
                <a:lnTo>
                  <a:pt x="728821" y="179955"/>
                </a:lnTo>
                <a:cubicBezTo>
                  <a:pt x="728821" y="199819"/>
                  <a:pt x="712693" y="215947"/>
                  <a:pt x="692829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48BB78">
              <a:alpha val="10196"/>
            </a:srgbClr>
          </a:solidFill>
          <a:ln/>
        </p:spPr>
      </p:sp>
      <p:sp>
        <p:nvSpPr>
          <p:cNvPr id="101" name="Text 99"/>
          <p:cNvSpPr/>
          <p:nvPr/>
        </p:nvSpPr>
        <p:spPr>
          <a:xfrm>
            <a:off x="4376736" y="2306789"/>
            <a:ext cx="852934" cy="116362"/>
          </a:xfrm>
          <a:prstGeom prst="rect">
            <a:avLst/>
          </a:prstGeom>
          <a:noFill/>
          <a:ln/>
        </p:spPr>
        <p:txBody>
          <a:bodyPr wrap="square" lIns="53987" tIns="26993" rIns="53987" bIns="26993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48BB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TARGET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3098852" y="2522734"/>
            <a:ext cx="2090621" cy="174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</a:rPr>
              <a:t>Average Output per person Production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3098852" y="2711689"/>
            <a:ext cx="1950270" cy="269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1A365D"/>
                </a:solidFill>
                <a:latin typeface="Quattrocento Sans" pitchFamily="34" charset="0"/>
              </a:rPr>
              <a:t>7626</a:t>
            </a:r>
          </a:p>
        </p:txBody>
      </p:sp>
      <p:sp>
        <p:nvSpPr>
          <p:cNvPr id="104" name="Shape 102"/>
          <p:cNvSpPr/>
          <p:nvPr/>
        </p:nvSpPr>
        <p:spPr>
          <a:xfrm>
            <a:off x="3098852" y="3038308"/>
            <a:ext cx="1828800" cy="53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05" name="Text 103"/>
          <p:cNvSpPr/>
          <p:nvPr/>
        </p:nvSpPr>
        <p:spPr>
          <a:xfrm>
            <a:off x="3098853" y="3094994"/>
            <a:ext cx="1876039" cy="134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&gt;5000 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3098852" y="3256954"/>
            <a:ext cx="1828800" cy="53987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07" name="Shape 105"/>
          <p:cNvSpPr/>
          <p:nvPr/>
        </p:nvSpPr>
        <p:spPr>
          <a:xfrm>
            <a:off x="3098853" y="3256954"/>
            <a:ext cx="418397" cy="53987"/>
          </a:xfrm>
          <a:custGeom>
            <a:avLst/>
            <a:gdLst/>
            <a:ahLst/>
            <a:cxnLst/>
            <a:rect l="l" t="t" r="r" b="b"/>
            <a:pathLst>
              <a:path w="557863" h="71982">
                <a:moveTo>
                  <a:pt x="35991" y="0"/>
                </a:moveTo>
                <a:lnTo>
                  <a:pt x="521872" y="0"/>
                </a:lnTo>
                <a:cubicBezTo>
                  <a:pt x="541749" y="0"/>
                  <a:pt x="557863" y="16114"/>
                  <a:pt x="557863" y="35991"/>
                </a:cubicBezTo>
                <a:lnTo>
                  <a:pt x="557863" y="35991"/>
                </a:lnTo>
                <a:cubicBezTo>
                  <a:pt x="557863" y="55869"/>
                  <a:pt x="541749" y="71982"/>
                  <a:pt x="521872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8BB78"/>
          </a:solidFill>
          <a:ln/>
        </p:spPr>
      </p:sp>
      <p:sp>
        <p:nvSpPr>
          <p:cNvPr id="108" name="Shape 106">
            <a:hlinkClick r:id="rId8" action="ppaction://hlinksldjump"/>
          </p:cNvPr>
          <p:cNvSpPr/>
          <p:nvPr/>
        </p:nvSpPr>
        <p:spPr>
          <a:xfrm>
            <a:off x="5971688" y="2248053"/>
            <a:ext cx="2556630" cy="1221449"/>
          </a:xfrm>
          <a:custGeom>
            <a:avLst/>
            <a:gdLst/>
            <a:ahLst/>
            <a:cxnLst/>
            <a:rect l="l" t="t" r="r" b="b"/>
            <a:pathLst>
              <a:path w="2744325" h="1628599">
                <a:moveTo>
                  <a:pt x="35991" y="0"/>
                </a:moveTo>
                <a:lnTo>
                  <a:pt x="2636349" y="0"/>
                </a:lnTo>
                <a:cubicBezTo>
                  <a:pt x="2695982" y="0"/>
                  <a:pt x="2744325" y="48343"/>
                  <a:pt x="2744325" y="107976"/>
                </a:cubicBezTo>
                <a:lnTo>
                  <a:pt x="2744325" y="1520623"/>
                </a:lnTo>
                <a:cubicBezTo>
                  <a:pt x="2744325" y="1580257"/>
                  <a:pt x="2695982" y="1628599"/>
                  <a:pt x="2636349" y="1628599"/>
                </a:cubicBez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5971688" y="2248053"/>
            <a:ext cx="26993" cy="1221449"/>
          </a:xfrm>
          <a:custGeom>
            <a:avLst/>
            <a:gdLst/>
            <a:ahLst/>
            <a:cxnLst/>
            <a:rect l="l" t="t" r="r" b="b"/>
            <a:pathLst>
              <a:path w="35991" h="1628599">
                <a:moveTo>
                  <a:pt x="35991" y="0"/>
                </a:moveTo>
                <a:lnTo>
                  <a:pt x="35991" y="0"/>
                </a:lnTo>
                <a:lnTo>
                  <a:pt x="35991" y="1628599"/>
                </a:lnTo>
                <a:lnTo>
                  <a:pt x="35991" y="1628599"/>
                </a:lnTo>
                <a:cubicBezTo>
                  <a:pt x="16114" y="1628599"/>
                  <a:pt x="0" y="1612485"/>
                  <a:pt x="0" y="1592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113403" y="2356026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3497" y="13497"/>
                </a:moveTo>
                <a:cubicBezTo>
                  <a:pt x="20962" y="13497"/>
                  <a:pt x="26993" y="19528"/>
                  <a:pt x="26993" y="26993"/>
                </a:cubicBezTo>
                <a:lnTo>
                  <a:pt x="26993" y="168708"/>
                </a:lnTo>
                <a:cubicBezTo>
                  <a:pt x="26993" y="172420"/>
                  <a:pt x="30030" y="175457"/>
                  <a:pt x="33742" y="175457"/>
                </a:cubicBezTo>
                <a:lnTo>
                  <a:pt x="202450" y="175457"/>
                </a:lnTo>
                <a:cubicBezTo>
                  <a:pt x="209916" y="175457"/>
                  <a:pt x="215947" y="181488"/>
                  <a:pt x="215947" y="188954"/>
                </a:cubicBezTo>
                <a:cubicBezTo>
                  <a:pt x="215947" y="196419"/>
                  <a:pt x="209916" y="202450"/>
                  <a:pt x="202450" y="202450"/>
                </a:cubicBezTo>
                <a:lnTo>
                  <a:pt x="33742" y="202450"/>
                </a:lnTo>
                <a:cubicBezTo>
                  <a:pt x="15099" y="202450"/>
                  <a:pt x="0" y="187351"/>
                  <a:pt x="0" y="168708"/>
                </a:cubicBezTo>
                <a:lnTo>
                  <a:pt x="0" y="26993"/>
                </a:lnTo>
                <a:cubicBezTo>
                  <a:pt x="0" y="19528"/>
                  <a:pt x="6031" y="13497"/>
                  <a:pt x="13497" y="13497"/>
                </a:cubicBezTo>
                <a:close/>
                <a:moveTo>
                  <a:pt x="53987" y="40490"/>
                </a:moveTo>
                <a:cubicBezTo>
                  <a:pt x="53987" y="33025"/>
                  <a:pt x="60018" y="26993"/>
                  <a:pt x="67483" y="26993"/>
                </a:cubicBezTo>
                <a:lnTo>
                  <a:pt x="148463" y="26993"/>
                </a:lnTo>
                <a:cubicBezTo>
                  <a:pt x="155929" y="26993"/>
                  <a:pt x="161960" y="33025"/>
                  <a:pt x="161960" y="40490"/>
                </a:cubicBezTo>
                <a:cubicBezTo>
                  <a:pt x="161960" y="47955"/>
                  <a:pt x="155929" y="53987"/>
                  <a:pt x="148463" y="53987"/>
                </a:cubicBezTo>
                <a:lnTo>
                  <a:pt x="67483" y="53987"/>
                </a:lnTo>
                <a:cubicBezTo>
                  <a:pt x="60018" y="53987"/>
                  <a:pt x="53987" y="47955"/>
                  <a:pt x="53987" y="40490"/>
                </a:cubicBezTo>
                <a:close/>
                <a:moveTo>
                  <a:pt x="67483" y="74232"/>
                </a:moveTo>
                <a:lnTo>
                  <a:pt x="121470" y="74232"/>
                </a:lnTo>
                <a:cubicBezTo>
                  <a:pt x="128935" y="74232"/>
                  <a:pt x="134967" y="80263"/>
                  <a:pt x="134967" y="87728"/>
                </a:cubicBezTo>
                <a:cubicBezTo>
                  <a:pt x="134967" y="95194"/>
                  <a:pt x="128935" y="101225"/>
                  <a:pt x="121470" y="101225"/>
                </a:cubicBezTo>
                <a:lnTo>
                  <a:pt x="67483" y="101225"/>
                </a:lnTo>
                <a:cubicBezTo>
                  <a:pt x="60018" y="101225"/>
                  <a:pt x="53987" y="95194"/>
                  <a:pt x="53987" y="87728"/>
                </a:cubicBezTo>
                <a:cubicBezTo>
                  <a:pt x="53987" y="80263"/>
                  <a:pt x="60018" y="74232"/>
                  <a:pt x="67483" y="74232"/>
                </a:cubicBezTo>
                <a:close/>
                <a:moveTo>
                  <a:pt x="67483" y="121470"/>
                </a:moveTo>
                <a:lnTo>
                  <a:pt x="175457" y="121470"/>
                </a:lnTo>
                <a:cubicBezTo>
                  <a:pt x="182922" y="121470"/>
                  <a:pt x="188954" y="127501"/>
                  <a:pt x="188954" y="134967"/>
                </a:cubicBezTo>
                <a:cubicBezTo>
                  <a:pt x="188954" y="142432"/>
                  <a:pt x="182922" y="148463"/>
                  <a:pt x="175457" y="148463"/>
                </a:cubicBezTo>
                <a:lnTo>
                  <a:pt x="67483" y="148463"/>
                </a:lnTo>
                <a:cubicBezTo>
                  <a:pt x="60018" y="148463"/>
                  <a:pt x="53987" y="142432"/>
                  <a:pt x="53987" y="134967"/>
                </a:cubicBezTo>
                <a:cubicBezTo>
                  <a:pt x="53987" y="127501"/>
                  <a:pt x="60018" y="121470"/>
                  <a:pt x="67483" y="12147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474680" y="2356026"/>
            <a:ext cx="963757" cy="140349"/>
          </a:xfrm>
          <a:custGeom>
            <a:avLst/>
            <a:gdLst/>
            <a:ahLst/>
            <a:cxnLst/>
            <a:rect l="l" t="t" r="r" b="b"/>
            <a:pathLst>
              <a:path w="953765" h="215947">
                <a:moveTo>
                  <a:pt x="35992" y="0"/>
                </a:moveTo>
                <a:lnTo>
                  <a:pt x="917773" y="0"/>
                </a:lnTo>
                <a:cubicBezTo>
                  <a:pt x="937638" y="0"/>
                  <a:pt x="953765" y="16127"/>
                  <a:pt x="953765" y="35992"/>
                </a:cubicBezTo>
                <a:lnTo>
                  <a:pt x="953765" y="179955"/>
                </a:lnTo>
                <a:cubicBezTo>
                  <a:pt x="953765" y="199819"/>
                  <a:pt x="937638" y="215947"/>
                  <a:pt x="917773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E53E3E">
              <a:alpha val="10196"/>
            </a:srgbClr>
          </a:solidFill>
          <a:ln/>
        </p:spPr>
      </p:sp>
      <p:sp>
        <p:nvSpPr>
          <p:cNvPr id="112" name="Text 110"/>
          <p:cNvSpPr/>
          <p:nvPr/>
        </p:nvSpPr>
        <p:spPr>
          <a:xfrm>
            <a:off x="7439512" y="2356026"/>
            <a:ext cx="1088806" cy="121031"/>
          </a:xfrm>
          <a:prstGeom prst="rect">
            <a:avLst/>
          </a:prstGeom>
          <a:noFill/>
          <a:ln/>
        </p:spPr>
        <p:txBody>
          <a:bodyPr wrap="square" lIns="53987" tIns="26993" rIns="53987" bIns="26993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BELOW TARGET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6093157" y="2571973"/>
            <a:ext cx="1882787" cy="16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OEE – IG Machines Avg.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6093157" y="2760927"/>
            <a:ext cx="1950270" cy="269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56.1%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6093157" y="3087546"/>
            <a:ext cx="1828800" cy="53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16" name="Text 114"/>
          <p:cNvSpPr/>
          <p:nvPr/>
        </p:nvSpPr>
        <p:spPr>
          <a:xfrm>
            <a:off x="6093158" y="3144232"/>
            <a:ext cx="1876039" cy="134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&gt;65%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6093157" y="3306192"/>
            <a:ext cx="2165516" cy="45719"/>
          </a:xfrm>
          <a:custGeom>
            <a:avLst/>
            <a:gdLst/>
            <a:ahLst/>
            <a:cxnLst/>
            <a:rect l="l" t="t" r="r" b="b"/>
            <a:pathLst>
              <a:path w="2438400" h="71982">
                <a:moveTo>
                  <a:pt x="35991" y="0"/>
                </a:moveTo>
                <a:lnTo>
                  <a:pt x="2402409" y="0"/>
                </a:lnTo>
                <a:cubicBezTo>
                  <a:pt x="2422286" y="0"/>
                  <a:pt x="2438400" y="16114"/>
                  <a:pt x="2438400" y="35991"/>
                </a:cubicBezTo>
                <a:lnTo>
                  <a:pt x="2438400" y="35991"/>
                </a:lnTo>
                <a:cubicBezTo>
                  <a:pt x="2438400" y="55869"/>
                  <a:pt x="2422286" y="71982"/>
                  <a:pt x="240240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18" name="Shape 116"/>
          <p:cNvSpPr/>
          <p:nvPr/>
        </p:nvSpPr>
        <p:spPr>
          <a:xfrm>
            <a:off x="6093157" y="3306192"/>
            <a:ext cx="1572363" cy="53987"/>
          </a:xfrm>
          <a:custGeom>
            <a:avLst/>
            <a:gdLst/>
            <a:ahLst/>
            <a:cxnLst/>
            <a:rect l="l" t="t" r="r" b="b"/>
            <a:pathLst>
              <a:path w="2096484" h="71982">
                <a:moveTo>
                  <a:pt x="35991" y="0"/>
                </a:moveTo>
                <a:lnTo>
                  <a:pt x="2060493" y="0"/>
                </a:lnTo>
                <a:cubicBezTo>
                  <a:pt x="2080370" y="0"/>
                  <a:pt x="2096484" y="16114"/>
                  <a:pt x="2096484" y="35991"/>
                </a:cubicBezTo>
                <a:lnTo>
                  <a:pt x="2096484" y="35991"/>
                </a:lnTo>
                <a:cubicBezTo>
                  <a:pt x="2096484" y="55869"/>
                  <a:pt x="2080370" y="71982"/>
                  <a:pt x="2060493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321031" y="3670859"/>
            <a:ext cx="4606621" cy="1221449"/>
          </a:xfrm>
          <a:custGeom>
            <a:avLst/>
            <a:gdLst/>
            <a:ahLst/>
            <a:cxnLst/>
            <a:rect l="l" t="t" r="r" b="b"/>
            <a:pathLst>
              <a:path w="5659607" h="1628599">
                <a:moveTo>
                  <a:pt x="107976" y="0"/>
                </a:moveTo>
                <a:lnTo>
                  <a:pt x="5551631" y="0"/>
                </a:lnTo>
                <a:cubicBezTo>
                  <a:pt x="5611265" y="0"/>
                  <a:pt x="5659607" y="48343"/>
                  <a:pt x="5659607" y="107976"/>
                </a:cubicBezTo>
                <a:lnTo>
                  <a:pt x="5659607" y="1520623"/>
                </a:lnTo>
                <a:cubicBezTo>
                  <a:pt x="5659607" y="1580257"/>
                  <a:pt x="5611265" y="1628599"/>
                  <a:pt x="5551631" y="1628599"/>
                </a:cubicBezTo>
                <a:lnTo>
                  <a:pt x="107976" y="1628599"/>
                </a:lnTo>
                <a:cubicBezTo>
                  <a:pt x="48343" y="1628599"/>
                  <a:pt x="0" y="1580257"/>
                  <a:pt x="0" y="1520623"/>
                </a:cubicBezTo>
                <a:lnTo>
                  <a:pt x="0" y="107976"/>
                </a:lnTo>
                <a:cubicBezTo>
                  <a:pt x="0" y="48343"/>
                  <a:pt x="48343" y="0"/>
                  <a:pt x="107976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65D"/>
              </a:gs>
              <a:gs pos="100000">
                <a:srgbClr val="2B6CB0"/>
              </a:gs>
            </a:gsLst>
            <a:lin ang="0" scaled="1"/>
          </a:gradFill>
          <a:ln/>
          <a:effectLst>
            <a:outerShdw blurRad="134967" dist="899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0" name="Shape 118"/>
          <p:cNvSpPr/>
          <p:nvPr/>
        </p:nvSpPr>
        <p:spPr>
          <a:xfrm>
            <a:off x="432377" y="4143397"/>
            <a:ext cx="182205" cy="242940"/>
          </a:xfrm>
          <a:custGeom>
            <a:avLst/>
            <a:gdLst/>
            <a:ahLst/>
            <a:cxnLst/>
            <a:rect l="l" t="t" r="r" b="b"/>
            <a:pathLst>
              <a:path w="242940" h="323920">
                <a:moveTo>
                  <a:pt x="185305" y="242940"/>
                </a:moveTo>
                <a:cubicBezTo>
                  <a:pt x="189924" y="228832"/>
                  <a:pt x="199160" y="216052"/>
                  <a:pt x="209599" y="205044"/>
                </a:cubicBezTo>
                <a:cubicBezTo>
                  <a:pt x="230287" y="183281"/>
                  <a:pt x="242940" y="153862"/>
                  <a:pt x="242940" y="121470"/>
                </a:cubicBezTo>
                <a:cubicBezTo>
                  <a:pt x="242940" y="54408"/>
                  <a:pt x="188532" y="0"/>
                  <a:pt x="121470" y="0"/>
                </a:cubicBezTo>
                <a:cubicBezTo>
                  <a:pt x="54408" y="0"/>
                  <a:pt x="0" y="54408"/>
                  <a:pt x="0" y="121470"/>
                </a:cubicBezTo>
                <a:cubicBezTo>
                  <a:pt x="0" y="153862"/>
                  <a:pt x="12653" y="183281"/>
                  <a:pt x="33341" y="205044"/>
                </a:cubicBezTo>
                <a:cubicBezTo>
                  <a:pt x="43780" y="216052"/>
                  <a:pt x="53080" y="228832"/>
                  <a:pt x="57635" y="242940"/>
                </a:cubicBezTo>
                <a:lnTo>
                  <a:pt x="185242" y="242940"/>
                </a:lnTo>
                <a:close/>
                <a:moveTo>
                  <a:pt x="182205" y="273308"/>
                </a:moveTo>
                <a:lnTo>
                  <a:pt x="60735" y="273308"/>
                </a:lnTo>
                <a:lnTo>
                  <a:pt x="60735" y="283430"/>
                </a:lnTo>
                <a:cubicBezTo>
                  <a:pt x="60735" y="311394"/>
                  <a:pt x="83384" y="334043"/>
                  <a:pt x="111348" y="334043"/>
                </a:cubicBezTo>
                <a:lnTo>
                  <a:pt x="131593" y="334043"/>
                </a:lnTo>
                <a:cubicBezTo>
                  <a:pt x="159556" y="334043"/>
                  <a:pt x="182205" y="311394"/>
                  <a:pt x="182205" y="283430"/>
                </a:cubicBezTo>
                <a:lnTo>
                  <a:pt x="182205" y="273308"/>
                </a:lnTo>
                <a:close/>
                <a:moveTo>
                  <a:pt x="116409" y="70858"/>
                </a:moveTo>
                <a:cubicBezTo>
                  <a:pt x="91229" y="70858"/>
                  <a:pt x="70858" y="91229"/>
                  <a:pt x="70858" y="116409"/>
                </a:cubicBezTo>
                <a:cubicBezTo>
                  <a:pt x="70858" y="124823"/>
                  <a:pt x="64088" y="131593"/>
                  <a:pt x="55674" y="131593"/>
                </a:cubicBezTo>
                <a:cubicBezTo>
                  <a:pt x="47259" y="131593"/>
                  <a:pt x="40490" y="124823"/>
                  <a:pt x="40490" y="116409"/>
                </a:cubicBezTo>
                <a:cubicBezTo>
                  <a:pt x="40490" y="74464"/>
                  <a:pt x="74464" y="40490"/>
                  <a:pt x="116409" y="40490"/>
                </a:cubicBezTo>
                <a:cubicBezTo>
                  <a:pt x="124823" y="40490"/>
                  <a:pt x="131593" y="47259"/>
                  <a:pt x="131593" y="55674"/>
                </a:cubicBezTo>
                <a:cubicBezTo>
                  <a:pt x="131593" y="64088"/>
                  <a:pt x="124823" y="70858"/>
                  <a:pt x="116409" y="70858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21" name="Text 119"/>
          <p:cNvSpPr/>
          <p:nvPr/>
        </p:nvSpPr>
        <p:spPr>
          <a:xfrm>
            <a:off x="723400" y="3994933"/>
            <a:ext cx="3799316" cy="18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5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22" name="Text 120"/>
          <p:cNvSpPr/>
          <p:nvPr/>
        </p:nvSpPr>
        <p:spPr>
          <a:xfrm>
            <a:off x="723400" y="4210879"/>
            <a:ext cx="3792567" cy="323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51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 section requires immediate attention with 14× rejection and 5× rework over targets. </a:t>
            </a:r>
            <a:endParaRPr lang="en-US" sz="1200" dirty="0"/>
          </a:p>
        </p:txBody>
      </p:sp>
      <p:sp>
        <p:nvSpPr>
          <p:cNvPr id="125" name="Shape 0">
            <a:extLst>
              <a:ext uri="{FF2B5EF4-FFF2-40B4-BE49-F238E27FC236}">
                <a16:creationId xmlns:a16="http://schemas.microsoft.com/office/drawing/2014/main" id="{EBD69626-F86B-6DBA-3C08-A664717289DA}"/>
              </a:ext>
            </a:extLst>
          </p:cNvPr>
          <p:cNvSpPr/>
          <p:nvPr/>
        </p:nvSpPr>
        <p:spPr>
          <a:xfrm>
            <a:off x="0" y="8014"/>
            <a:ext cx="91440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BF8552B-B92B-6B70-66C8-43667ADCBBB6}"/>
              </a:ext>
            </a:extLst>
          </p:cNvPr>
          <p:cNvSpPr txBox="1"/>
          <p:nvPr/>
        </p:nvSpPr>
        <p:spPr>
          <a:xfrm>
            <a:off x="242192" y="126789"/>
            <a:ext cx="66200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– February 2026</a:t>
            </a:r>
            <a:endParaRPr lang="en-US" sz="2200" dirty="0"/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DCFDE3E9-93D9-69E3-417D-40C17ED9AE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0" y="18885"/>
            <a:ext cx="1185735" cy="649439"/>
          </a:xfrm>
          <a:prstGeom prst="rect">
            <a:avLst/>
          </a:prstGeom>
        </p:spPr>
      </p:pic>
      <p:sp>
        <p:nvSpPr>
          <p:cNvPr id="2" name="Shape 1">
            <a:extLst>
              <a:ext uri="{FF2B5EF4-FFF2-40B4-BE49-F238E27FC236}">
                <a16:creationId xmlns:a16="http://schemas.microsoft.com/office/drawing/2014/main" id="{C4B22A83-939B-4579-085B-DADBD0F9CDE1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21">
            <a:extLst>
              <a:ext uri="{FF2B5EF4-FFF2-40B4-BE49-F238E27FC236}">
                <a16:creationId xmlns:a16="http://schemas.microsoft.com/office/drawing/2014/main" id="{ADF2E5B2-7A70-0F2E-CED3-61BE65C953A9}"/>
              </a:ext>
            </a:extLst>
          </p:cNvPr>
          <p:cNvSpPr/>
          <p:nvPr/>
        </p:nvSpPr>
        <p:spPr>
          <a:xfrm>
            <a:off x="6111452" y="1676357"/>
            <a:ext cx="1828800" cy="5399"/>
          </a:xfrm>
          <a:custGeom>
            <a:avLst/>
            <a:gdLst/>
            <a:ahLst/>
            <a:cxnLst/>
            <a:rect l="l" t="t" r="r" b="b"/>
            <a:pathLst>
              <a:path w="2438400" h="7198">
                <a:moveTo>
                  <a:pt x="0" y="0"/>
                </a:moveTo>
                <a:lnTo>
                  <a:pt x="2438400" y="0"/>
                </a:lnTo>
                <a:lnTo>
                  <a:pt x="2438400" y="7198"/>
                </a:lnTo>
                <a:lnTo>
                  <a:pt x="0" y="71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</p:cNvPr>
          <p:cNvSpPr/>
          <p:nvPr/>
        </p:nvSpPr>
        <p:spPr>
          <a:xfrm>
            <a:off x="0" y="-7034"/>
            <a:ext cx="91440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latin typeface="Calibri "/>
                <a:ea typeface="Liter" pitchFamily="34" charset="-122"/>
                <a:cs typeface="Liter" pitchFamily="34" charset="-120"/>
              </a:rPr>
              <a:t>Process</a:t>
            </a:r>
            <a:r>
              <a:rPr lang="en-US" sz="2400" b="1" dirty="0">
                <a:latin typeface="+mj-lt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latin typeface="Calibri "/>
                <a:ea typeface="Liter" pitchFamily="34" charset="-122"/>
                <a:cs typeface="Liter" pitchFamily="34" charset="-120"/>
              </a:rPr>
              <a:t>Capability</a:t>
            </a:r>
            <a:r>
              <a:rPr lang="en-US" sz="2400" b="1" dirty="0">
                <a:latin typeface="+mj-lt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ea typeface="Liter" pitchFamily="34" charset="-122"/>
                <a:cs typeface="Liter" pitchFamily="34" charset="-120"/>
              </a:rPr>
              <a:t>(</a:t>
            </a:r>
            <a:r>
              <a:rPr lang="en-US" sz="2400" b="1" dirty="0" err="1">
                <a:ea typeface="Liter" pitchFamily="34" charset="-122"/>
                <a:cs typeface="Liter" pitchFamily="34" charset="-120"/>
              </a:rPr>
              <a:t>Cpk</a:t>
            </a:r>
            <a:r>
              <a:rPr lang="en-US" sz="2400" b="1" dirty="0">
                <a:ea typeface="Liter" pitchFamily="34" charset="-122"/>
                <a:cs typeface="Liter" pitchFamily="34" charset="-120"/>
              </a:rPr>
              <a:t>)</a:t>
            </a:r>
            <a:endParaRPr lang="en-US" sz="2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E2D0CA-D09F-C8A1-D140-DDDA78F3A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1851"/>
            <a:ext cx="1185735" cy="649439"/>
          </a:xfrm>
          <a:prstGeom prst="rect">
            <a:avLst/>
          </a:prstGeom>
        </p:spPr>
      </p:pic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CABBE2AF-EDE6-7D84-754A-98C51BC0C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715514"/>
              </p:ext>
            </p:extLst>
          </p:nvPr>
        </p:nvGraphicFramePr>
        <p:xfrm>
          <a:off x="206478" y="950213"/>
          <a:ext cx="5759244" cy="3723845"/>
        </p:xfrm>
        <a:graphic>
          <a:graphicData uri="http://schemas.openxmlformats.org/drawingml/2006/table">
            <a:tbl>
              <a:tblPr/>
              <a:tblGrid>
                <a:gridCol w="453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6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6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6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66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66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6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66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668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66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845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74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Feb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Feb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Feb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Feb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Feb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Feb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Feb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Feb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Feb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Feb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Feb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Feb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Feb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5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1.59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9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</a:t>
                      </a:r>
                      <a:endParaRPr lang="en-US" sz="9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9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5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8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#DIV/0!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8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#DIV/0!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</a:t>
                      </a:r>
                      <a:endParaRPr lang="en-US" sz="9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9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2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1.075</a:t>
                      </a:r>
                      <a:endParaRPr lang="en-US" sz="9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2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8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1.327</a:t>
                      </a:r>
                      <a:endParaRPr lang="en-US" sz="9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Shape 2">
            <a:extLst>
              <a:ext uri="{FF2B5EF4-FFF2-40B4-BE49-F238E27FC236}">
                <a16:creationId xmlns:a16="http://schemas.microsoft.com/office/drawing/2014/main" id="{2F20DE1A-54CC-4C74-1DE4-40A7C0EA2BB9}"/>
              </a:ext>
            </a:extLst>
          </p:cNvPr>
          <p:cNvSpPr/>
          <p:nvPr/>
        </p:nvSpPr>
        <p:spPr>
          <a:xfrm>
            <a:off x="358983" y="4782903"/>
            <a:ext cx="201168" cy="201168"/>
          </a:xfrm>
          <a:prstGeom prst="rect">
            <a:avLst/>
          </a:prstGeom>
          <a:solidFill>
            <a:srgbClr val="00B05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1F829CE1-B895-0B8B-F893-DB61EE0E127E}"/>
              </a:ext>
            </a:extLst>
          </p:cNvPr>
          <p:cNvSpPr/>
          <p:nvPr/>
        </p:nvSpPr>
        <p:spPr>
          <a:xfrm>
            <a:off x="626815" y="4755471"/>
            <a:ext cx="884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Cpk ≥ 1.33 (Good)</a:t>
            </a:r>
            <a:endParaRPr lang="en-US" sz="90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BAF5E9A6-C796-6FE4-EACF-FF5E92568D27}"/>
              </a:ext>
            </a:extLst>
          </p:cNvPr>
          <p:cNvSpPr/>
          <p:nvPr/>
        </p:nvSpPr>
        <p:spPr>
          <a:xfrm>
            <a:off x="1623807" y="4782903"/>
            <a:ext cx="201168" cy="20116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BE348F47-C526-A8DF-D761-0AE00FEC3B6B}"/>
              </a:ext>
            </a:extLst>
          </p:cNvPr>
          <p:cNvSpPr/>
          <p:nvPr/>
        </p:nvSpPr>
        <p:spPr>
          <a:xfrm>
            <a:off x="1870695" y="4755471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1.00 ≤ Cpk &lt; 1.33 (Monitor)</a:t>
            </a:r>
            <a:endParaRPr lang="en-US" sz="9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9DF6A981-C76C-BB00-8037-B22EFC550F0F}"/>
              </a:ext>
            </a:extLst>
          </p:cNvPr>
          <p:cNvSpPr/>
          <p:nvPr/>
        </p:nvSpPr>
        <p:spPr>
          <a:xfrm>
            <a:off x="3242295" y="4755471"/>
            <a:ext cx="201168" cy="201168"/>
          </a:xfrm>
          <a:prstGeom prst="rect">
            <a:avLst/>
          </a:prstGeom>
          <a:solidFill>
            <a:srgbClr val="FF000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21A1F4AC-E694-5848-5B8B-E668DA44C27F}"/>
              </a:ext>
            </a:extLst>
          </p:cNvPr>
          <p:cNvSpPr/>
          <p:nvPr/>
        </p:nvSpPr>
        <p:spPr>
          <a:xfrm>
            <a:off x="3510127" y="4755471"/>
            <a:ext cx="130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Cpk &lt; 1.00 (Action Needed)</a:t>
            </a:r>
            <a:endParaRPr 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128510-7F44-0120-CBED-ADD31082881D}"/>
              </a:ext>
            </a:extLst>
          </p:cNvPr>
          <p:cNvSpPr txBox="1"/>
          <p:nvPr/>
        </p:nvSpPr>
        <p:spPr>
          <a:xfrm>
            <a:off x="6415548" y="1445342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/>
          </a:p>
          <a:p>
            <a:endParaRPr lang="en-IN" sz="1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DCAA720-087C-8ACA-2C84-749A3050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5" y="1436800"/>
            <a:ext cx="294322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Performer: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IG.01 at 1.56 shows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600" b="1" dirty="0">
                <a:latin typeface="Arial" panose="020B0604020202020204" pitchFamily="34" charset="0"/>
              </a:rPr>
              <a:t>Fleet Average:</a:t>
            </a:r>
            <a:r>
              <a:rPr lang="en-US" altLang="en-US" sz="1600" dirty="0">
                <a:latin typeface="Arial" panose="020B0604020202020204" pitchFamily="34" charset="0"/>
              </a:rPr>
              <a:t> 1.35 </a:t>
            </a:r>
            <a:r>
              <a:rPr lang="en-US" altLang="en-US" sz="1600" dirty="0" err="1">
                <a:latin typeface="Arial" panose="020B0604020202020204" pitchFamily="34" charset="0"/>
              </a:rPr>
              <a:t>Cpk</a:t>
            </a:r>
            <a:r>
              <a:rPr lang="en-US" altLang="en-US" sz="1600" dirty="0">
                <a:latin typeface="Arial" panose="020B0604020202020204" pitchFamily="34" charset="0"/>
              </a:rPr>
              <a:t> (Target: ≥ 1.67).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most stable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Danger Zone: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IG.12 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0.42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critically unstable and needs calibration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10B43D-2F1B-F707-9AA2-4D333594C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42CEE41F-FDFE-8379-A40F-FC44200E9AF7}"/>
              </a:ext>
            </a:extLst>
          </p:cNvPr>
          <p:cNvSpPr/>
          <p:nvPr/>
        </p:nvSpPr>
        <p:spPr>
          <a:xfrm>
            <a:off x="0" y="-7034"/>
            <a:ext cx="91440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B6BDDC-DB17-37C8-15B3-C25936EFD049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7AD862-25DE-9F5E-2518-1382FB08F6DE}"/>
              </a:ext>
            </a:extLst>
          </p:cNvPr>
          <p:cNvSpPr/>
          <p:nvPr/>
        </p:nvSpPr>
        <p:spPr>
          <a:xfrm>
            <a:off x="274320" y="5486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latin typeface="Calibri "/>
                <a:ea typeface="Liter" pitchFamily="34" charset="-122"/>
                <a:cs typeface="Liter" pitchFamily="34" charset="-120"/>
              </a:rPr>
              <a:t>Production Achievement</a:t>
            </a:r>
            <a:endParaRPr lang="en-US" sz="2400" b="1" dirty="0">
              <a:latin typeface="Calibri 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2E1922-F693-3271-C2AC-4D29A3466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1851"/>
            <a:ext cx="1185735" cy="649439"/>
          </a:xfrm>
          <a:prstGeom prst="rect">
            <a:avLst/>
          </a:prstGeom>
        </p:spPr>
      </p:pic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A7D9C391-421F-7AC8-4D71-40C52A5419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4002606"/>
              </p:ext>
            </p:extLst>
          </p:nvPr>
        </p:nvGraphicFramePr>
        <p:xfrm>
          <a:off x="27360" y="821784"/>
          <a:ext cx="6227967" cy="3954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>
            <a:extLst>
              <a:ext uri="{FF2B5EF4-FFF2-40B4-BE49-F238E27FC236}">
                <a16:creationId xmlns:a16="http://schemas.microsoft.com/office/drawing/2014/main" id="{0E16A9F8-CFBB-FBFB-4A27-98937748B538}"/>
              </a:ext>
            </a:extLst>
          </p:cNvPr>
          <p:cNvSpPr/>
          <p:nvPr/>
        </p:nvSpPr>
        <p:spPr>
          <a:xfrm>
            <a:off x="6412230" y="1009910"/>
            <a:ext cx="2468880" cy="3781572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A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8EFC62EF-C7CF-BA04-E329-3A2990282DB6}"/>
              </a:ext>
            </a:extLst>
          </p:cNvPr>
          <p:cNvSpPr/>
          <p:nvPr/>
        </p:nvSpPr>
        <p:spPr>
          <a:xfrm>
            <a:off x="6412230" y="994410"/>
            <a:ext cx="2468880" cy="356616"/>
          </a:xfrm>
          <a:prstGeom prst="rect">
            <a:avLst/>
          </a:prstGeom>
          <a:solidFill>
            <a:srgbClr val="2B5FA6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A9462D9-E797-4C89-066F-3DB546EDBB16}"/>
              </a:ext>
            </a:extLst>
          </p:cNvPr>
          <p:cNvSpPr/>
          <p:nvPr/>
        </p:nvSpPr>
        <p:spPr>
          <a:xfrm>
            <a:off x="6412230" y="994410"/>
            <a:ext cx="24688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Fleet Summary</a:t>
            </a:r>
            <a:endParaRPr lang="en-US" sz="975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FECEB8CC-D6EB-4C12-34CC-63B0AD9ED1C3}"/>
              </a:ext>
            </a:extLst>
          </p:cNvPr>
          <p:cNvSpPr/>
          <p:nvPr/>
        </p:nvSpPr>
        <p:spPr>
          <a:xfrm>
            <a:off x="6446520" y="1372362"/>
            <a:ext cx="2400300" cy="322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F4F7831A-6F9B-7114-E3B0-8D6443F4E7DE}"/>
              </a:ext>
            </a:extLst>
          </p:cNvPr>
          <p:cNvSpPr/>
          <p:nvPr/>
        </p:nvSpPr>
        <p:spPr>
          <a:xfrm>
            <a:off x="6480810" y="1405890"/>
            <a:ext cx="15773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Planned (Target)</a:t>
            </a:r>
            <a:endParaRPr lang="en-US" sz="10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C3DF1BE-87D4-660E-83E7-96793C9A8C0C}"/>
              </a:ext>
            </a:extLst>
          </p:cNvPr>
          <p:cNvSpPr/>
          <p:nvPr/>
        </p:nvSpPr>
        <p:spPr>
          <a:xfrm>
            <a:off x="8058150" y="1405890"/>
            <a:ext cx="7543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2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429,523</a:t>
            </a:r>
            <a:endParaRPr lang="en-US" sz="825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47442E10-AE04-C4D0-C85A-769619524218}"/>
              </a:ext>
            </a:extLst>
          </p:cNvPr>
          <p:cNvSpPr/>
          <p:nvPr/>
        </p:nvSpPr>
        <p:spPr>
          <a:xfrm>
            <a:off x="6446520" y="2057400"/>
            <a:ext cx="2400300" cy="322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0913758C-E4A5-26F0-12C9-57048A9BB35C}"/>
              </a:ext>
            </a:extLst>
          </p:cNvPr>
          <p:cNvSpPr/>
          <p:nvPr/>
        </p:nvSpPr>
        <p:spPr>
          <a:xfrm>
            <a:off x="6480810" y="2090122"/>
            <a:ext cx="15773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Rework</a:t>
            </a:r>
            <a:endParaRPr lang="en-US" sz="10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69B87925-7A9E-6900-4C5E-D2238253E1A8}"/>
              </a:ext>
            </a:extLst>
          </p:cNvPr>
          <p:cNvSpPr/>
          <p:nvPr/>
        </p:nvSpPr>
        <p:spPr>
          <a:xfrm>
            <a:off x="8058150" y="2089916"/>
            <a:ext cx="7543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2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9,455</a:t>
            </a:r>
            <a:endParaRPr lang="en-US" sz="825" dirty="0"/>
          </a:p>
        </p:txBody>
      </p:sp>
      <p:sp>
        <p:nvSpPr>
          <p:cNvPr id="22" name="Shape 18">
            <a:hlinkClick r:id="rId6" action="ppaction://hlinksldjump"/>
            <a:extLst>
              <a:ext uri="{FF2B5EF4-FFF2-40B4-BE49-F238E27FC236}">
                <a16:creationId xmlns:a16="http://schemas.microsoft.com/office/drawing/2014/main" id="{595F91CC-1961-2D6E-E394-CD736BFF99A6}"/>
              </a:ext>
            </a:extLst>
          </p:cNvPr>
          <p:cNvSpPr/>
          <p:nvPr/>
        </p:nvSpPr>
        <p:spPr>
          <a:xfrm>
            <a:off x="6446520" y="2729484"/>
            <a:ext cx="2400300" cy="322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8E46E9D-DA48-0048-30DD-9D48DD8DFA90}"/>
              </a:ext>
            </a:extLst>
          </p:cNvPr>
          <p:cNvSpPr/>
          <p:nvPr/>
        </p:nvSpPr>
        <p:spPr>
          <a:xfrm>
            <a:off x="6473883" y="2748245"/>
            <a:ext cx="15773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Qty</a:t>
            </a:r>
            <a:endParaRPr lang="en-US" sz="10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DB7BEED8-EDDA-5758-9DC6-50DC14572530}"/>
              </a:ext>
            </a:extLst>
          </p:cNvPr>
          <p:cNvSpPr/>
          <p:nvPr/>
        </p:nvSpPr>
        <p:spPr>
          <a:xfrm>
            <a:off x="8058150" y="2755073"/>
            <a:ext cx="7543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2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86,147</a:t>
            </a:r>
            <a:endParaRPr lang="en-US" sz="825" dirty="0"/>
          </a:p>
        </p:txBody>
      </p:sp>
      <p:sp>
        <p:nvSpPr>
          <p:cNvPr id="25" name="Shape 23">
            <a:hlinkClick r:id="rId6" action="ppaction://hlinksldjump"/>
            <a:extLst>
              <a:ext uri="{FF2B5EF4-FFF2-40B4-BE49-F238E27FC236}">
                <a16:creationId xmlns:a16="http://schemas.microsoft.com/office/drawing/2014/main" id="{10904C45-6693-D5D4-DB23-72ACC7CD8C45}"/>
              </a:ext>
            </a:extLst>
          </p:cNvPr>
          <p:cNvSpPr/>
          <p:nvPr/>
        </p:nvSpPr>
        <p:spPr>
          <a:xfrm>
            <a:off x="6446520" y="3401568"/>
            <a:ext cx="2400300" cy="322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FC4B0F3-AFD5-916D-C7B6-F12B5A30E6F9}"/>
              </a:ext>
            </a:extLst>
          </p:cNvPr>
          <p:cNvSpPr/>
          <p:nvPr/>
        </p:nvSpPr>
        <p:spPr>
          <a:xfrm>
            <a:off x="6480810" y="3752738"/>
            <a:ext cx="15773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</a:t>
            </a: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610321F-29A0-6810-AC9D-356C44CE2517}"/>
              </a:ext>
            </a:extLst>
          </p:cNvPr>
          <p:cNvSpPr/>
          <p:nvPr/>
        </p:nvSpPr>
        <p:spPr>
          <a:xfrm>
            <a:off x="8058150" y="3809003"/>
            <a:ext cx="7543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2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825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965F3266-9610-3E55-8FDD-A14043E5FAA6}"/>
              </a:ext>
            </a:extLst>
          </p:cNvPr>
          <p:cNvSpPr/>
          <p:nvPr/>
        </p:nvSpPr>
        <p:spPr>
          <a:xfrm>
            <a:off x="7983415" y="4152079"/>
            <a:ext cx="829115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lang="en-US" sz="825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58DFD9F8-2A55-B1B1-E011-20D349C2F387}"/>
              </a:ext>
            </a:extLst>
          </p:cNvPr>
          <p:cNvSpPr/>
          <p:nvPr/>
        </p:nvSpPr>
        <p:spPr>
          <a:xfrm>
            <a:off x="6446520" y="4098303"/>
            <a:ext cx="2400300" cy="322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C524F17C-1115-DC13-B43F-F5A58E20A5BD}"/>
              </a:ext>
            </a:extLst>
          </p:cNvPr>
          <p:cNvSpPr/>
          <p:nvPr/>
        </p:nvSpPr>
        <p:spPr>
          <a:xfrm>
            <a:off x="6492530" y="4079400"/>
            <a:ext cx="15773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Loss %</a:t>
            </a:r>
            <a:endParaRPr lang="en-US" sz="10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51345968-DCEA-4BAC-C6D1-931FB82A1C0D}"/>
              </a:ext>
            </a:extLst>
          </p:cNvPr>
          <p:cNvSpPr/>
          <p:nvPr/>
        </p:nvSpPr>
        <p:spPr>
          <a:xfrm>
            <a:off x="8093611" y="4086429"/>
            <a:ext cx="829115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25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(52750) </a:t>
            </a:r>
            <a:r>
              <a:rPr lang="en-US" sz="825" b="1" dirty="0">
                <a:solidFill>
                  <a:srgbClr val="E88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825" dirty="0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D59E86B2-D961-F609-072E-F571B1B764A3}"/>
              </a:ext>
            </a:extLst>
          </p:cNvPr>
          <p:cNvSpPr/>
          <p:nvPr/>
        </p:nvSpPr>
        <p:spPr>
          <a:xfrm>
            <a:off x="6457362" y="3414341"/>
            <a:ext cx="15773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Downtime (hrs)</a:t>
            </a:r>
            <a:endParaRPr lang="en-US" sz="100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5E1C6E33-BFC2-58A8-786E-60B58934C721}"/>
              </a:ext>
            </a:extLst>
          </p:cNvPr>
          <p:cNvSpPr/>
          <p:nvPr/>
        </p:nvSpPr>
        <p:spPr>
          <a:xfrm>
            <a:off x="7952934" y="3435449"/>
            <a:ext cx="899453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2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(1,766) </a:t>
            </a:r>
            <a:r>
              <a:rPr lang="en-US" sz="825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25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28E83E53-1938-A599-504C-3214EB8D9579}"/>
              </a:ext>
            </a:extLst>
          </p:cNvPr>
          <p:cNvSpPr/>
          <p:nvPr/>
        </p:nvSpPr>
        <p:spPr>
          <a:xfrm>
            <a:off x="6478783" y="2395687"/>
            <a:ext cx="15773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Rejection</a:t>
            </a:r>
            <a:endParaRPr lang="en-US" sz="1000" dirty="0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3D56DA42-D3B4-FA52-B4C5-92B57F408E29}"/>
              </a:ext>
            </a:extLst>
          </p:cNvPr>
          <p:cNvSpPr/>
          <p:nvPr/>
        </p:nvSpPr>
        <p:spPr>
          <a:xfrm>
            <a:off x="8048776" y="2402935"/>
            <a:ext cx="7543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2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5,440</a:t>
            </a:r>
            <a:endParaRPr lang="en-US" sz="825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80604125-C42B-EF9F-D222-08CFC748E38D}"/>
              </a:ext>
            </a:extLst>
          </p:cNvPr>
          <p:cNvSpPr/>
          <p:nvPr/>
        </p:nvSpPr>
        <p:spPr>
          <a:xfrm>
            <a:off x="6492530" y="1703833"/>
            <a:ext cx="15773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 of Good </a:t>
            </a:r>
            <a:endParaRPr lang="en-US" sz="10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C2604314-F5AE-87E2-3855-EA87493BA7D9}"/>
              </a:ext>
            </a:extLst>
          </p:cNvPr>
          <p:cNvSpPr/>
          <p:nvPr/>
        </p:nvSpPr>
        <p:spPr>
          <a:xfrm>
            <a:off x="8086869" y="1724058"/>
            <a:ext cx="7543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25" b="1" dirty="0">
                <a:latin typeface="Arial" pitchFamily="34" charset="0"/>
                <a:cs typeface="Arial" pitchFamily="34" charset="-120"/>
              </a:rPr>
              <a:t>283731</a:t>
            </a:r>
            <a:endParaRPr lang="en-US" sz="825" dirty="0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59BFD903-55AB-23F1-B2C9-03F9579EF1E0}"/>
              </a:ext>
            </a:extLst>
          </p:cNvPr>
          <p:cNvSpPr/>
          <p:nvPr/>
        </p:nvSpPr>
        <p:spPr>
          <a:xfrm>
            <a:off x="6496050" y="3092411"/>
            <a:ext cx="15773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 of Total</a:t>
            </a:r>
            <a:endParaRPr lang="en-US" sz="1000" dirty="0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9936F669-AA57-5317-01E6-0D0A1DF8216F}"/>
              </a:ext>
            </a:extLst>
          </p:cNvPr>
          <p:cNvSpPr/>
          <p:nvPr/>
        </p:nvSpPr>
        <p:spPr>
          <a:xfrm>
            <a:off x="8084820" y="3119430"/>
            <a:ext cx="7543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2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290,626</a:t>
            </a:r>
            <a:endParaRPr lang="en-US" sz="825" dirty="0"/>
          </a:p>
        </p:txBody>
      </p:sp>
    </p:spTree>
    <p:extLst>
      <p:ext uri="{BB962C8B-B14F-4D97-AF65-F5344CB8AC3E}">
        <p14:creationId xmlns:p14="http://schemas.microsoft.com/office/powerpoint/2010/main" val="1220690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5A715-4857-BA2C-1585-0984086A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BD270B90-A514-5C5B-3436-37C1A3B99A68}"/>
              </a:ext>
            </a:extLst>
          </p:cNvPr>
          <p:cNvSpPr/>
          <p:nvPr/>
        </p:nvSpPr>
        <p:spPr>
          <a:xfrm>
            <a:off x="0" y="-7034"/>
            <a:ext cx="91440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A1A4E2-695E-4EFF-E24E-BC73F5534D0F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A3FBE4-0DA1-8109-30DC-A202B685970C}"/>
              </a:ext>
            </a:extLst>
          </p:cNvPr>
          <p:cNvSpPr/>
          <p:nvPr/>
        </p:nvSpPr>
        <p:spPr>
          <a:xfrm>
            <a:off x="274320" y="5486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Calibri "/>
                <a:ea typeface="Liter" pitchFamily="34" charset="-122"/>
              </a:rPr>
              <a:t>IG Section – Downtime Analysis </a:t>
            </a:r>
            <a:endParaRPr lang="en-US" sz="2000" b="1" dirty="0">
              <a:latin typeface="Calibri 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D79B1E-82A3-B795-512E-D4C92EDBC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1851"/>
            <a:ext cx="1185735" cy="649439"/>
          </a:xfrm>
          <a:prstGeom prst="rect">
            <a:avLst/>
          </a:prstGeom>
        </p:spPr>
      </p:pic>
      <p:grpSp>
        <p:nvGrpSpPr>
          <p:cNvPr id="170" name="Group: Machine Cards">
            <a:extLst>
              <a:ext uri="{FF2B5EF4-FFF2-40B4-BE49-F238E27FC236}">
                <a16:creationId xmlns:a16="http://schemas.microsoft.com/office/drawing/2014/main" id="{597FD712-B0E9-EC9C-2170-D6EAAD962ED8}"/>
              </a:ext>
            </a:extLst>
          </p:cNvPr>
          <p:cNvGrpSpPr/>
          <p:nvPr/>
        </p:nvGrpSpPr>
        <p:grpSpPr>
          <a:xfrm>
            <a:off x="86584" y="860439"/>
            <a:ext cx="5293472" cy="3790177"/>
            <a:chOff x="201168" y="1078992"/>
            <a:chExt cx="11491245" cy="4224528"/>
          </a:xfrm>
        </p:grpSpPr>
        <p:sp>
          <p:nvSpPr>
            <p:cNvPr id="171" name="Shape 3">
              <a:extLst>
                <a:ext uri="{FF2B5EF4-FFF2-40B4-BE49-F238E27FC236}">
                  <a16:creationId xmlns:a16="http://schemas.microsoft.com/office/drawing/2014/main" id="{BF417763-D8AC-A996-E622-BD7A84F4E6E1}"/>
                </a:ext>
              </a:extLst>
            </p:cNvPr>
            <p:cNvSpPr/>
            <p:nvPr/>
          </p:nvSpPr>
          <p:spPr>
            <a:xfrm>
              <a:off x="201168" y="1078992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172" name="Text 4">
              <a:extLst>
                <a:ext uri="{FF2B5EF4-FFF2-40B4-BE49-F238E27FC236}">
                  <a16:creationId xmlns:a16="http://schemas.microsoft.com/office/drawing/2014/main" id="{7943BFAD-33C2-6629-057F-452928703FAE}"/>
                </a:ext>
              </a:extLst>
            </p:cNvPr>
            <p:cNvSpPr/>
            <p:nvPr/>
          </p:nvSpPr>
          <p:spPr>
            <a:xfrm>
              <a:off x="292608" y="1115568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IG.19</a:t>
              </a:r>
              <a:endParaRPr lang="en-US" sz="1000" dirty="0"/>
            </a:p>
          </p:txBody>
        </p:sp>
        <p:sp>
          <p:nvSpPr>
            <p:cNvPr id="173" name="Text 5">
              <a:extLst>
                <a:ext uri="{FF2B5EF4-FFF2-40B4-BE49-F238E27FC236}">
                  <a16:creationId xmlns:a16="http://schemas.microsoft.com/office/drawing/2014/main" id="{AC3E2674-11FA-F1E7-2EFF-886B6535F6FF}"/>
                </a:ext>
              </a:extLst>
            </p:cNvPr>
            <p:cNvSpPr/>
            <p:nvPr/>
          </p:nvSpPr>
          <p:spPr>
            <a:xfrm>
              <a:off x="1664208" y="1115568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FF6B35"/>
                  </a:solidFill>
                </a:rPr>
                <a:t>367 hrs</a:t>
              </a:r>
              <a:endParaRPr lang="en-US" sz="1000" dirty="0"/>
            </a:p>
          </p:txBody>
        </p:sp>
        <p:sp>
          <p:nvSpPr>
            <p:cNvPr id="174" name="Shape 6">
              <a:extLst>
                <a:ext uri="{FF2B5EF4-FFF2-40B4-BE49-F238E27FC236}">
                  <a16:creationId xmlns:a16="http://schemas.microsoft.com/office/drawing/2014/main" id="{7BE7E1DD-FD5F-0BAB-79BD-CF86EB160CD9}"/>
                </a:ext>
              </a:extLst>
            </p:cNvPr>
            <p:cNvSpPr/>
            <p:nvPr/>
          </p:nvSpPr>
          <p:spPr>
            <a:xfrm>
              <a:off x="292608" y="1426464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175" name="Text 7">
              <a:extLst>
                <a:ext uri="{FF2B5EF4-FFF2-40B4-BE49-F238E27FC236}">
                  <a16:creationId xmlns:a16="http://schemas.microsoft.com/office/drawing/2014/main" id="{F7BE6B08-38D6-37DC-A3CE-9B792166891F}"/>
                </a:ext>
              </a:extLst>
            </p:cNvPr>
            <p:cNvSpPr/>
            <p:nvPr/>
          </p:nvSpPr>
          <p:spPr>
            <a:xfrm>
              <a:off x="384048" y="1389888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 Operator</a:t>
              </a:r>
              <a:endParaRPr lang="en-US" sz="850" dirty="0"/>
            </a:p>
          </p:txBody>
        </p:sp>
        <p:sp>
          <p:nvSpPr>
            <p:cNvPr id="176" name="Text 8">
              <a:extLst>
                <a:ext uri="{FF2B5EF4-FFF2-40B4-BE49-F238E27FC236}">
                  <a16:creationId xmlns:a16="http://schemas.microsoft.com/office/drawing/2014/main" id="{05644578-9E29-93F0-3C87-C35D98F6F399}"/>
                </a:ext>
              </a:extLst>
            </p:cNvPr>
            <p:cNvSpPr/>
            <p:nvPr/>
          </p:nvSpPr>
          <p:spPr>
            <a:xfrm>
              <a:off x="2212848" y="1389888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191h</a:t>
              </a:r>
              <a:endParaRPr lang="en-US" sz="850" dirty="0"/>
            </a:p>
          </p:txBody>
        </p:sp>
        <p:sp>
          <p:nvSpPr>
            <p:cNvPr id="177" name="Shape 9">
              <a:extLst>
                <a:ext uri="{FF2B5EF4-FFF2-40B4-BE49-F238E27FC236}">
                  <a16:creationId xmlns:a16="http://schemas.microsoft.com/office/drawing/2014/main" id="{00FEF227-377A-5947-DD53-A238EEFA3D7B}"/>
                </a:ext>
              </a:extLst>
            </p:cNvPr>
            <p:cNvSpPr/>
            <p:nvPr/>
          </p:nvSpPr>
          <p:spPr>
            <a:xfrm>
              <a:off x="292608" y="1719072"/>
              <a:ext cx="54864" cy="164592"/>
            </a:xfrm>
            <a:prstGeom prst="rect">
              <a:avLst/>
            </a:prstGeom>
            <a:solidFill>
              <a:srgbClr val="7B2FBE"/>
            </a:solidFill>
            <a:ln w="12700">
              <a:solidFill>
                <a:srgbClr val="7B2FBE"/>
              </a:solidFill>
              <a:prstDash val="solid"/>
            </a:ln>
          </p:spPr>
        </p:sp>
        <p:sp>
          <p:nvSpPr>
            <p:cNvPr id="178" name="Text 10">
              <a:extLst>
                <a:ext uri="{FF2B5EF4-FFF2-40B4-BE49-F238E27FC236}">
                  <a16:creationId xmlns:a16="http://schemas.microsoft.com/office/drawing/2014/main" id="{F2B0358A-D61F-0F89-838A-C8F5130F8C6C}"/>
                </a:ext>
              </a:extLst>
            </p:cNvPr>
            <p:cNvSpPr/>
            <p:nvPr/>
          </p:nvSpPr>
          <p:spPr>
            <a:xfrm>
              <a:off x="384048" y="168249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Not In Plan</a:t>
              </a:r>
              <a:endParaRPr lang="en-US" sz="850" dirty="0"/>
            </a:p>
          </p:txBody>
        </p:sp>
        <p:sp>
          <p:nvSpPr>
            <p:cNvPr id="179" name="Text 11">
              <a:extLst>
                <a:ext uri="{FF2B5EF4-FFF2-40B4-BE49-F238E27FC236}">
                  <a16:creationId xmlns:a16="http://schemas.microsoft.com/office/drawing/2014/main" id="{1C59DF7B-1C13-EC91-DBB8-0796F880599C}"/>
                </a:ext>
              </a:extLst>
            </p:cNvPr>
            <p:cNvSpPr/>
            <p:nvPr/>
          </p:nvSpPr>
          <p:spPr>
            <a:xfrm>
              <a:off x="2212848" y="168249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96h</a:t>
              </a:r>
              <a:endParaRPr lang="en-US" sz="850" dirty="0"/>
            </a:p>
          </p:txBody>
        </p:sp>
        <p:sp>
          <p:nvSpPr>
            <p:cNvPr id="180" name="Shape 12">
              <a:extLst>
                <a:ext uri="{FF2B5EF4-FFF2-40B4-BE49-F238E27FC236}">
                  <a16:creationId xmlns:a16="http://schemas.microsoft.com/office/drawing/2014/main" id="{47537A82-5A39-1DEC-7F07-D05865CC73ED}"/>
                </a:ext>
              </a:extLst>
            </p:cNvPr>
            <p:cNvSpPr/>
            <p:nvPr/>
          </p:nvSpPr>
          <p:spPr>
            <a:xfrm>
              <a:off x="201168" y="2157984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181" name="Shape 13">
              <a:extLst>
                <a:ext uri="{FF2B5EF4-FFF2-40B4-BE49-F238E27FC236}">
                  <a16:creationId xmlns:a16="http://schemas.microsoft.com/office/drawing/2014/main" id="{A037EE6B-F57F-E895-2C53-C2E6BF0C7ABA}"/>
                </a:ext>
              </a:extLst>
            </p:cNvPr>
            <p:cNvSpPr/>
            <p:nvPr/>
          </p:nvSpPr>
          <p:spPr>
            <a:xfrm>
              <a:off x="201168" y="2157984"/>
              <a:ext cx="1548994" cy="45720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182" name="Text 14">
              <a:extLst>
                <a:ext uri="{FF2B5EF4-FFF2-40B4-BE49-F238E27FC236}">
                  <a16:creationId xmlns:a16="http://schemas.microsoft.com/office/drawing/2014/main" id="{D7E28C09-D78A-CD90-2DB4-E6A242F6F019}"/>
                </a:ext>
              </a:extLst>
            </p:cNvPr>
            <p:cNvSpPr/>
            <p:nvPr/>
          </p:nvSpPr>
          <p:spPr>
            <a:xfrm>
              <a:off x="274320" y="2176272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i="1" dirty="0">
                  <a:solidFill>
                    <a:srgbClr val="8AABB8"/>
                  </a:solidFill>
                </a:rPr>
                <a:t>Top: 52% from "No Operator"</a:t>
              </a:r>
              <a:endParaRPr lang="en-US" sz="700" dirty="0"/>
            </a:p>
          </p:txBody>
        </p:sp>
        <p:sp>
          <p:nvSpPr>
            <p:cNvPr id="183" name="Shape 15">
              <a:extLst>
                <a:ext uri="{FF2B5EF4-FFF2-40B4-BE49-F238E27FC236}">
                  <a16:creationId xmlns:a16="http://schemas.microsoft.com/office/drawing/2014/main" id="{2B2FE319-44CA-309E-D650-D4A0A0B2F00F}"/>
                </a:ext>
              </a:extLst>
            </p:cNvPr>
            <p:cNvSpPr/>
            <p:nvPr/>
          </p:nvSpPr>
          <p:spPr>
            <a:xfrm>
              <a:off x="3081528" y="1078992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184" name="Text 16">
              <a:extLst>
                <a:ext uri="{FF2B5EF4-FFF2-40B4-BE49-F238E27FC236}">
                  <a16:creationId xmlns:a16="http://schemas.microsoft.com/office/drawing/2014/main" id="{17A9F1A6-ED5A-3681-2BD6-1104B5C24CB1}"/>
                </a:ext>
              </a:extLst>
            </p:cNvPr>
            <p:cNvSpPr/>
            <p:nvPr/>
          </p:nvSpPr>
          <p:spPr>
            <a:xfrm>
              <a:off x="3172968" y="1115568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IG.17</a:t>
              </a:r>
              <a:endParaRPr lang="en-US" sz="1000" dirty="0"/>
            </a:p>
          </p:txBody>
        </p:sp>
        <p:sp>
          <p:nvSpPr>
            <p:cNvPr id="185" name="Text 17">
              <a:extLst>
                <a:ext uri="{FF2B5EF4-FFF2-40B4-BE49-F238E27FC236}">
                  <a16:creationId xmlns:a16="http://schemas.microsoft.com/office/drawing/2014/main" id="{D4F548F7-1FE3-8B32-FC02-45A89B536D4A}"/>
                </a:ext>
              </a:extLst>
            </p:cNvPr>
            <p:cNvSpPr/>
            <p:nvPr/>
          </p:nvSpPr>
          <p:spPr>
            <a:xfrm>
              <a:off x="4544568" y="1115568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FF6B35"/>
                  </a:solidFill>
                </a:rPr>
                <a:t>332 hrs</a:t>
              </a:r>
              <a:endParaRPr lang="en-US" sz="1000" dirty="0"/>
            </a:p>
          </p:txBody>
        </p:sp>
        <p:sp>
          <p:nvSpPr>
            <p:cNvPr id="186" name="Shape 18">
              <a:extLst>
                <a:ext uri="{FF2B5EF4-FFF2-40B4-BE49-F238E27FC236}">
                  <a16:creationId xmlns:a16="http://schemas.microsoft.com/office/drawing/2014/main" id="{1393C6BC-5371-BB7E-5507-23DE20D101EF}"/>
                </a:ext>
              </a:extLst>
            </p:cNvPr>
            <p:cNvSpPr/>
            <p:nvPr/>
          </p:nvSpPr>
          <p:spPr>
            <a:xfrm>
              <a:off x="3172968" y="1426464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187" name="Text 19">
              <a:extLst>
                <a:ext uri="{FF2B5EF4-FFF2-40B4-BE49-F238E27FC236}">
                  <a16:creationId xmlns:a16="http://schemas.microsoft.com/office/drawing/2014/main" id="{DEDA19AC-BED5-3AF0-41FB-0308D7AABDD6}"/>
                </a:ext>
              </a:extLst>
            </p:cNvPr>
            <p:cNvSpPr/>
            <p:nvPr/>
          </p:nvSpPr>
          <p:spPr>
            <a:xfrm>
              <a:off x="3264408" y="1389888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 Operator</a:t>
              </a:r>
              <a:endParaRPr lang="en-US" sz="850" dirty="0"/>
            </a:p>
          </p:txBody>
        </p:sp>
        <p:sp>
          <p:nvSpPr>
            <p:cNvPr id="188" name="Text 20">
              <a:extLst>
                <a:ext uri="{FF2B5EF4-FFF2-40B4-BE49-F238E27FC236}">
                  <a16:creationId xmlns:a16="http://schemas.microsoft.com/office/drawing/2014/main" id="{34AD1F28-7105-B1CD-F4E4-A3CECB0ED4A7}"/>
                </a:ext>
              </a:extLst>
            </p:cNvPr>
            <p:cNvSpPr/>
            <p:nvPr/>
          </p:nvSpPr>
          <p:spPr>
            <a:xfrm>
              <a:off x="5093208" y="1389888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179h</a:t>
              </a:r>
              <a:endParaRPr lang="en-US" sz="850" dirty="0"/>
            </a:p>
          </p:txBody>
        </p:sp>
        <p:sp>
          <p:nvSpPr>
            <p:cNvPr id="189" name="Shape 21">
              <a:extLst>
                <a:ext uri="{FF2B5EF4-FFF2-40B4-BE49-F238E27FC236}">
                  <a16:creationId xmlns:a16="http://schemas.microsoft.com/office/drawing/2014/main" id="{C9D07D4B-10CC-F2CE-C342-454591C5752E}"/>
                </a:ext>
              </a:extLst>
            </p:cNvPr>
            <p:cNvSpPr/>
            <p:nvPr/>
          </p:nvSpPr>
          <p:spPr>
            <a:xfrm>
              <a:off x="3172968" y="1719072"/>
              <a:ext cx="54864" cy="164592"/>
            </a:xfrm>
            <a:prstGeom prst="rect">
              <a:avLst/>
            </a:prstGeom>
            <a:solidFill>
              <a:srgbClr val="888888"/>
            </a:solidFill>
            <a:ln w="12700">
              <a:solidFill>
                <a:srgbClr val="888888"/>
              </a:solidFill>
              <a:prstDash val="solid"/>
            </a:ln>
          </p:spPr>
        </p:sp>
        <p:sp>
          <p:nvSpPr>
            <p:cNvPr id="190" name="Text 22">
              <a:extLst>
                <a:ext uri="{FF2B5EF4-FFF2-40B4-BE49-F238E27FC236}">
                  <a16:creationId xmlns:a16="http://schemas.microsoft.com/office/drawing/2014/main" id="{85FB4692-9FFE-00E6-C955-02484DA953D4}"/>
                </a:ext>
              </a:extLst>
            </p:cNvPr>
            <p:cNvSpPr/>
            <p:nvPr/>
          </p:nvSpPr>
          <p:spPr>
            <a:xfrm>
              <a:off x="3264408" y="168249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Mech Maint</a:t>
              </a:r>
              <a:endParaRPr lang="en-US" sz="850" dirty="0"/>
            </a:p>
          </p:txBody>
        </p:sp>
        <p:sp>
          <p:nvSpPr>
            <p:cNvPr id="191" name="Text 23">
              <a:extLst>
                <a:ext uri="{FF2B5EF4-FFF2-40B4-BE49-F238E27FC236}">
                  <a16:creationId xmlns:a16="http://schemas.microsoft.com/office/drawing/2014/main" id="{98ABD00B-09F1-E696-2707-532FD4EAA442}"/>
                </a:ext>
              </a:extLst>
            </p:cNvPr>
            <p:cNvSpPr/>
            <p:nvPr/>
          </p:nvSpPr>
          <p:spPr>
            <a:xfrm>
              <a:off x="5093208" y="168249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56h</a:t>
              </a:r>
              <a:endParaRPr lang="en-US" sz="850" dirty="0"/>
            </a:p>
          </p:txBody>
        </p:sp>
        <p:sp>
          <p:nvSpPr>
            <p:cNvPr id="192" name="Shape 24">
              <a:extLst>
                <a:ext uri="{FF2B5EF4-FFF2-40B4-BE49-F238E27FC236}">
                  <a16:creationId xmlns:a16="http://schemas.microsoft.com/office/drawing/2014/main" id="{81B6E8B3-9CE2-AA4B-564F-6785045F2A89}"/>
                </a:ext>
              </a:extLst>
            </p:cNvPr>
            <p:cNvSpPr/>
            <p:nvPr/>
          </p:nvSpPr>
          <p:spPr>
            <a:xfrm>
              <a:off x="3081528" y="2157984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193" name="Shape 25">
              <a:extLst>
                <a:ext uri="{FF2B5EF4-FFF2-40B4-BE49-F238E27FC236}">
                  <a16:creationId xmlns:a16="http://schemas.microsoft.com/office/drawing/2014/main" id="{0001EAB2-40C9-260A-9CF9-7DED586E218A}"/>
                </a:ext>
              </a:extLst>
            </p:cNvPr>
            <p:cNvSpPr/>
            <p:nvPr/>
          </p:nvSpPr>
          <p:spPr>
            <a:xfrm>
              <a:off x="3081528" y="2157984"/>
              <a:ext cx="1548994" cy="45720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194" name="Text 26">
              <a:extLst>
                <a:ext uri="{FF2B5EF4-FFF2-40B4-BE49-F238E27FC236}">
                  <a16:creationId xmlns:a16="http://schemas.microsoft.com/office/drawing/2014/main" id="{8174A50A-A1AE-7C6B-2BF6-4E15330E9BAC}"/>
                </a:ext>
              </a:extLst>
            </p:cNvPr>
            <p:cNvSpPr/>
            <p:nvPr/>
          </p:nvSpPr>
          <p:spPr>
            <a:xfrm>
              <a:off x="3154680" y="2176272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i="1" dirty="0">
                  <a:solidFill>
                    <a:srgbClr val="8AABB8"/>
                  </a:solidFill>
                </a:rPr>
                <a:t>Top: 54% from "No Operator"</a:t>
              </a:r>
              <a:endParaRPr lang="en-US" sz="700" dirty="0"/>
            </a:p>
          </p:txBody>
        </p:sp>
        <p:sp>
          <p:nvSpPr>
            <p:cNvPr id="195" name="Shape 27">
              <a:extLst>
                <a:ext uri="{FF2B5EF4-FFF2-40B4-BE49-F238E27FC236}">
                  <a16:creationId xmlns:a16="http://schemas.microsoft.com/office/drawing/2014/main" id="{3AA60429-16E7-2751-7B47-13AFA59F421F}"/>
                </a:ext>
              </a:extLst>
            </p:cNvPr>
            <p:cNvSpPr/>
            <p:nvPr/>
          </p:nvSpPr>
          <p:spPr>
            <a:xfrm>
              <a:off x="5961888" y="1078992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196" name="Text 28">
              <a:extLst>
                <a:ext uri="{FF2B5EF4-FFF2-40B4-BE49-F238E27FC236}">
                  <a16:creationId xmlns:a16="http://schemas.microsoft.com/office/drawing/2014/main" id="{E49EE12A-E3CB-2094-6785-69E9929EB903}"/>
                </a:ext>
              </a:extLst>
            </p:cNvPr>
            <p:cNvSpPr/>
            <p:nvPr/>
          </p:nvSpPr>
          <p:spPr>
            <a:xfrm>
              <a:off x="6053328" y="1115568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IG.20</a:t>
              </a:r>
              <a:endParaRPr lang="en-US" sz="1000" dirty="0"/>
            </a:p>
          </p:txBody>
        </p:sp>
        <p:sp>
          <p:nvSpPr>
            <p:cNvPr id="197" name="Text 29">
              <a:extLst>
                <a:ext uri="{FF2B5EF4-FFF2-40B4-BE49-F238E27FC236}">
                  <a16:creationId xmlns:a16="http://schemas.microsoft.com/office/drawing/2014/main" id="{2BA8D19C-45EF-7620-C7E5-34FC656CF870}"/>
                </a:ext>
              </a:extLst>
            </p:cNvPr>
            <p:cNvSpPr/>
            <p:nvPr/>
          </p:nvSpPr>
          <p:spPr>
            <a:xfrm>
              <a:off x="7424928" y="1115568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FF6B35"/>
                  </a:solidFill>
                </a:rPr>
                <a:t>302 hrs</a:t>
              </a:r>
              <a:endParaRPr lang="en-US" sz="1000" dirty="0"/>
            </a:p>
          </p:txBody>
        </p:sp>
        <p:sp>
          <p:nvSpPr>
            <p:cNvPr id="198" name="Shape 30">
              <a:extLst>
                <a:ext uri="{FF2B5EF4-FFF2-40B4-BE49-F238E27FC236}">
                  <a16:creationId xmlns:a16="http://schemas.microsoft.com/office/drawing/2014/main" id="{234DFCCE-0620-1824-BD08-944820021A8B}"/>
                </a:ext>
              </a:extLst>
            </p:cNvPr>
            <p:cNvSpPr/>
            <p:nvPr/>
          </p:nvSpPr>
          <p:spPr>
            <a:xfrm>
              <a:off x="6053328" y="1426464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199" name="Text 31">
              <a:extLst>
                <a:ext uri="{FF2B5EF4-FFF2-40B4-BE49-F238E27FC236}">
                  <a16:creationId xmlns:a16="http://schemas.microsoft.com/office/drawing/2014/main" id="{3EA0DA5A-7940-F91F-4292-519A40B70CDD}"/>
                </a:ext>
              </a:extLst>
            </p:cNvPr>
            <p:cNvSpPr/>
            <p:nvPr/>
          </p:nvSpPr>
          <p:spPr>
            <a:xfrm>
              <a:off x="6144768" y="1389888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 Operator</a:t>
              </a:r>
              <a:endParaRPr lang="en-US" sz="850" dirty="0"/>
            </a:p>
          </p:txBody>
        </p:sp>
        <p:sp>
          <p:nvSpPr>
            <p:cNvPr id="200" name="Text 32">
              <a:extLst>
                <a:ext uri="{FF2B5EF4-FFF2-40B4-BE49-F238E27FC236}">
                  <a16:creationId xmlns:a16="http://schemas.microsoft.com/office/drawing/2014/main" id="{37E71DCC-3D9A-8A8A-6E77-3AFDC55F8F58}"/>
                </a:ext>
              </a:extLst>
            </p:cNvPr>
            <p:cNvSpPr/>
            <p:nvPr/>
          </p:nvSpPr>
          <p:spPr>
            <a:xfrm>
              <a:off x="7973568" y="1389888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180h</a:t>
              </a:r>
              <a:endParaRPr lang="en-US" sz="850" dirty="0"/>
            </a:p>
          </p:txBody>
        </p:sp>
        <p:sp>
          <p:nvSpPr>
            <p:cNvPr id="201" name="Shape 33">
              <a:extLst>
                <a:ext uri="{FF2B5EF4-FFF2-40B4-BE49-F238E27FC236}">
                  <a16:creationId xmlns:a16="http://schemas.microsoft.com/office/drawing/2014/main" id="{5113115E-6BFE-FF7C-A7BF-9DA12F789D98}"/>
                </a:ext>
              </a:extLst>
            </p:cNvPr>
            <p:cNvSpPr/>
            <p:nvPr/>
          </p:nvSpPr>
          <p:spPr>
            <a:xfrm>
              <a:off x="6053328" y="1719072"/>
              <a:ext cx="54864" cy="164592"/>
            </a:xfrm>
            <a:prstGeom prst="rect">
              <a:avLst/>
            </a:prstGeom>
            <a:solidFill>
              <a:srgbClr val="7B2FBE"/>
            </a:solidFill>
            <a:ln w="12700">
              <a:solidFill>
                <a:srgbClr val="7B2FBE"/>
              </a:solidFill>
              <a:prstDash val="solid"/>
            </a:ln>
          </p:spPr>
        </p:sp>
        <p:sp>
          <p:nvSpPr>
            <p:cNvPr id="202" name="Text 34">
              <a:extLst>
                <a:ext uri="{FF2B5EF4-FFF2-40B4-BE49-F238E27FC236}">
                  <a16:creationId xmlns:a16="http://schemas.microsoft.com/office/drawing/2014/main" id="{4C0C1E13-3391-DA9A-8AF3-05A4F82D6BEA}"/>
                </a:ext>
              </a:extLst>
            </p:cNvPr>
            <p:cNvSpPr/>
            <p:nvPr/>
          </p:nvSpPr>
          <p:spPr>
            <a:xfrm>
              <a:off x="6144768" y="168249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Not In Plan</a:t>
              </a:r>
              <a:endParaRPr lang="en-US" sz="850" dirty="0"/>
            </a:p>
          </p:txBody>
        </p:sp>
        <p:sp>
          <p:nvSpPr>
            <p:cNvPr id="203" name="Text 35">
              <a:extLst>
                <a:ext uri="{FF2B5EF4-FFF2-40B4-BE49-F238E27FC236}">
                  <a16:creationId xmlns:a16="http://schemas.microsoft.com/office/drawing/2014/main" id="{D3EFB0E5-D105-35BA-F2B9-E53686F89610}"/>
                </a:ext>
              </a:extLst>
            </p:cNvPr>
            <p:cNvSpPr/>
            <p:nvPr/>
          </p:nvSpPr>
          <p:spPr>
            <a:xfrm>
              <a:off x="7973568" y="168249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72h</a:t>
              </a:r>
              <a:endParaRPr lang="en-US" sz="850" dirty="0"/>
            </a:p>
          </p:txBody>
        </p:sp>
        <p:sp>
          <p:nvSpPr>
            <p:cNvPr id="204" name="Shape 36">
              <a:extLst>
                <a:ext uri="{FF2B5EF4-FFF2-40B4-BE49-F238E27FC236}">
                  <a16:creationId xmlns:a16="http://schemas.microsoft.com/office/drawing/2014/main" id="{540AF0E2-8297-C225-061E-8E2400433127}"/>
                </a:ext>
              </a:extLst>
            </p:cNvPr>
            <p:cNvSpPr/>
            <p:nvPr/>
          </p:nvSpPr>
          <p:spPr>
            <a:xfrm>
              <a:off x="5961888" y="2157984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05" name="Shape 37">
              <a:extLst>
                <a:ext uri="{FF2B5EF4-FFF2-40B4-BE49-F238E27FC236}">
                  <a16:creationId xmlns:a16="http://schemas.microsoft.com/office/drawing/2014/main" id="{EC1DA172-9D3F-3897-E43E-4F5D045C99EF}"/>
                </a:ext>
              </a:extLst>
            </p:cNvPr>
            <p:cNvSpPr/>
            <p:nvPr/>
          </p:nvSpPr>
          <p:spPr>
            <a:xfrm>
              <a:off x="5961888" y="2157984"/>
              <a:ext cx="1548994" cy="45720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06" name="Text 38">
              <a:extLst>
                <a:ext uri="{FF2B5EF4-FFF2-40B4-BE49-F238E27FC236}">
                  <a16:creationId xmlns:a16="http://schemas.microsoft.com/office/drawing/2014/main" id="{4B9E7442-2C71-628C-EC79-871C643EE708}"/>
                </a:ext>
              </a:extLst>
            </p:cNvPr>
            <p:cNvSpPr/>
            <p:nvPr/>
          </p:nvSpPr>
          <p:spPr>
            <a:xfrm>
              <a:off x="6035040" y="2176272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i="1" dirty="0">
                  <a:solidFill>
                    <a:srgbClr val="8AABB8"/>
                  </a:solidFill>
                </a:rPr>
                <a:t>Top: 59% from "No Operator"</a:t>
              </a:r>
              <a:endParaRPr lang="en-US" sz="700" dirty="0"/>
            </a:p>
          </p:txBody>
        </p:sp>
        <p:sp>
          <p:nvSpPr>
            <p:cNvPr id="207" name="Shape 39">
              <a:extLst>
                <a:ext uri="{FF2B5EF4-FFF2-40B4-BE49-F238E27FC236}">
                  <a16:creationId xmlns:a16="http://schemas.microsoft.com/office/drawing/2014/main" id="{5141200E-2A7A-E60D-4A8C-53DF7FC3A12F}"/>
                </a:ext>
              </a:extLst>
            </p:cNvPr>
            <p:cNvSpPr/>
            <p:nvPr/>
          </p:nvSpPr>
          <p:spPr>
            <a:xfrm>
              <a:off x="8842248" y="1078992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08" name="Text 40">
              <a:extLst>
                <a:ext uri="{FF2B5EF4-FFF2-40B4-BE49-F238E27FC236}">
                  <a16:creationId xmlns:a16="http://schemas.microsoft.com/office/drawing/2014/main" id="{6246DEF5-9576-5EB7-E73C-4DB11FA5CA64}"/>
                </a:ext>
              </a:extLst>
            </p:cNvPr>
            <p:cNvSpPr/>
            <p:nvPr/>
          </p:nvSpPr>
          <p:spPr>
            <a:xfrm>
              <a:off x="8933688" y="1115568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IG.11</a:t>
              </a:r>
              <a:endParaRPr lang="en-US" sz="1000" dirty="0"/>
            </a:p>
          </p:txBody>
        </p:sp>
        <p:sp>
          <p:nvSpPr>
            <p:cNvPr id="209" name="Text 41">
              <a:extLst>
                <a:ext uri="{FF2B5EF4-FFF2-40B4-BE49-F238E27FC236}">
                  <a16:creationId xmlns:a16="http://schemas.microsoft.com/office/drawing/2014/main" id="{40193A66-D9B6-455B-90EC-26E1071B41AC}"/>
                </a:ext>
              </a:extLst>
            </p:cNvPr>
            <p:cNvSpPr/>
            <p:nvPr/>
          </p:nvSpPr>
          <p:spPr>
            <a:xfrm>
              <a:off x="10305288" y="1115568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FF6B35"/>
                  </a:solidFill>
                </a:rPr>
                <a:t>261 hrs</a:t>
              </a:r>
              <a:endParaRPr lang="en-US" sz="1000" dirty="0"/>
            </a:p>
          </p:txBody>
        </p:sp>
        <p:sp>
          <p:nvSpPr>
            <p:cNvPr id="210" name="Shape 42">
              <a:extLst>
                <a:ext uri="{FF2B5EF4-FFF2-40B4-BE49-F238E27FC236}">
                  <a16:creationId xmlns:a16="http://schemas.microsoft.com/office/drawing/2014/main" id="{874FE9DF-6583-1F84-A431-27D9CB96DB50}"/>
                </a:ext>
              </a:extLst>
            </p:cNvPr>
            <p:cNvSpPr/>
            <p:nvPr/>
          </p:nvSpPr>
          <p:spPr>
            <a:xfrm>
              <a:off x="8933688" y="1426464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11" name="Text 43">
              <a:extLst>
                <a:ext uri="{FF2B5EF4-FFF2-40B4-BE49-F238E27FC236}">
                  <a16:creationId xmlns:a16="http://schemas.microsoft.com/office/drawing/2014/main" id="{39FE319C-4357-8139-B8D7-5B167F7D800D}"/>
                </a:ext>
              </a:extLst>
            </p:cNvPr>
            <p:cNvSpPr/>
            <p:nvPr/>
          </p:nvSpPr>
          <p:spPr>
            <a:xfrm>
              <a:off x="9025128" y="1389888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 Operator</a:t>
              </a:r>
              <a:endParaRPr lang="en-US" sz="850" dirty="0"/>
            </a:p>
          </p:txBody>
        </p:sp>
        <p:sp>
          <p:nvSpPr>
            <p:cNvPr id="212" name="Text 44">
              <a:extLst>
                <a:ext uri="{FF2B5EF4-FFF2-40B4-BE49-F238E27FC236}">
                  <a16:creationId xmlns:a16="http://schemas.microsoft.com/office/drawing/2014/main" id="{87499A9A-6CBD-8AF9-0823-6E023331EED7}"/>
                </a:ext>
              </a:extLst>
            </p:cNvPr>
            <p:cNvSpPr/>
            <p:nvPr/>
          </p:nvSpPr>
          <p:spPr>
            <a:xfrm>
              <a:off x="10853928" y="1389888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165h</a:t>
              </a:r>
              <a:endParaRPr lang="en-US" sz="850" dirty="0"/>
            </a:p>
          </p:txBody>
        </p:sp>
        <p:sp>
          <p:nvSpPr>
            <p:cNvPr id="213" name="Shape 45">
              <a:extLst>
                <a:ext uri="{FF2B5EF4-FFF2-40B4-BE49-F238E27FC236}">
                  <a16:creationId xmlns:a16="http://schemas.microsoft.com/office/drawing/2014/main" id="{3E95FD6A-C496-5029-65FB-9B1689DF34B8}"/>
                </a:ext>
              </a:extLst>
            </p:cNvPr>
            <p:cNvSpPr/>
            <p:nvPr/>
          </p:nvSpPr>
          <p:spPr>
            <a:xfrm>
              <a:off x="8933688" y="1719072"/>
              <a:ext cx="54864" cy="164592"/>
            </a:xfrm>
            <a:prstGeom prst="rect">
              <a:avLst/>
            </a:prstGeom>
            <a:solidFill>
              <a:srgbClr val="7B2FBE"/>
            </a:solidFill>
            <a:ln w="12700">
              <a:solidFill>
                <a:srgbClr val="7B2FBE"/>
              </a:solidFill>
              <a:prstDash val="solid"/>
            </a:ln>
          </p:spPr>
        </p:sp>
        <p:sp>
          <p:nvSpPr>
            <p:cNvPr id="214" name="Text 46">
              <a:extLst>
                <a:ext uri="{FF2B5EF4-FFF2-40B4-BE49-F238E27FC236}">
                  <a16:creationId xmlns:a16="http://schemas.microsoft.com/office/drawing/2014/main" id="{1BC2BBE4-9C56-74D3-5B9E-1EEB2C5030E3}"/>
                </a:ext>
              </a:extLst>
            </p:cNvPr>
            <p:cNvSpPr/>
            <p:nvPr/>
          </p:nvSpPr>
          <p:spPr>
            <a:xfrm>
              <a:off x="9025128" y="168249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Not In Plan</a:t>
              </a:r>
              <a:endParaRPr lang="en-US" sz="850" dirty="0"/>
            </a:p>
          </p:txBody>
        </p:sp>
        <p:sp>
          <p:nvSpPr>
            <p:cNvPr id="215" name="Text 47">
              <a:extLst>
                <a:ext uri="{FF2B5EF4-FFF2-40B4-BE49-F238E27FC236}">
                  <a16:creationId xmlns:a16="http://schemas.microsoft.com/office/drawing/2014/main" id="{3863C0BB-3EA3-B0ED-2270-EF55067AB711}"/>
                </a:ext>
              </a:extLst>
            </p:cNvPr>
            <p:cNvSpPr/>
            <p:nvPr/>
          </p:nvSpPr>
          <p:spPr>
            <a:xfrm>
              <a:off x="10853928" y="168249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40h</a:t>
              </a:r>
              <a:endParaRPr lang="en-US" sz="850" dirty="0"/>
            </a:p>
          </p:txBody>
        </p:sp>
        <p:sp>
          <p:nvSpPr>
            <p:cNvPr id="216" name="Shape 48">
              <a:extLst>
                <a:ext uri="{FF2B5EF4-FFF2-40B4-BE49-F238E27FC236}">
                  <a16:creationId xmlns:a16="http://schemas.microsoft.com/office/drawing/2014/main" id="{74183F45-15FD-F395-C47A-3AACC0DADA20}"/>
                </a:ext>
              </a:extLst>
            </p:cNvPr>
            <p:cNvSpPr/>
            <p:nvPr/>
          </p:nvSpPr>
          <p:spPr>
            <a:xfrm>
              <a:off x="8842248" y="2157984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17" name="Shape 49">
              <a:extLst>
                <a:ext uri="{FF2B5EF4-FFF2-40B4-BE49-F238E27FC236}">
                  <a16:creationId xmlns:a16="http://schemas.microsoft.com/office/drawing/2014/main" id="{7E96D541-09E1-7044-9CE8-13F4F58258E5}"/>
                </a:ext>
              </a:extLst>
            </p:cNvPr>
            <p:cNvSpPr/>
            <p:nvPr/>
          </p:nvSpPr>
          <p:spPr>
            <a:xfrm>
              <a:off x="8842248" y="2157984"/>
              <a:ext cx="1548994" cy="45720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18" name="Text 50">
              <a:extLst>
                <a:ext uri="{FF2B5EF4-FFF2-40B4-BE49-F238E27FC236}">
                  <a16:creationId xmlns:a16="http://schemas.microsoft.com/office/drawing/2014/main" id="{1F775E29-4AAE-33D4-40D7-CF7CA1CDDA0C}"/>
                </a:ext>
              </a:extLst>
            </p:cNvPr>
            <p:cNvSpPr/>
            <p:nvPr/>
          </p:nvSpPr>
          <p:spPr>
            <a:xfrm>
              <a:off x="8915400" y="2176272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i="1" dirty="0">
                  <a:solidFill>
                    <a:srgbClr val="8AABB8"/>
                  </a:solidFill>
                </a:rPr>
                <a:t>Top: 63% from "No Operator"</a:t>
              </a:r>
              <a:endParaRPr lang="en-US" sz="700" dirty="0"/>
            </a:p>
          </p:txBody>
        </p:sp>
        <p:sp>
          <p:nvSpPr>
            <p:cNvPr id="219" name="Shape 51">
              <a:extLst>
                <a:ext uri="{FF2B5EF4-FFF2-40B4-BE49-F238E27FC236}">
                  <a16:creationId xmlns:a16="http://schemas.microsoft.com/office/drawing/2014/main" id="{F5F4A4BF-D81C-4513-16FA-F3F817DD47EC}"/>
                </a:ext>
              </a:extLst>
            </p:cNvPr>
            <p:cNvSpPr/>
            <p:nvPr/>
          </p:nvSpPr>
          <p:spPr>
            <a:xfrm>
              <a:off x="201168" y="2505456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20" name="Text 52">
              <a:extLst>
                <a:ext uri="{FF2B5EF4-FFF2-40B4-BE49-F238E27FC236}">
                  <a16:creationId xmlns:a16="http://schemas.microsoft.com/office/drawing/2014/main" id="{FDB9CD64-80CA-3512-840F-B251FD37F518}"/>
                </a:ext>
              </a:extLst>
            </p:cNvPr>
            <p:cNvSpPr/>
            <p:nvPr/>
          </p:nvSpPr>
          <p:spPr>
            <a:xfrm>
              <a:off x="292608" y="2542032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IG.12</a:t>
              </a:r>
              <a:endParaRPr lang="en-US" sz="1000" dirty="0"/>
            </a:p>
          </p:txBody>
        </p:sp>
        <p:sp>
          <p:nvSpPr>
            <p:cNvPr id="221" name="Text 53">
              <a:extLst>
                <a:ext uri="{FF2B5EF4-FFF2-40B4-BE49-F238E27FC236}">
                  <a16:creationId xmlns:a16="http://schemas.microsoft.com/office/drawing/2014/main" id="{B410A047-1EDC-9B0F-673F-C57B12745887}"/>
                </a:ext>
              </a:extLst>
            </p:cNvPr>
            <p:cNvSpPr/>
            <p:nvPr/>
          </p:nvSpPr>
          <p:spPr>
            <a:xfrm>
              <a:off x="1664208" y="2542032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FD4513"/>
                  </a:solidFill>
                </a:rPr>
                <a:t>261 hrs</a:t>
              </a:r>
              <a:endParaRPr lang="en-US" sz="1000" dirty="0">
                <a:solidFill>
                  <a:srgbClr val="FD4513"/>
                </a:solidFill>
              </a:endParaRPr>
            </a:p>
          </p:txBody>
        </p:sp>
        <p:sp>
          <p:nvSpPr>
            <p:cNvPr id="222" name="Shape 54">
              <a:extLst>
                <a:ext uri="{FF2B5EF4-FFF2-40B4-BE49-F238E27FC236}">
                  <a16:creationId xmlns:a16="http://schemas.microsoft.com/office/drawing/2014/main" id="{47916516-45D7-B1A2-A6C3-ED9813CCC8C9}"/>
                </a:ext>
              </a:extLst>
            </p:cNvPr>
            <p:cNvSpPr/>
            <p:nvPr/>
          </p:nvSpPr>
          <p:spPr>
            <a:xfrm>
              <a:off x="292608" y="2852928"/>
              <a:ext cx="54864" cy="164592"/>
            </a:xfrm>
            <a:prstGeom prst="rect">
              <a:avLst/>
            </a:prstGeom>
            <a:solidFill>
              <a:srgbClr val="7B2FBE"/>
            </a:solidFill>
            <a:ln w="12700">
              <a:solidFill>
                <a:srgbClr val="7B2FBE"/>
              </a:solidFill>
              <a:prstDash val="solid"/>
            </a:ln>
          </p:spPr>
        </p:sp>
        <p:sp>
          <p:nvSpPr>
            <p:cNvPr id="223" name="Text 55">
              <a:extLst>
                <a:ext uri="{FF2B5EF4-FFF2-40B4-BE49-F238E27FC236}">
                  <a16:creationId xmlns:a16="http://schemas.microsoft.com/office/drawing/2014/main" id="{E6BA85D3-B5F9-9C0A-AF14-EE58C89D11C4}"/>
                </a:ext>
              </a:extLst>
            </p:cNvPr>
            <p:cNvSpPr/>
            <p:nvPr/>
          </p:nvSpPr>
          <p:spPr>
            <a:xfrm>
              <a:off x="384048" y="28163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Not In Plan</a:t>
              </a:r>
              <a:endParaRPr lang="en-US" sz="850" dirty="0"/>
            </a:p>
          </p:txBody>
        </p:sp>
        <p:sp>
          <p:nvSpPr>
            <p:cNvPr id="224" name="Text 56">
              <a:extLst>
                <a:ext uri="{FF2B5EF4-FFF2-40B4-BE49-F238E27FC236}">
                  <a16:creationId xmlns:a16="http://schemas.microsoft.com/office/drawing/2014/main" id="{5609B0F2-C0C3-2D9B-1863-49116658CADE}"/>
                </a:ext>
              </a:extLst>
            </p:cNvPr>
            <p:cNvSpPr/>
            <p:nvPr/>
          </p:nvSpPr>
          <p:spPr>
            <a:xfrm>
              <a:off x="2212848" y="2816352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144h</a:t>
              </a:r>
              <a:endParaRPr lang="en-US" sz="850" dirty="0"/>
            </a:p>
          </p:txBody>
        </p:sp>
        <p:sp>
          <p:nvSpPr>
            <p:cNvPr id="225" name="Shape 57">
              <a:extLst>
                <a:ext uri="{FF2B5EF4-FFF2-40B4-BE49-F238E27FC236}">
                  <a16:creationId xmlns:a16="http://schemas.microsoft.com/office/drawing/2014/main" id="{4E8A66F5-223D-A63E-AF6F-0C83E59811C9}"/>
                </a:ext>
              </a:extLst>
            </p:cNvPr>
            <p:cNvSpPr/>
            <p:nvPr/>
          </p:nvSpPr>
          <p:spPr>
            <a:xfrm>
              <a:off x="292608" y="3145536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26" name="Text 58">
              <a:extLst>
                <a:ext uri="{FF2B5EF4-FFF2-40B4-BE49-F238E27FC236}">
                  <a16:creationId xmlns:a16="http://schemas.microsoft.com/office/drawing/2014/main" id="{E3A02CE2-1ECA-1382-D48E-3C3CB148D558}"/>
                </a:ext>
              </a:extLst>
            </p:cNvPr>
            <p:cNvSpPr/>
            <p:nvPr/>
          </p:nvSpPr>
          <p:spPr>
            <a:xfrm>
              <a:off x="384048" y="310896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 Operator</a:t>
              </a:r>
              <a:endParaRPr lang="en-US" sz="850" dirty="0"/>
            </a:p>
          </p:txBody>
        </p:sp>
        <p:sp>
          <p:nvSpPr>
            <p:cNvPr id="227" name="Text 59">
              <a:extLst>
                <a:ext uri="{FF2B5EF4-FFF2-40B4-BE49-F238E27FC236}">
                  <a16:creationId xmlns:a16="http://schemas.microsoft.com/office/drawing/2014/main" id="{DC1C7A45-A799-5D50-5564-87D1F950BEED}"/>
                </a:ext>
              </a:extLst>
            </p:cNvPr>
            <p:cNvSpPr/>
            <p:nvPr/>
          </p:nvSpPr>
          <p:spPr>
            <a:xfrm>
              <a:off x="2212848" y="3108960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66h</a:t>
              </a:r>
              <a:endParaRPr lang="en-US" sz="850" dirty="0"/>
            </a:p>
          </p:txBody>
        </p:sp>
        <p:sp>
          <p:nvSpPr>
            <p:cNvPr id="228" name="Shape 60">
              <a:extLst>
                <a:ext uri="{FF2B5EF4-FFF2-40B4-BE49-F238E27FC236}">
                  <a16:creationId xmlns:a16="http://schemas.microsoft.com/office/drawing/2014/main" id="{F552F486-E86D-349D-0E61-06CB5CE8E559}"/>
                </a:ext>
              </a:extLst>
            </p:cNvPr>
            <p:cNvSpPr/>
            <p:nvPr/>
          </p:nvSpPr>
          <p:spPr>
            <a:xfrm>
              <a:off x="201168" y="3584448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29" name="Shape 61">
              <a:extLst>
                <a:ext uri="{FF2B5EF4-FFF2-40B4-BE49-F238E27FC236}">
                  <a16:creationId xmlns:a16="http://schemas.microsoft.com/office/drawing/2014/main" id="{B0865BF5-EC59-F810-FEE0-E4E108AD1427}"/>
                </a:ext>
              </a:extLst>
            </p:cNvPr>
            <p:cNvSpPr/>
            <p:nvPr/>
          </p:nvSpPr>
          <p:spPr>
            <a:xfrm>
              <a:off x="201168" y="3584448"/>
              <a:ext cx="1548994" cy="45720"/>
            </a:xfrm>
            <a:prstGeom prst="rect">
              <a:avLst/>
            </a:prstGeom>
            <a:solidFill>
              <a:srgbClr val="7B2FBE"/>
            </a:solidFill>
            <a:ln w="12700">
              <a:solidFill>
                <a:srgbClr val="7B2FBE"/>
              </a:solidFill>
              <a:prstDash val="solid"/>
            </a:ln>
          </p:spPr>
        </p:sp>
        <p:sp>
          <p:nvSpPr>
            <p:cNvPr id="230" name="Text 62">
              <a:extLst>
                <a:ext uri="{FF2B5EF4-FFF2-40B4-BE49-F238E27FC236}">
                  <a16:creationId xmlns:a16="http://schemas.microsoft.com/office/drawing/2014/main" id="{6018147F-E2E6-E948-E6ED-87577FC3D6A6}"/>
                </a:ext>
              </a:extLst>
            </p:cNvPr>
            <p:cNvSpPr/>
            <p:nvPr/>
          </p:nvSpPr>
          <p:spPr>
            <a:xfrm>
              <a:off x="274320" y="3602736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i="1" dirty="0">
                  <a:solidFill>
                    <a:srgbClr val="8AABB8"/>
                  </a:solidFill>
                </a:rPr>
                <a:t>Top: 55% from "Not In Plan"</a:t>
              </a:r>
              <a:endParaRPr lang="en-US" sz="700" dirty="0"/>
            </a:p>
          </p:txBody>
        </p:sp>
        <p:sp>
          <p:nvSpPr>
            <p:cNvPr id="231" name="Shape 63">
              <a:extLst>
                <a:ext uri="{FF2B5EF4-FFF2-40B4-BE49-F238E27FC236}">
                  <a16:creationId xmlns:a16="http://schemas.microsoft.com/office/drawing/2014/main" id="{05C43226-2542-46C4-6785-2C87D92F60E7}"/>
                </a:ext>
              </a:extLst>
            </p:cNvPr>
            <p:cNvSpPr/>
            <p:nvPr/>
          </p:nvSpPr>
          <p:spPr>
            <a:xfrm>
              <a:off x="3081528" y="2505456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32" name="Text 64">
              <a:extLst>
                <a:ext uri="{FF2B5EF4-FFF2-40B4-BE49-F238E27FC236}">
                  <a16:creationId xmlns:a16="http://schemas.microsoft.com/office/drawing/2014/main" id="{B7C2F3E6-B6B6-7EC2-7026-2E79E68FEDAA}"/>
                </a:ext>
              </a:extLst>
            </p:cNvPr>
            <p:cNvSpPr/>
            <p:nvPr/>
          </p:nvSpPr>
          <p:spPr>
            <a:xfrm>
              <a:off x="3172968" y="2542032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IG.13</a:t>
              </a:r>
              <a:endParaRPr lang="en-US" sz="1000" dirty="0"/>
            </a:p>
          </p:txBody>
        </p:sp>
        <p:sp>
          <p:nvSpPr>
            <p:cNvPr id="233" name="Text 65">
              <a:extLst>
                <a:ext uri="{FF2B5EF4-FFF2-40B4-BE49-F238E27FC236}">
                  <a16:creationId xmlns:a16="http://schemas.microsoft.com/office/drawing/2014/main" id="{6B30325E-9C0F-42C1-1594-0F26B0185125}"/>
                </a:ext>
              </a:extLst>
            </p:cNvPr>
            <p:cNvSpPr/>
            <p:nvPr/>
          </p:nvSpPr>
          <p:spPr>
            <a:xfrm>
              <a:off x="4544568" y="2542032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192 hrs</a:t>
              </a:r>
              <a:endParaRPr lang="en-US" sz="1000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34" name="Shape 66">
              <a:extLst>
                <a:ext uri="{FF2B5EF4-FFF2-40B4-BE49-F238E27FC236}">
                  <a16:creationId xmlns:a16="http://schemas.microsoft.com/office/drawing/2014/main" id="{3ED9A396-529E-3116-81E2-9A9CB0CC9932}"/>
                </a:ext>
              </a:extLst>
            </p:cNvPr>
            <p:cNvSpPr/>
            <p:nvPr/>
          </p:nvSpPr>
          <p:spPr>
            <a:xfrm>
              <a:off x="3172968" y="2852928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35" name="Text 67">
              <a:extLst>
                <a:ext uri="{FF2B5EF4-FFF2-40B4-BE49-F238E27FC236}">
                  <a16:creationId xmlns:a16="http://schemas.microsoft.com/office/drawing/2014/main" id="{C28D9767-0596-0E73-D651-969D5C5F90CB}"/>
                </a:ext>
              </a:extLst>
            </p:cNvPr>
            <p:cNvSpPr/>
            <p:nvPr/>
          </p:nvSpPr>
          <p:spPr>
            <a:xfrm>
              <a:off x="3264408" y="28163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 Operator</a:t>
              </a:r>
              <a:endParaRPr lang="en-US" sz="850" dirty="0"/>
            </a:p>
          </p:txBody>
        </p:sp>
        <p:sp>
          <p:nvSpPr>
            <p:cNvPr id="236" name="Text 68">
              <a:extLst>
                <a:ext uri="{FF2B5EF4-FFF2-40B4-BE49-F238E27FC236}">
                  <a16:creationId xmlns:a16="http://schemas.microsoft.com/office/drawing/2014/main" id="{87617F44-D480-1167-565E-308C36602161}"/>
                </a:ext>
              </a:extLst>
            </p:cNvPr>
            <p:cNvSpPr/>
            <p:nvPr/>
          </p:nvSpPr>
          <p:spPr>
            <a:xfrm>
              <a:off x="5093208" y="2816352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96h</a:t>
              </a:r>
              <a:endParaRPr lang="en-US" sz="850" dirty="0"/>
            </a:p>
          </p:txBody>
        </p:sp>
        <p:sp>
          <p:nvSpPr>
            <p:cNvPr id="237" name="Shape 69">
              <a:extLst>
                <a:ext uri="{FF2B5EF4-FFF2-40B4-BE49-F238E27FC236}">
                  <a16:creationId xmlns:a16="http://schemas.microsoft.com/office/drawing/2014/main" id="{2FD36198-3D86-7BE5-5D3B-AD8572353638}"/>
                </a:ext>
              </a:extLst>
            </p:cNvPr>
            <p:cNvSpPr/>
            <p:nvPr/>
          </p:nvSpPr>
          <p:spPr>
            <a:xfrm>
              <a:off x="3172968" y="3145536"/>
              <a:ext cx="54864" cy="164592"/>
            </a:xfrm>
            <a:prstGeom prst="rect">
              <a:avLst/>
            </a:prstGeom>
            <a:solidFill>
              <a:srgbClr val="26C6DA"/>
            </a:solidFill>
            <a:ln w="12700">
              <a:solidFill>
                <a:srgbClr val="26C6DA"/>
              </a:solidFill>
              <a:prstDash val="solid"/>
            </a:ln>
          </p:spPr>
        </p:sp>
        <p:sp>
          <p:nvSpPr>
            <p:cNvPr id="238" name="Text 70">
              <a:extLst>
                <a:ext uri="{FF2B5EF4-FFF2-40B4-BE49-F238E27FC236}">
                  <a16:creationId xmlns:a16="http://schemas.microsoft.com/office/drawing/2014/main" id="{3B4AAF9C-668C-9DEF-4A23-ADA1FA361CC6}"/>
                </a:ext>
              </a:extLst>
            </p:cNvPr>
            <p:cNvSpPr/>
            <p:nvPr/>
          </p:nvSpPr>
          <p:spPr>
            <a:xfrm>
              <a:off x="3264408" y="310896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New Setting</a:t>
              </a:r>
              <a:endParaRPr lang="en-US" sz="850" dirty="0"/>
            </a:p>
          </p:txBody>
        </p:sp>
        <p:sp>
          <p:nvSpPr>
            <p:cNvPr id="239" name="Text 71">
              <a:extLst>
                <a:ext uri="{FF2B5EF4-FFF2-40B4-BE49-F238E27FC236}">
                  <a16:creationId xmlns:a16="http://schemas.microsoft.com/office/drawing/2014/main" id="{215F4AC5-3D3B-9FFA-1443-508D6F8E41D2}"/>
                </a:ext>
              </a:extLst>
            </p:cNvPr>
            <p:cNvSpPr/>
            <p:nvPr/>
          </p:nvSpPr>
          <p:spPr>
            <a:xfrm>
              <a:off x="5093208" y="3108960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26h</a:t>
              </a:r>
              <a:endParaRPr lang="en-US" sz="850" dirty="0"/>
            </a:p>
          </p:txBody>
        </p:sp>
        <p:sp>
          <p:nvSpPr>
            <p:cNvPr id="240" name="Shape 72">
              <a:extLst>
                <a:ext uri="{FF2B5EF4-FFF2-40B4-BE49-F238E27FC236}">
                  <a16:creationId xmlns:a16="http://schemas.microsoft.com/office/drawing/2014/main" id="{02A890BA-21BC-1D87-9E03-45E0D4C1DF49}"/>
                </a:ext>
              </a:extLst>
            </p:cNvPr>
            <p:cNvSpPr/>
            <p:nvPr/>
          </p:nvSpPr>
          <p:spPr>
            <a:xfrm>
              <a:off x="3081528" y="3584448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41" name="Shape 73">
              <a:extLst>
                <a:ext uri="{FF2B5EF4-FFF2-40B4-BE49-F238E27FC236}">
                  <a16:creationId xmlns:a16="http://schemas.microsoft.com/office/drawing/2014/main" id="{A421CF26-354D-24D0-175E-C59B97DE98F9}"/>
                </a:ext>
              </a:extLst>
            </p:cNvPr>
            <p:cNvSpPr/>
            <p:nvPr/>
          </p:nvSpPr>
          <p:spPr>
            <a:xfrm>
              <a:off x="3081528" y="3584448"/>
              <a:ext cx="1548994" cy="45720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42" name="Text 74">
              <a:extLst>
                <a:ext uri="{FF2B5EF4-FFF2-40B4-BE49-F238E27FC236}">
                  <a16:creationId xmlns:a16="http://schemas.microsoft.com/office/drawing/2014/main" id="{229BCCB2-61A1-299F-378F-F4BC97C19CBA}"/>
                </a:ext>
              </a:extLst>
            </p:cNvPr>
            <p:cNvSpPr/>
            <p:nvPr/>
          </p:nvSpPr>
          <p:spPr>
            <a:xfrm>
              <a:off x="3154680" y="3602736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i="1" dirty="0">
                  <a:solidFill>
                    <a:srgbClr val="8AABB8"/>
                  </a:solidFill>
                </a:rPr>
                <a:t>Top: 50% from "No Operator"</a:t>
              </a:r>
              <a:endParaRPr lang="en-US" sz="700" dirty="0"/>
            </a:p>
          </p:txBody>
        </p:sp>
        <p:sp>
          <p:nvSpPr>
            <p:cNvPr id="243" name="Shape 75">
              <a:extLst>
                <a:ext uri="{FF2B5EF4-FFF2-40B4-BE49-F238E27FC236}">
                  <a16:creationId xmlns:a16="http://schemas.microsoft.com/office/drawing/2014/main" id="{E6FA5EF5-0517-7956-B9D0-DB04897485A6}"/>
                </a:ext>
              </a:extLst>
            </p:cNvPr>
            <p:cNvSpPr/>
            <p:nvPr/>
          </p:nvSpPr>
          <p:spPr>
            <a:xfrm>
              <a:off x="5961888" y="2505456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44" name="Text 76">
              <a:extLst>
                <a:ext uri="{FF2B5EF4-FFF2-40B4-BE49-F238E27FC236}">
                  <a16:creationId xmlns:a16="http://schemas.microsoft.com/office/drawing/2014/main" id="{062AE9E1-90A9-C168-4E27-722F569C60F7}"/>
                </a:ext>
              </a:extLst>
            </p:cNvPr>
            <p:cNvSpPr/>
            <p:nvPr/>
          </p:nvSpPr>
          <p:spPr>
            <a:xfrm>
              <a:off x="6053328" y="2542032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IG.18</a:t>
              </a:r>
              <a:endParaRPr lang="en-US" sz="1000" dirty="0"/>
            </a:p>
          </p:txBody>
        </p:sp>
        <p:sp>
          <p:nvSpPr>
            <p:cNvPr id="245" name="Text 77">
              <a:extLst>
                <a:ext uri="{FF2B5EF4-FFF2-40B4-BE49-F238E27FC236}">
                  <a16:creationId xmlns:a16="http://schemas.microsoft.com/office/drawing/2014/main" id="{E84389EA-CF47-D0DB-2BB0-49F47EEC6B57}"/>
                </a:ext>
              </a:extLst>
            </p:cNvPr>
            <p:cNvSpPr/>
            <p:nvPr/>
          </p:nvSpPr>
          <p:spPr>
            <a:xfrm>
              <a:off x="7424928" y="2542032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180 hrs</a:t>
              </a:r>
              <a:endParaRPr lang="en-US" sz="1000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6" name="Shape 78">
              <a:extLst>
                <a:ext uri="{FF2B5EF4-FFF2-40B4-BE49-F238E27FC236}">
                  <a16:creationId xmlns:a16="http://schemas.microsoft.com/office/drawing/2014/main" id="{89FFCFED-34DC-8B19-FA6E-4F84E8CB3925}"/>
                </a:ext>
              </a:extLst>
            </p:cNvPr>
            <p:cNvSpPr/>
            <p:nvPr/>
          </p:nvSpPr>
          <p:spPr>
            <a:xfrm>
              <a:off x="6053328" y="2852928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47" name="Text 79">
              <a:extLst>
                <a:ext uri="{FF2B5EF4-FFF2-40B4-BE49-F238E27FC236}">
                  <a16:creationId xmlns:a16="http://schemas.microsoft.com/office/drawing/2014/main" id="{5853F4F1-410D-B6E6-A749-B3EEF807AB59}"/>
                </a:ext>
              </a:extLst>
            </p:cNvPr>
            <p:cNvSpPr/>
            <p:nvPr/>
          </p:nvSpPr>
          <p:spPr>
            <a:xfrm>
              <a:off x="6144768" y="28163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 Operator</a:t>
              </a:r>
              <a:endParaRPr lang="en-US" sz="850" dirty="0"/>
            </a:p>
          </p:txBody>
        </p:sp>
        <p:sp>
          <p:nvSpPr>
            <p:cNvPr id="248" name="Text 80">
              <a:extLst>
                <a:ext uri="{FF2B5EF4-FFF2-40B4-BE49-F238E27FC236}">
                  <a16:creationId xmlns:a16="http://schemas.microsoft.com/office/drawing/2014/main" id="{67F0DE43-04C3-BACA-CE81-8941BCF8510C}"/>
                </a:ext>
              </a:extLst>
            </p:cNvPr>
            <p:cNvSpPr/>
            <p:nvPr/>
          </p:nvSpPr>
          <p:spPr>
            <a:xfrm>
              <a:off x="7973568" y="2816352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124h</a:t>
              </a:r>
              <a:endParaRPr lang="en-US" sz="850" dirty="0"/>
            </a:p>
          </p:txBody>
        </p:sp>
        <p:sp>
          <p:nvSpPr>
            <p:cNvPr id="249" name="Shape 81">
              <a:extLst>
                <a:ext uri="{FF2B5EF4-FFF2-40B4-BE49-F238E27FC236}">
                  <a16:creationId xmlns:a16="http://schemas.microsoft.com/office/drawing/2014/main" id="{2BE65360-F5AE-75A1-7CCC-189D2F87CDE6}"/>
                </a:ext>
              </a:extLst>
            </p:cNvPr>
            <p:cNvSpPr/>
            <p:nvPr/>
          </p:nvSpPr>
          <p:spPr>
            <a:xfrm>
              <a:off x="6053328" y="3145536"/>
              <a:ext cx="54864" cy="164592"/>
            </a:xfrm>
            <a:prstGeom prst="rect">
              <a:avLst/>
            </a:prstGeom>
            <a:solidFill>
              <a:srgbClr val="26C6DA"/>
            </a:solidFill>
            <a:ln w="12700">
              <a:solidFill>
                <a:srgbClr val="26C6DA"/>
              </a:solidFill>
              <a:prstDash val="solid"/>
            </a:ln>
          </p:spPr>
        </p:sp>
        <p:sp>
          <p:nvSpPr>
            <p:cNvPr id="250" name="Text 82">
              <a:extLst>
                <a:ext uri="{FF2B5EF4-FFF2-40B4-BE49-F238E27FC236}">
                  <a16:creationId xmlns:a16="http://schemas.microsoft.com/office/drawing/2014/main" id="{C10E5C02-634D-9413-5907-FAA00B7D19E0}"/>
                </a:ext>
              </a:extLst>
            </p:cNvPr>
            <p:cNvSpPr/>
            <p:nvPr/>
          </p:nvSpPr>
          <p:spPr>
            <a:xfrm>
              <a:off x="6144768" y="310896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New Setting</a:t>
              </a:r>
              <a:endParaRPr lang="en-US" sz="850" dirty="0"/>
            </a:p>
          </p:txBody>
        </p:sp>
        <p:sp>
          <p:nvSpPr>
            <p:cNvPr id="251" name="Text 83">
              <a:extLst>
                <a:ext uri="{FF2B5EF4-FFF2-40B4-BE49-F238E27FC236}">
                  <a16:creationId xmlns:a16="http://schemas.microsoft.com/office/drawing/2014/main" id="{86A6CD6B-0456-A1A0-37F6-2625FCFD00B1}"/>
                </a:ext>
              </a:extLst>
            </p:cNvPr>
            <p:cNvSpPr/>
            <p:nvPr/>
          </p:nvSpPr>
          <p:spPr>
            <a:xfrm>
              <a:off x="7973568" y="3108960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14h</a:t>
              </a:r>
              <a:endParaRPr lang="en-US" sz="850" dirty="0"/>
            </a:p>
          </p:txBody>
        </p:sp>
        <p:sp>
          <p:nvSpPr>
            <p:cNvPr id="252" name="Shape 84">
              <a:extLst>
                <a:ext uri="{FF2B5EF4-FFF2-40B4-BE49-F238E27FC236}">
                  <a16:creationId xmlns:a16="http://schemas.microsoft.com/office/drawing/2014/main" id="{CE28ADFC-D713-08E3-D97A-654741E634A5}"/>
                </a:ext>
              </a:extLst>
            </p:cNvPr>
            <p:cNvSpPr/>
            <p:nvPr/>
          </p:nvSpPr>
          <p:spPr>
            <a:xfrm>
              <a:off x="5961888" y="3584448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53" name="Shape 85">
              <a:extLst>
                <a:ext uri="{FF2B5EF4-FFF2-40B4-BE49-F238E27FC236}">
                  <a16:creationId xmlns:a16="http://schemas.microsoft.com/office/drawing/2014/main" id="{FC8E02F1-781D-D797-CA66-017F9EFDB95A}"/>
                </a:ext>
              </a:extLst>
            </p:cNvPr>
            <p:cNvSpPr/>
            <p:nvPr/>
          </p:nvSpPr>
          <p:spPr>
            <a:xfrm>
              <a:off x="5961888" y="3584448"/>
              <a:ext cx="1548994" cy="45720"/>
            </a:xfrm>
            <a:prstGeom prst="rect">
              <a:avLst/>
            </a:prstGeom>
            <a:solidFill>
              <a:srgbClr val="FFEB3B"/>
            </a:solidFill>
            <a:ln w="12700">
              <a:solidFill>
                <a:srgbClr val="FFEB3B"/>
              </a:solidFill>
              <a:prstDash val="solid"/>
            </a:ln>
          </p:spPr>
        </p:sp>
        <p:sp>
          <p:nvSpPr>
            <p:cNvPr id="254" name="Text 86">
              <a:extLst>
                <a:ext uri="{FF2B5EF4-FFF2-40B4-BE49-F238E27FC236}">
                  <a16:creationId xmlns:a16="http://schemas.microsoft.com/office/drawing/2014/main" id="{506FC2BF-9272-2984-08BB-E2DD98A1D8DD}"/>
                </a:ext>
              </a:extLst>
            </p:cNvPr>
            <p:cNvSpPr/>
            <p:nvPr/>
          </p:nvSpPr>
          <p:spPr>
            <a:xfrm>
              <a:off x="6035040" y="3602736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i="1" dirty="0">
                  <a:solidFill>
                    <a:srgbClr val="8AABB8"/>
                  </a:solidFill>
                </a:rPr>
                <a:t>Top: 69% from "No Operator"</a:t>
              </a:r>
              <a:endParaRPr lang="en-US" sz="700" dirty="0"/>
            </a:p>
          </p:txBody>
        </p:sp>
        <p:sp>
          <p:nvSpPr>
            <p:cNvPr id="255" name="Shape 87">
              <a:extLst>
                <a:ext uri="{FF2B5EF4-FFF2-40B4-BE49-F238E27FC236}">
                  <a16:creationId xmlns:a16="http://schemas.microsoft.com/office/drawing/2014/main" id="{A1EFD845-16AC-C951-16A0-998D34E4FE34}"/>
                </a:ext>
              </a:extLst>
            </p:cNvPr>
            <p:cNvSpPr/>
            <p:nvPr/>
          </p:nvSpPr>
          <p:spPr>
            <a:xfrm>
              <a:off x="8842248" y="2505456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56" name="Text 88">
              <a:extLst>
                <a:ext uri="{FF2B5EF4-FFF2-40B4-BE49-F238E27FC236}">
                  <a16:creationId xmlns:a16="http://schemas.microsoft.com/office/drawing/2014/main" id="{A79F1A99-09F7-AB2B-8A91-DF05591047A6}"/>
                </a:ext>
              </a:extLst>
            </p:cNvPr>
            <p:cNvSpPr/>
            <p:nvPr/>
          </p:nvSpPr>
          <p:spPr>
            <a:xfrm>
              <a:off x="8933688" y="2542032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IG.04</a:t>
              </a:r>
              <a:endParaRPr lang="en-US" sz="1000" dirty="0"/>
            </a:p>
          </p:txBody>
        </p:sp>
        <p:sp>
          <p:nvSpPr>
            <p:cNvPr id="257" name="Text 89">
              <a:extLst>
                <a:ext uri="{FF2B5EF4-FFF2-40B4-BE49-F238E27FC236}">
                  <a16:creationId xmlns:a16="http://schemas.microsoft.com/office/drawing/2014/main" id="{6B2B2C7A-FB97-1ECD-D760-2FAC17EE91B2}"/>
                </a:ext>
              </a:extLst>
            </p:cNvPr>
            <p:cNvSpPr/>
            <p:nvPr/>
          </p:nvSpPr>
          <p:spPr>
            <a:xfrm>
              <a:off x="10305288" y="2542032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4FC3F7"/>
                  </a:solidFill>
                </a:rPr>
                <a:t>134 hrs</a:t>
              </a:r>
              <a:endParaRPr lang="en-US" sz="1000" dirty="0"/>
            </a:p>
          </p:txBody>
        </p:sp>
        <p:sp>
          <p:nvSpPr>
            <p:cNvPr id="258" name="Shape 90">
              <a:extLst>
                <a:ext uri="{FF2B5EF4-FFF2-40B4-BE49-F238E27FC236}">
                  <a16:creationId xmlns:a16="http://schemas.microsoft.com/office/drawing/2014/main" id="{7FB1D739-6285-0988-8469-E461A296D596}"/>
                </a:ext>
              </a:extLst>
            </p:cNvPr>
            <p:cNvSpPr/>
            <p:nvPr/>
          </p:nvSpPr>
          <p:spPr>
            <a:xfrm>
              <a:off x="8933688" y="2852928"/>
              <a:ext cx="54864" cy="16459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259" name="Text 91">
              <a:extLst>
                <a:ext uri="{FF2B5EF4-FFF2-40B4-BE49-F238E27FC236}">
                  <a16:creationId xmlns:a16="http://schemas.microsoft.com/office/drawing/2014/main" id="{FE8334D5-49BD-3C86-E990-BA5971695B7C}"/>
                </a:ext>
              </a:extLst>
            </p:cNvPr>
            <p:cNvSpPr/>
            <p:nvPr/>
          </p:nvSpPr>
          <p:spPr>
            <a:xfrm>
              <a:off x="9025128" y="28163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Wheel Change</a:t>
              </a:r>
              <a:endParaRPr lang="en-US" sz="850" dirty="0"/>
            </a:p>
          </p:txBody>
        </p:sp>
        <p:sp>
          <p:nvSpPr>
            <p:cNvPr id="260" name="Text 92">
              <a:extLst>
                <a:ext uri="{FF2B5EF4-FFF2-40B4-BE49-F238E27FC236}">
                  <a16:creationId xmlns:a16="http://schemas.microsoft.com/office/drawing/2014/main" id="{1EB9DF01-3094-9630-331B-1505E99389AF}"/>
                </a:ext>
              </a:extLst>
            </p:cNvPr>
            <p:cNvSpPr/>
            <p:nvPr/>
          </p:nvSpPr>
          <p:spPr>
            <a:xfrm>
              <a:off x="10853928" y="2816352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23h</a:t>
              </a:r>
              <a:endParaRPr lang="en-US" sz="850" dirty="0"/>
            </a:p>
          </p:txBody>
        </p:sp>
        <p:sp>
          <p:nvSpPr>
            <p:cNvPr id="261" name="Shape 93">
              <a:extLst>
                <a:ext uri="{FF2B5EF4-FFF2-40B4-BE49-F238E27FC236}">
                  <a16:creationId xmlns:a16="http://schemas.microsoft.com/office/drawing/2014/main" id="{BAC2D2C7-564C-F5B2-725A-22F321D35280}"/>
                </a:ext>
              </a:extLst>
            </p:cNvPr>
            <p:cNvSpPr/>
            <p:nvPr/>
          </p:nvSpPr>
          <p:spPr>
            <a:xfrm>
              <a:off x="8933688" y="3145536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62" name="Text 94">
              <a:extLst>
                <a:ext uri="{FF2B5EF4-FFF2-40B4-BE49-F238E27FC236}">
                  <a16:creationId xmlns:a16="http://schemas.microsoft.com/office/drawing/2014/main" id="{BD1C1A30-DE31-271B-1E7D-34CC4B9432FC}"/>
                </a:ext>
              </a:extLst>
            </p:cNvPr>
            <p:cNvSpPr/>
            <p:nvPr/>
          </p:nvSpPr>
          <p:spPr>
            <a:xfrm>
              <a:off x="9025128" y="310896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 Operator</a:t>
              </a:r>
              <a:endParaRPr lang="en-US" sz="850" dirty="0"/>
            </a:p>
          </p:txBody>
        </p:sp>
        <p:sp>
          <p:nvSpPr>
            <p:cNvPr id="263" name="Text 95">
              <a:extLst>
                <a:ext uri="{FF2B5EF4-FFF2-40B4-BE49-F238E27FC236}">
                  <a16:creationId xmlns:a16="http://schemas.microsoft.com/office/drawing/2014/main" id="{8A38E2AC-64E9-A0F3-74F2-B97EE8F07C0B}"/>
                </a:ext>
              </a:extLst>
            </p:cNvPr>
            <p:cNvSpPr/>
            <p:nvPr/>
          </p:nvSpPr>
          <p:spPr>
            <a:xfrm>
              <a:off x="10853928" y="3108960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20h</a:t>
              </a:r>
              <a:endParaRPr lang="en-US" sz="850" dirty="0"/>
            </a:p>
          </p:txBody>
        </p:sp>
        <p:sp>
          <p:nvSpPr>
            <p:cNvPr id="264" name="Shape 96">
              <a:extLst>
                <a:ext uri="{FF2B5EF4-FFF2-40B4-BE49-F238E27FC236}">
                  <a16:creationId xmlns:a16="http://schemas.microsoft.com/office/drawing/2014/main" id="{AF9EE39A-BB81-4B75-26EB-F4E786167BEC}"/>
                </a:ext>
              </a:extLst>
            </p:cNvPr>
            <p:cNvSpPr/>
            <p:nvPr/>
          </p:nvSpPr>
          <p:spPr>
            <a:xfrm>
              <a:off x="8842248" y="3584448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65" name="Shape 97">
              <a:extLst>
                <a:ext uri="{FF2B5EF4-FFF2-40B4-BE49-F238E27FC236}">
                  <a16:creationId xmlns:a16="http://schemas.microsoft.com/office/drawing/2014/main" id="{E0E480BB-CAEB-1516-014F-F068F7BE6E80}"/>
                </a:ext>
              </a:extLst>
            </p:cNvPr>
            <p:cNvSpPr/>
            <p:nvPr/>
          </p:nvSpPr>
          <p:spPr>
            <a:xfrm>
              <a:off x="8842248" y="3584448"/>
              <a:ext cx="1548994" cy="45720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266" name="Text 98">
              <a:extLst>
                <a:ext uri="{FF2B5EF4-FFF2-40B4-BE49-F238E27FC236}">
                  <a16:creationId xmlns:a16="http://schemas.microsoft.com/office/drawing/2014/main" id="{2F00AD41-CAC1-9607-5EFE-C0DEAD45FD9D}"/>
                </a:ext>
              </a:extLst>
            </p:cNvPr>
            <p:cNvSpPr/>
            <p:nvPr/>
          </p:nvSpPr>
          <p:spPr>
            <a:xfrm>
              <a:off x="8915400" y="3602736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i="1" dirty="0">
                  <a:solidFill>
                    <a:srgbClr val="8AABB8"/>
                  </a:solidFill>
                </a:rPr>
                <a:t>Top: 17% from "Wheel Change"</a:t>
              </a:r>
              <a:endParaRPr lang="en-US" sz="700" dirty="0"/>
            </a:p>
          </p:txBody>
        </p:sp>
        <p:sp>
          <p:nvSpPr>
            <p:cNvPr id="267" name="Shape 99">
              <a:extLst>
                <a:ext uri="{FF2B5EF4-FFF2-40B4-BE49-F238E27FC236}">
                  <a16:creationId xmlns:a16="http://schemas.microsoft.com/office/drawing/2014/main" id="{0C968F9D-AED1-F03D-263C-3CA29DDE5B0F}"/>
                </a:ext>
              </a:extLst>
            </p:cNvPr>
            <p:cNvSpPr/>
            <p:nvPr/>
          </p:nvSpPr>
          <p:spPr>
            <a:xfrm>
              <a:off x="201168" y="3931920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68" name="Text 100">
              <a:extLst>
                <a:ext uri="{FF2B5EF4-FFF2-40B4-BE49-F238E27FC236}">
                  <a16:creationId xmlns:a16="http://schemas.microsoft.com/office/drawing/2014/main" id="{8592B754-E6C3-E8DF-EB90-59FC9A1DAF74}"/>
                </a:ext>
              </a:extLst>
            </p:cNvPr>
            <p:cNvSpPr/>
            <p:nvPr/>
          </p:nvSpPr>
          <p:spPr>
            <a:xfrm>
              <a:off x="292608" y="3968496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IG.14</a:t>
              </a:r>
              <a:endParaRPr lang="en-US" sz="1000" dirty="0"/>
            </a:p>
          </p:txBody>
        </p:sp>
        <p:sp>
          <p:nvSpPr>
            <p:cNvPr id="269" name="Text 101">
              <a:extLst>
                <a:ext uri="{FF2B5EF4-FFF2-40B4-BE49-F238E27FC236}">
                  <a16:creationId xmlns:a16="http://schemas.microsoft.com/office/drawing/2014/main" id="{F794C1CE-E89C-A4FA-82FC-AA61A38A9F20}"/>
                </a:ext>
              </a:extLst>
            </p:cNvPr>
            <p:cNvSpPr/>
            <p:nvPr/>
          </p:nvSpPr>
          <p:spPr>
            <a:xfrm>
              <a:off x="1664208" y="3968496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00B0F0"/>
                  </a:solidFill>
                </a:rPr>
                <a:t>115 hrs</a:t>
              </a:r>
              <a:endParaRPr lang="en-US" sz="1000" dirty="0">
                <a:solidFill>
                  <a:srgbClr val="00B0F0"/>
                </a:solidFill>
              </a:endParaRPr>
            </a:p>
          </p:txBody>
        </p:sp>
        <p:sp>
          <p:nvSpPr>
            <p:cNvPr id="270" name="Shape 102">
              <a:extLst>
                <a:ext uri="{FF2B5EF4-FFF2-40B4-BE49-F238E27FC236}">
                  <a16:creationId xmlns:a16="http://schemas.microsoft.com/office/drawing/2014/main" id="{85EAA0CE-9FD1-8ACC-3AF3-2CE2BAE4CC66}"/>
                </a:ext>
              </a:extLst>
            </p:cNvPr>
            <p:cNvSpPr/>
            <p:nvPr/>
          </p:nvSpPr>
          <p:spPr>
            <a:xfrm>
              <a:off x="292608" y="4279392"/>
              <a:ext cx="54864" cy="164592"/>
            </a:xfrm>
            <a:prstGeom prst="rect">
              <a:avLst/>
            </a:prstGeom>
            <a:solidFill>
              <a:srgbClr val="FFA726"/>
            </a:solidFill>
            <a:ln w="12700">
              <a:solidFill>
                <a:srgbClr val="FFA726"/>
              </a:solidFill>
              <a:prstDash val="solid"/>
            </a:ln>
          </p:spPr>
        </p:sp>
        <p:sp>
          <p:nvSpPr>
            <p:cNvPr id="271" name="Text 103">
              <a:extLst>
                <a:ext uri="{FF2B5EF4-FFF2-40B4-BE49-F238E27FC236}">
                  <a16:creationId xmlns:a16="http://schemas.microsoft.com/office/drawing/2014/main" id="{2FFC8D95-F9EA-78AF-C522-626A9812665A}"/>
                </a:ext>
              </a:extLst>
            </p:cNvPr>
            <p:cNvSpPr/>
            <p:nvPr/>
          </p:nvSpPr>
          <p:spPr>
            <a:xfrm>
              <a:off x="384048" y="424281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 Material (Ext)</a:t>
              </a:r>
              <a:endParaRPr lang="en-US" sz="850" dirty="0"/>
            </a:p>
          </p:txBody>
        </p:sp>
        <p:sp>
          <p:nvSpPr>
            <p:cNvPr id="272" name="Text 104">
              <a:extLst>
                <a:ext uri="{FF2B5EF4-FFF2-40B4-BE49-F238E27FC236}">
                  <a16:creationId xmlns:a16="http://schemas.microsoft.com/office/drawing/2014/main" id="{CD16CF73-1EA7-5BC8-0C10-F6173C2C69FE}"/>
                </a:ext>
              </a:extLst>
            </p:cNvPr>
            <p:cNvSpPr/>
            <p:nvPr/>
          </p:nvSpPr>
          <p:spPr>
            <a:xfrm>
              <a:off x="2212848" y="424281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40h</a:t>
              </a:r>
              <a:endParaRPr lang="en-US" sz="850" dirty="0"/>
            </a:p>
          </p:txBody>
        </p:sp>
        <p:sp>
          <p:nvSpPr>
            <p:cNvPr id="273" name="Shape 105">
              <a:extLst>
                <a:ext uri="{FF2B5EF4-FFF2-40B4-BE49-F238E27FC236}">
                  <a16:creationId xmlns:a16="http://schemas.microsoft.com/office/drawing/2014/main" id="{2301846B-442A-8CD6-B887-8DE81FAE825A}"/>
                </a:ext>
              </a:extLst>
            </p:cNvPr>
            <p:cNvSpPr/>
            <p:nvPr/>
          </p:nvSpPr>
          <p:spPr>
            <a:xfrm>
              <a:off x="292608" y="4572000"/>
              <a:ext cx="54864" cy="16459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274" name="Text 106">
              <a:extLst>
                <a:ext uri="{FF2B5EF4-FFF2-40B4-BE49-F238E27FC236}">
                  <a16:creationId xmlns:a16="http://schemas.microsoft.com/office/drawing/2014/main" id="{F314D905-ED6F-6307-7790-0875C3F06050}"/>
                </a:ext>
              </a:extLst>
            </p:cNvPr>
            <p:cNvSpPr/>
            <p:nvPr/>
          </p:nvSpPr>
          <p:spPr>
            <a:xfrm>
              <a:off x="384048" y="4535424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Wheel Change</a:t>
              </a:r>
              <a:endParaRPr lang="en-US" sz="850" dirty="0"/>
            </a:p>
          </p:txBody>
        </p:sp>
        <p:sp>
          <p:nvSpPr>
            <p:cNvPr id="275" name="Text 107">
              <a:extLst>
                <a:ext uri="{FF2B5EF4-FFF2-40B4-BE49-F238E27FC236}">
                  <a16:creationId xmlns:a16="http://schemas.microsoft.com/office/drawing/2014/main" id="{612BB538-BFAC-6F7A-C61E-B8F7E80777D2}"/>
                </a:ext>
              </a:extLst>
            </p:cNvPr>
            <p:cNvSpPr/>
            <p:nvPr/>
          </p:nvSpPr>
          <p:spPr>
            <a:xfrm>
              <a:off x="2212848" y="4535424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22h</a:t>
              </a:r>
              <a:endParaRPr lang="en-US" sz="850" dirty="0"/>
            </a:p>
          </p:txBody>
        </p:sp>
        <p:sp>
          <p:nvSpPr>
            <p:cNvPr id="276" name="Shape 108">
              <a:extLst>
                <a:ext uri="{FF2B5EF4-FFF2-40B4-BE49-F238E27FC236}">
                  <a16:creationId xmlns:a16="http://schemas.microsoft.com/office/drawing/2014/main" id="{C76B2778-E643-5F3C-D47E-A0917D9B020C}"/>
                </a:ext>
              </a:extLst>
            </p:cNvPr>
            <p:cNvSpPr/>
            <p:nvPr/>
          </p:nvSpPr>
          <p:spPr>
            <a:xfrm>
              <a:off x="201168" y="5010912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77" name="Shape 109">
              <a:extLst>
                <a:ext uri="{FF2B5EF4-FFF2-40B4-BE49-F238E27FC236}">
                  <a16:creationId xmlns:a16="http://schemas.microsoft.com/office/drawing/2014/main" id="{B9006160-D9EE-A248-1DC4-C24DF7AD05A1}"/>
                </a:ext>
              </a:extLst>
            </p:cNvPr>
            <p:cNvSpPr/>
            <p:nvPr/>
          </p:nvSpPr>
          <p:spPr>
            <a:xfrm>
              <a:off x="201168" y="5010912"/>
              <a:ext cx="1548994" cy="45720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78" name="Text 110">
              <a:extLst>
                <a:ext uri="{FF2B5EF4-FFF2-40B4-BE49-F238E27FC236}">
                  <a16:creationId xmlns:a16="http://schemas.microsoft.com/office/drawing/2014/main" id="{65367DFA-660E-CFCA-FBF1-55B0195911C7}"/>
                </a:ext>
              </a:extLst>
            </p:cNvPr>
            <p:cNvSpPr/>
            <p:nvPr/>
          </p:nvSpPr>
          <p:spPr>
            <a:xfrm>
              <a:off x="274320" y="5029200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i="1" dirty="0">
                  <a:solidFill>
                    <a:srgbClr val="8AABB8"/>
                  </a:solidFill>
                </a:rPr>
                <a:t>Top: 35% from "No Material (Ext)"</a:t>
              </a:r>
              <a:endParaRPr lang="en-US" sz="700" dirty="0"/>
            </a:p>
          </p:txBody>
        </p:sp>
        <p:sp>
          <p:nvSpPr>
            <p:cNvPr id="279" name="Shape 111">
              <a:extLst>
                <a:ext uri="{FF2B5EF4-FFF2-40B4-BE49-F238E27FC236}">
                  <a16:creationId xmlns:a16="http://schemas.microsoft.com/office/drawing/2014/main" id="{25918CF3-0FA1-4CD9-3698-D0497DA5203A}"/>
                </a:ext>
              </a:extLst>
            </p:cNvPr>
            <p:cNvSpPr/>
            <p:nvPr/>
          </p:nvSpPr>
          <p:spPr>
            <a:xfrm>
              <a:off x="3081528" y="3931920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80" name="Text 112">
              <a:extLst>
                <a:ext uri="{FF2B5EF4-FFF2-40B4-BE49-F238E27FC236}">
                  <a16:creationId xmlns:a16="http://schemas.microsoft.com/office/drawing/2014/main" id="{5CF7A0DA-9E59-ADE8-1C48-1BBEF7443E91}"/>
                </a:ext>
              </a:extLst>
            </p:cNvPr>
            <p:cNvSpPr/>
            <p:nvPr/>
          </p:nvSpPr>
          <p:spPr>
            <a:xfrm>
              <a:off x="3172968" y="3968496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IG.01</a:t>
              </a:r>
              <a:endParaRPr lang="en-US" sz="1000" dirty="0"/>
            </a:p>
          </p:txBody>
        </p:sp>
        <p:sp>
          <p:nvSpPr>
            <p:cNvPr id="281" name="Text 113">
              <a:extLst>
                <a:ext uri="{FF2B5EF4-FFF2-40B4-BE49-F238E27FC236}">
                  <a16:creationId xmlns:a16="http://schemas.microsoft.com/office/drawing/2014/main" id="{D4E49736-FB1A-D579-0C39-0192059013FF}"/>
                </a:ext>
              </a:extLst>
            </p:cNvPr>
            <p:cNvSpPr/>
            <p:nvPr/>
          </p:nvSpPr>
          <p:spPr>
            <a:xfrm>
              <a:off x="4544568" y="3968496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00B0F0"/>
                  </a:solidFill>
                </a:rPr>
                <a:t>115 hrs</a:t>
              </a:r>
              <a:endParaRPr lang="en-US" sz="1000" dirty="0">
                <a:solidFill>
                  <a:srgbClr val="00B0F0"/>
                </a:solidFill>
              </a:endParaRPr>
            </a:p>
          </p:txBody>
        </p:sp>
        <p:sp>
          <p:nvSpPr>
            <p:cNvPr id="282" name="Shape 114">
              <a:extLst>
                <a:ext uri="{FF2B5EF4-FFF2-40B4-BE49-F238E27FC236}">
                  <a16:creationId xmlns:a16="http://schemas.microsoft.com/office/drawing/2014/main" id="{70F8B4E1-92E5-184A-D19F-6724C1FA5833}"/>
                </a:ext>
              </a:extLst>
            </p:cNvPr>
            <p:cNvSpPr/>
            <p:nvPr/>
          </p:nvSpPr>
          <p:spPr>
            <a:xfrm>
              <a:off x="3172968" y="4279392"/>
              <a:ext cx="54864" cy="164592"/>
            </a:xfrm>
            <a:prstGeom prst="rect">
              <a:avLst/>
            </a:prstGeom>
            <a:solidFill>
              <a:srgbClr val="FFA726"/>
            </a:solidFill>
            <a:ln w="12700">
              <a:solidFill>
                <a:srgbClr val="FFA726"/>
              </a:solidFill>
              <a:prstDash val="solid"/>
            </a:ln>
          </p:spPr>
        </p:sp>
        <p:sp>
          <p:nvSpPr>
            <p:cNvPr id="283" name="Text 115">
              <a:extLst>
                <a:ext uri="{FF2B5EF4-FFF2-40B4-BE49-F238E27FC236}">
                  <a16:creationId xmlns:a16="http://schemas.microsoft.com/office/drawing/2014/main" id="{4658A009-A36F-3CA8-2F99-07E554D6B618}"/>
                </a:ext>
              </a:extLst>
            </p:cNvPr>
            <p:cNvSpPr/>
            <p:nvPr/>
          </p:nvSpPr>
          <p:spPr>
            <a:xfrm>
              <a:off x="3264408" y="424281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 Material (Ext)</a:t>
              </a:r>
              <a:endParaRPr lang="en-US" sz="850" dirty="0"/>
            </a:p>
          </p:txBody>
        </p:sp>
        <p:sp>
          <p:nvSpPr>
            <p:cNvPr id="284" name="Text 116">
              <a:extLst>
                <a:ext uri="{FF2B5EF4-FFF2-40B4-BE49-F238E27FC236}">
                  <a16:creationId xmlns:a16="http://schemas.microsoft.com/office/drawing/2014/main" id="{7D97A11C-E2CA-4273-F4EE-6E3030A0BCAB}"/>
                </a:ext>
              </a:extLst>
            </p:cNvPr>
            <p:cNvSpPr/>
            <p:nvPr/>
          </p:nvSpPr>
          <p:spPr>
            <a:xfrm>
              <a:off x="5093208" y="424281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32h</a:t>
              </a:r>
              <a:endParaRPr lang="en-US" sz="850" dirty="0"/>
            </a:p>
          </p:txBody>
        </p:sp>
        <p:sp>
          <p:nvSpPr>
            <p:cNvPr id="285" name="Shape 117">
              <a:extLst>
                <a:ext uri="{FF2B5EF4-FFF2-40B4-BE49-F238E27FC236}">
                  <a16:creationId xmlns:a16="http://schemas.microsoft.com/office/drawing/2014/main" id="{71F46DB7-A98A-2C43-9D0D-2420D15B1DA8}"/>
                </a:ext>
              </a:extLst>
            </p:cNvPr>
            <p:cNvSpPr/>
            <p:nvPr/>
          </p:nvSpPr>
          <p:spPr>
            <a:xfrm>
              <a:off x="3172968" y="4572000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86" name="Text 118">
              <a:extLst>
                <a:ext uri="{FF2B5EF4-FFF2-40B4-BE49-F238E27FC236}">
                  <a16:creationId xmlns:a16="http://schemas.microsoft.com/office/drawing/2014/main" id="{F85BB510-375B-BD4A-E0C5-674E10627ADF}"/>
                </a:ext>
              </a:extLst>
            </p:cNvPr>
            <p:cNvSpPr/>
            <p:nvPr/>
          </p:nvSpPr>
          <p:spPr>
            <a:xfrm>
              <a:off x="3264408" y="4535424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 Operator</a:t>
              </a:r>
              <a:endParaRPr lang="en-US" sz="850" dirty="0"/>
            </a:p>
          </p:txBody>
        </p:sp>
        <p:sp>
          <p:nvSpPr>
            <p:cNvPr id="287" name="Text 119">
              <a:extLst>
                <a:ext uri="{FF2B5EF4-FFF2-40B4-BE49-F238E27FC236}">
                  <a16:creationId xmlns:a16="http://schemas.microsoft.com/office/drawing/2014/main" id="{51FE240B-6C6C-5F77-5C80-58B4F5328AA4}"/>
                </a:ext>
              </a:extLst>
            </p:cNvPr>
            <p:cNvSpPr/>
            <p:nvPr/>
          </p:nvSpPr>
          <p:spPr>
            <a:xfrm>
              <a:off x="5093208" y="4535424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22h</a:t>
              </a:r>
              <a:endParaRPr lang="en-US" sz="850" dirty="0"/>
            </a:p>
          </p:txBody>
        </p:sp>
        <p:sp>
          <p:nvSpPr>
            <p:cNvPr id="288" name="Shape 120">
              <a:extLst>
                <a:ext uri="{FF2B5EF4-FFF2-40B4-BE49-F238E27FC236}">
                  <a16:creationId xmlns:a16="http://schemas.microsoft.com/office/drawing/2014/main" id="{BFAE7D77-D9FE-52C6-0151-85F51DC73A7F}"/>
                </a:ext>
              </a:extLst>
            </p:cNvPr>
            <p:cNvSpPr/>
            <p:nvPr/>
          </p:nvSpPr>
          <p:spPr>
            <a:xfrm>
              <a:off x="3081528" y="5010912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89" name="Shape 121">
              <a:extLst>
                <a:ext uri="{FF2B5EF4-FFF2-40B4-BE49-F238E27FC236}">
                  <a16:creationId xmlns:a16="http://schemas.microsoft.com/office/drawing/2014/main" id="{DAB9E543-E888-DC71-7152-0331225809AC}"/>
                </a:ext>
              </a:extLst>
            </p:cNvPr>
            <p:cNvSpPr/>
            <p:nvPr/>
          </p:nvSpPr>
          <p:spPr>
            <a:xfrm>
              <a:off x="3081528" y="5010912"/>
              <a:ext cx="1548994" cy="45720"/>
            </a:xfrm>
            <a:prstGeom prst="rect">
              <a:avLst/>
            </a:prstGeom>
            <a:solidFill>
              <a:srgbClr val="FFA726"/>
            </a:solidFill>
            <a:ln w="12700">
              <a:solidFill>
                <a:srgbClr val="FFA726"/>
              </a:solidFill>
              <a:prstDash val="solid"/>
            </a:ln>
          </p:spPr>
        </p:sp>
        <p:sp>
          <p:nvSpPr>
            <p:cNvPr id="290" name="Text 122">
              <a:extLst>
                <a:ext uri="{FF2B5EF4-FFF2-40B4-BE49-F238E27FC236}">
                  <a16:creationId xmlns:a16="http://schemas.microsoft.com/office/drawing/2014/main" id="{1ADABD7D-C560-66D3-634A-0F1A84A67D35}"/>
                </a:ext>
              </a:extLst>
            </p:cNvPr>
            <p:cNvSpPr/>
            <p:nvPr/>
          </p:nvSpPr>
          <p:spPr>
            <a:xfrm>
              <a:off x="3154680" y="5029200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i="1" dirty="0">
                  <a:solidFill>
                    <a:srgbClr val="8AABB8"/>
                  </a:solidFill>
                </a:rPr>
                <a:t>Top: 28% from "No Material (Ext)"</a:t>
              </a:r>
              <a:endParaRPr lang="en-US" sz="700" dirty="0"/>
            </a:p>
          </p:txBody>
        </p:sp>
        <p:sp>
          <p:nvSpPr>
            <p:cNvPr id="291" name="Shape 123">
              <a:extLst>
                <a:ext uri="{FF2B5EF4-FFF2-40B4-BE49-F238E27FC236}">
                  <a16:creationId xmlns:a16="http://schemas.microsoft.com/office/drawing/2014/main" id="{5919F37D-462C-6331-39E4-B25E52BAE3BD}"/>
                </a:ext>
              </a:extLst>
            </p:cNvPr>
            <p:cNvSpPr/>
            <p:nvPr/>
          </p:nvSpPr>
          <p:spPr>
            <a:xfrm>
              <a:off x="5961888" y="3931920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292" name="Text 124">
              <a:extLst>
                <a:ext uri="{FF2B5EF4-FFF2-40B4-BE49-F238E27FC236}">
                  <a16:creationId xmlns:a16="http://schemas.microsoft.com/office/drawing/2014/main" id="{D1C77341-2155-A7B5-3F38-A13EB4691167}"/>
                </a:ext>
              </a:extLst>
            </p:cNvPr>
            <p:cNvSpPr/>
            <p:nvPr/>
          </p:nvSpPr>
          <p:spPr>
            <a:xfrm>
              <a:off x="6053328" y="3968496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IG.15</a:t>
              </a:r>
              <a:endParaRPr lang="en-US" sz="1000" dirty="0"/>
            </a:p>
          </p:txBody>
        </p:sp>
        <p:sp>
          <p:nvSpPr>
            <p:cNvPr id="293" name="Text 125">
              <a:extLst>
                <a:ext uri="{FF2B5EF4-FFF2-40B4-BE49-F238E27FC236}">
                  <a16:creationId xmlns:a16="http://schemas.microsoft.com/office/drawing/2014/main" id="{984F0AAD-69B3-E02A-F1AF-4E143F201C6A}"/>
                </a:ext>
              </a:extLst>
            </p:cNvPr>
            <p:cNvSpPr/>
            <p:nvPr/>
          </p:nvSpPr>
          <p:spPr>
            <a:xfrm>
              <a:off x="7424928" y="3968496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4FC3F7"/>
                  </a:solidFill>
                </a:rPr>
                <a:t>101 hrs</a:t>
              </a:r>
              <a:endParaRPr lang="en-US" sz="1000" dirty="0"/>
            </a:p>
          </p:txBody>
        </p:sp>
        <p:sp>
          <p:nvSpPr>
            <p:cNvPr id="294" name="Shape 126">
              <a:extLst>
                <a:ext uri="{FF2B5EF4-FFF2-40B4-BE49-F238E27FC236}">
                  <a16:creationId xmlns:a16="http://schemas.microsoft.com/office/drawing/2014/main" id="{CB87164A-B768-7112-83FA-A4C917BA0CDD}"/>
                </a:ext>
              </a:extLst>
            </p:cNvPr>
            <p:cNvSpPr/>
            <p:nvPr/>
          </p:nvSpPr>
          <p:spPr>
            <a:xfrm>
              <a:off x="6053328" y="4279392"/>
              <a:ext cx="54864" cy="164592"/>
            </a:xfrm>
            <a:prstGeom prst="rect">
              <a:avLst/>
            </a:prstGeom>
            <a:solidFill>
              <a:srgbClr val="E84040"/>
            </a:solidFill>
            <a:ln w="12700">
              <a:solidFill>
                <a:srgbClr val="E84040"/>
              </a:solidFill>
              <a:prstDash val="solid"/>
            </a:ln>
          </p:spPr>
        </p:sp>
        <p:sp>
          <p:nvSpPr>
            <p:cNvPr id="295" name="Text 127">
              <a:extLst>
                <a:ext uri="{FF2B5EF4-FFF2-40B4-BE49-F238E27FC236}">
                  <a16:creationId xmlns:a16="http://schemas.microsoft.com/office/drawing/2014/main" id="{4030763C-5380-FF6D-6FF3-98C9D15AEF7A}"/>
                </a:ext>
              </a:extLst>
            </p:cNvPr>
            <p:cNvSpPr/>
            <p:nvPr/>
          </p:nvSpPr>
          <p:spPr>
            <a:xfrm>
              <a:off x="6144768" y="424281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No Operator</a:t>
              </a:r>
              <a:endParaRPr lang="en-US" sz="850" dirty="0"/>
            </a:p>
          </p:txBody>
        </p:sp>
        <p:sp>
          <p:nvSpPr>
            <p:cNvPr id="296" name="Text 128">
              <a:extLst>
                <a:ext uri="{FF2B5EF4-FFF2-40B4-BE49-F238E27FC236}">
                  <a16:creationId xmlns:a16="http://schemas.microsoft.com/office/drawing/2014/main" id="{AB262CB2-2783-DA8D-2FD4-4792889C3A30}"/>
                </a:ext>
              </a:extLst>
            </p:cNvPr>
            <p:cNvSpPr/>
            <p:nvPr/>
          </p:nvSpPr>
          <p:spPr>
            <a:xfrm>
              <a:off x="7973568" y="424281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25h</a:t>
              </a:r>
              <a:endParaRPr lang="en-US" sz="850" dirty="0"/>
            </a:p>
          </p:txBody>
        </p:sp>
        <p:sp>
          <p:nvSpPr>
            <p:cNvPr id="297" name="Shape 129">
              <a:extLst>
                <a:ext uri="{FF2B5EF4-FFF2-40B4-BE49-F238E27FC236}">
                  <a16:creationId xmlns:a16="http://schemas.microsoft.com/office/drawing/2014/main" id="{B1FE0383-CFEC-DE93-4E2C-A7F4C7739094}"/>
                </a:ext>
              </a:extLst>
            </p:cNvPr>
            <p:cNvSpPr/>
            <p:nvPr/>
          </p:nvSpPr>
          <p:spPr>
            <a:xfrm>
              <a:off x="6053328" y="4572000"/>
              <a:ext cx="54864" cy="164592"/>
            </a:xfrm>
            <a:prstGeom prst="rect">
              <a:avLst/>
            </a:prstGeom>
            <a:solidFill>
              <a:srgbClr val="26C6DA"/>
            </a:solidFill>
            <a:ln w="12700">
              <a:solidFill>
                <a:srgbClr val="26C6DA"/>
              </a:solidFill>
              <a:prstDash val="solid"/>
            </a:ln>
          </p:spPr>
        </p:sp>
        <p:sp>
          <p:nvSpPr>
            <p:cNvPr id="298" name="Text 130">
              <a:extLst>
                <a:ext uri="{FF2B5EF4-FFF2-40B4-BE49-F238E27FC236}">
                  <a16:creationId xmlns:a16="http://schemas.microsoft.com/office/drawing/2014/main" id="{DF11574C-3081-245E-6DED-963D448F497E}"/>
                </a:ext>
              </a:extLst>
            </p:cNvPr>
            <p:cNvSpPr/>
            <p:nvPr/>
          </p:nvSpPr>
          <p:spPr>
            <a:xfrm>
              <a:off x="6144768" y="4535424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New Setting</a:t>
              </a:r>
              <a:endParaRPr lang="en-US" sz="850" dirty="0"/>
            </a:p>
          </p:txBody>
        </p:sp>
        <p:sp>
          <p:nvSpPr>
            <p:cNvPr id="299" name="Text 131">
              <a:extLst>
                <a:ext uri="{FF2B5EF4-FFF2-40B4-BE49-F238E27FC236}">
                  <a16:creationId xmlns:a16="http://schemas.microsoft.com/office/drawing/2014/main" id="{CFC5673F-3062-DE6D-61DC-7B08686D4125}"/>
                </a:ext>
              </a:extLst>
            </p:cNvPr>
            <p:cNvSpPr/>
            <p:nvPr/>
          </p:nvSpPr>
          <p:spPr>
            <a:xfrm>
              <a:off x="7973568" y="4535424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19h</a:t>
              </a:r>
              <a:endParaRPr lang="en-US" sz="850" dirty="0"/>
            </a:p>
          </p:txBody>
        </p:sp>
        <p:sp>
          <p:nvSpPr>
            <p:cNvPr id="300" name="Shape 132">
              <a:extLst>
                <a:ext uri="{FF2B5EF4-FFF2-40B4-BE49-F238E27FC236}">
                  <a16:creationId xmlns:a16="http://schemas.microsoft.com/office/drawing/2014/main" id="{1512A568-2950-AEC0-81ED-E8A9BC600DFE}"/>
                </a:ext>
              </a:extLst>
            </p:cNvPr>
            <p:cNvSpPr/>
            <p:nvPr/>
          </p:nvSpPr>
          <p:spPr>
            <a:xfrm>
              <a:off x="5961888" y="5010912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301" name="Shape 133">
              <a:extLst>
                <a:ext uri="{FF2B5EF4-FFF2-40B4-BE49-F238E27FC236}">
                  <a16:creationId xmlns:a16="http://schemas.microsoft.com/office/drawing/2014/main" id="{33B6C7F4-CD88-1CA6-434C-AC95DB5EF372}"/>
                </a:ext>
              </a:extLst>
            </p:cNvPr>
            <p:cNvSpPr/>
            <p:nvPr/>
          </p:nvSpPr>
          <p:spPr>
            <a:xfrm>
              <a:off x="5961888" y="5010912"/>
              <a:ext cx="1548994" cy="45720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302" name="Text 134">
              <a:extLst>
                <a:ext uri="{FF2B5EF4-FFF2-40B4-BE49-F238E27FC236}">
                  <a16:creationId xmlns:a16="http://schemas.microsoft.com/office/drawing/2014/main" id="{9E956158-5A99-4C12-F5FB-0CBE94777713}"/>
                </a:ext>
              </a:extLst>
            </p:cNvPr>
            <p:cNvSpPr/>
            <p:nvPr/>
          </p:nvSpPr>
          <p:spPr>
            <a:xfrm>
              <a:off x="6035040" y="5029200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i="1" dirty="0">
                  <a:solidFill>
                    <a:srgbClr val="8AABB8"/>
                  </a:solidFill>
                </a:rPr>
                <a:t>Top: 24% from "No Operator"</a:t>
              </a:r>
              <a:endParaRPr lang="en-US" sz="700" dirty="0"/>
            </a:p>
          </p:txBody>
        </p:sp>
        <p:sp>
          <p:nvSpPr>
            <p:cNvPr id="303" name="Shape 135">
              <a:extLst>
                <a:ext uri="{FF2B5EF4-FFF2-40B4-BE49-F238E27FC236}">
                  <a16:creationId xmlns:a16="http://schemas.microsoft.com/office/drawing/2014/main" id="{1E88B1A5-F615-E537-D850-031429F473CA}"/>
                </a:ext>
              </a:extLst>
            </p:cNvPr>
            <p:cNvSpPr/>
            <p:nvPr/>
          </p:nvSpPr>
          <p:spPr>
            <a:xfrm>
              <a:off x="8842248" y="3931920"/>
              <a:ext cx="2816352" cy="1353312"/>
            </a:xfrm>
            <a:prstGeom prst="rect">
              <a:avLst/>
            </a:prstGeom>
            <a:solidFill>
              <a:srgbClr val="1E2A38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304" name="Text 136">
              <a:extLst>
                <a:ext uri="{FF2B5EF4-FFF2-40B4-BE49-F238E27FC236}">
                  <a16:creationId xmlns:a16="http://schemas.microsoft.com/office/drawing/2014/main" id="{CE52F3D1-A10F-1A7A-11DC-05BB0E32D828}"/>
                </a:ext>
              </a:extLst>
            </p:cNvPr>
            <p:cNvSpPr/>
            <p:nvPr/>
          </p:nvSpPr>
          <p:spPr>
            <a:xfrm>
              <a:off x="8933688" y="3968496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IG.16</a:t>
              </a:r>
              <a:endParaRPr lang="en-US" sz="1000" dirty="0"/>
            </a:p>
          </p:txBody>
        </p:sp>
        <p:sp>
          <p:nvSpPr>
            <p:cNvPr id="305" name="Text 137">
              <a:extLst>
                <a:ext uri="{FF2B5EF4-FFF2-40B4-BE49-F238E27FC236}">
                  <a16:creationId xmlns:a16="http://schemas.microsoft.com/office/drawing/2014/main" id="{F636CE48-8C34-04C5-0E5B-A3E7481E3A49}"/>
                </a:ext>
              </a:extLst>
            </p:cNvPr>
            <p:cNvSpPr/>
            <p:nvPr/>
          </p:nvSpPr>
          <p:spPr>
            <a:xfrm>
              <a:off x="10305288" y="3968496"/>
              <a:ext cx="126187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66BB6A"/>
                  </a:solidFill>
                </a:rPr>
                <a:t>69 hrs</a:t>
              </a:r>
              <a:endParaRPr lang="en-US" sz="1000" dirty="0"/>
            </a:p>
          </p:txBody>
        </p:sp>
        <p:sp>
          <p:nvSpPr>
            <p:cNvPr id="306" name="Shape 138">
              <a:extLst>
                <a:ext uri="{FF2B5EF4-FFF2-40B4-BE49-F238E27FC236}">
                  <a16:creationId xmlns:a16="http://schemas.microsoft.com/office/drawing/2014/main" id="{D71FD695-A31C-37EF-C440-8C5460641234}"/>
                </a:ext>
              </a:extLst>
            </p:cNvPr>
            <p:cNvSpPr/>
            <p:nvPr/>
          </p:nvSpPr>
          <p:spPr>
            <a:xfrm>
              <a:off x="8933688" y="4279392"/>
              <a:ext cx="54864" cy="164592"/>
            </a:xfrm>
            <a:prstGeom prst="rect">
              <a:avLst/>
            </a:prstGeom>
            <a:solidFill>
              <a:srgbClr val="4FC3F7"/>
            </a:solidFill>
            <a:ln w="12700">
              <a:solidFill>
                <a:srgbClr val="4FC3F7"/>
              </a:solidFill>
              <a:prstDash val="solid"/>
            </a:ln>
          </p:spPr>
        </p:sp>
        <p:sp>
          <p:nvSpPr>
            <p:cNvPr id="307" name="Text 139">
              <a:extLst>
                <a:ext uri="{FF2B5EF4-FFF2-40B4-BE49-F238E27FC236}">
                  <a16:creationId xmlns:a16="http://schemas.microsoft.com/office/drawing/2014/main" id="{E681B02E-AC0D-C90B-D268-2CDF0C0C471E}"/>
                </a:ext>
              </a:extLst>
            </p:cNvPr>
            <p:cNvSpPr/>
            <p:nvPr/>
          </p:nvSpPr>
          <p:spPr>
            <a:xfrm>
              <a:off x="9025128" y="424281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Wheel Change</a:t>
              </a:r>
              <a:endParaRPr lang="en-US" sz="850" dirty="0"/>
            </a:p>
          </p:txBody>
        </p:sp>
        <p:sp>
          <p:nvSpPr>
            <p:cNvPr id="308" name="Text 140">
              <a:extLst>
                <a:ext uri="{FF2B5EF4-FFF2-40B4-BE49-F238E27FC236}">
                  <a16:creationId xmlns:a16="http://schemas.microsoft.com/office/drawing/2014/main" id="{FFD597C9-BAC8-F7BC-95C7-988E851855A5}"/>
                </a:ext>
              </a:extLst>
            </p:cNvPr>
            <p:cNvSpPr/>
            <p:nvPr/>
          </p:nvSpPr>
          <p:spPr>
            <a:xfrm>
              <a:off x="10853928" y="4242816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14h</a:t>
              </a:r>
              <a:endParaRPr lang="en-US" sz="850" dirty="0"/>
            </a:p>
          </p:txBody>
        </p:sp>
        <p:sp>
          <p:nvSpPr>
            <p:cNvPr id="309" name="Shape 141">
              <a:extLst>
                <a:ext uri="{FF2B5EF4-FFF2-40B4-BE49-F238E27FC236}">
                  <a16:creationId xmlns:a16="http://schemas.microsoft.com/office/drawing/2014/main" id="{36F20B2A-4EA7-6000-275D-4257341EA8F6}"/>
                </a:ext>
              </a:extLst>
            </p:cNvPr>
            <p:cNvSpPr/>
            <p:nvPr/>
          </p:nvSpPr>
          <p:spPr>
            <a:xfrm>
              <a:off x="8933688" y="4572000"/>
              <a:ext cx="54864" cy="164592"/>
            </a:xfrm>
            <a:prstGeom prst="rect">
              <a:avLst/>
            </a:prstGeom>
            <a:solidFill>
              <a:srgbClr val="26C6DA"/>
            </a:solidFill>
            <a:ln w="12700">
              <a:solidFill>
                <a:srgbClr val="26C6DA"/>
              </a:solidFill>
              <a:prstDash val="solid"/>
            </a:ln>
          </p:spPr>
        </p:sp>
        <p:sp>
          <p:nvSpPr>
            <p:cNvPr id="310" name="Text 142">
              <a:extLst>
                <a:ext uri="{FF2B5EF4-FFF2-40B4-BE49-F238E27FC236}">
                  <a16:creationId xmlns:a16="http://schemas.microsoft.com/office/drawing/2014/main" id="{D2F87EBA-1F6A-2AC0-C202-C41BA31F2D22}"/>
                </a:ext>
              </a:extLst>
            </p:cNvPr>
            <p:cNvSpPr/>
            <p:nvPr/>
          </p:nvSpPr>
          <p:spPr>
            <a:xfrm>
              <a:off x="9025128" y="4535424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C8D8E8"/>
                  </a:solidFill>
                </a:rPr>
                <a:t>New Setting</a:t>
              </a:r>
              <a:endParaRPr lang="en-US" sz="850" dirty="0"/>
            </a:p>
          </p:txBody>
        </p:sp>
        <p:sp>
          <p:nvSpPr>
            <p:cNvPr id="311" name="Text 143">
              <a:extLst>
                <a:ext uri="{FF2B5EF4-FFF2-40B4-BE49-F238E27FC236}">
                  <a16:creationId xmlns:a16="http://schemas.microsoft.com/office/drawing/2014/main" id="{1453F92F-0B1E-5184-78F5-32F05DFDB39D}"/>
                </a:ext>
              </a:extLst>
            </p:cNvPr>
            <p:cNvSpPr/>
            <p:nvPr/>
          </p:nvSpPr>
          <p:spPr>
            <a:xfrm>
              <a:off x="10853928" y="4535424"/>
              <a:ext cx="71323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 dirty="0">
                  <a:solidFill>
                    <a:srgbClr val="FF6B6B"/>
                  </a:solidFill>
                </a:rPr>
                <a:t>12h</a:t>
              </a:r>
              <a:endParaRPr lang="en-US" sz="850" dirty="0"/>
            </a:p>
          </p:txBody>
        </p:sp>
        <p:sp>
          <p:nvSpPr>
            <p:cNvPr id="312" name="Shape 144">
              <a:extLst>
                <a:ext uri="{FF2B5EF4-FFF2-40B4-BE49-F238E27FC236}">
                  <a16:creationId xmlns:a16="http://schemas.microsoft.com/office/drawing/2014/main" id="{AF2B2A14-1FB7-C571-C1E4-EEA7CD6F0A23}"/>
                </a:ext>
              </a:extLst>
            </p:cNvPr>
            <p:cNvSpPr/>
            <p:nvPr/>
          </p:nvSpPr>
          <p:spPr>
            <a:xfrm>
              <a:off x="8876061" y="5029200"/>
              <a:ext cx="2816352" cy="274320"/>
            </a:xfrm>
            <a:prstGeom prst="rect">
              <a:avLst/>
            </a:prstGeom>
            <a:solidFill>
              <a:srgbClr val="162030"/>
            </a:solidFill>
            <a:ln w="12700">
              <a:solidFill>
                <a:srgbClr val="2E3F55"/>
              </a:solidFill>
              <a:prstDash val="solid"/>
            </a:ln>
          </p:spPr>
        </p:sp>
        <p:sp>
          <p:nvSpPr>
            <p:cNvPr id="313" name="Shape 145">
              <a:extLst>
                <a:ext uri="{FF2B5EF4-FFF2-40B4-BE49-F238E27FC236}">
                  <a16:creationId xmlns:a16="http://schemas.microsoft.com/office/drawing/2014/main" id="{D5AFE6F2-0696-5CC2-AD03-67902947AA9D}"/>
                </a:ext>
              </a:extLst>
            </p:cNvPr>
            <p:cNvSpPr/>
            <p:nvPr/>
          </p:nvSpPr>
          <p:spPr>
            <a:xfrm>
              <a:off x="8842248" y="5010912"/>
              <a:ext cx="1548994" cy="45720"/>
            </a:xfrm>
            <a:prstGeom prst="rect">
              <a:avLst/>
            </a:prstGeom>
            <a:solidFill>
              <a:srgbClr val="66BB6A"/>
            </a:solidFill>
            <a:ln w="12700">
              <a:solidFill>
                <a:srgbClr val="66BB6A"/>
              </a:solidFill>
              <a:prstDash val="solid"/>
            </a:ln>
          </p:spPr>
        </p:sp>
        <p:sp>
          <p:nvSpPr>
            <p:cNvPr id="314" name="Text 146">
              <a:extLst>
                <a:ext uri="{FF2B5EF4-FFF2-40B4-BE49-F238E27FC236}">
                  <a16:creationId xmlns:a16="http://schemas.microsoft.com/office/drawing/2014/main" id="{9D9185E6-2AAE-DED7-25E7-6531F8F6EA5E}"/>
                </a:ext>
              </a:extLst>
            </p:cNvPr>
            <p:cNvSpPr/>
            <p:nvPr/>
          </p:nvSpPr>
          <p:spPr>
            <a:xfrm>
              <a:off x="8915400" y="5029200"/>
              <a:ext cx="26700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i="1" dirty="0">
                  <a:solidFill>
                    <a:srgbClr val="8AABB8"/>
                  </a:solidFill>
                </a:rPr>
                <a:t>Top: 20% from "Wheel Change"</a:t>
              </a:r>
              <a:endParaRPr lang="en-US" sz="700" dirty="0"/>
            </a:p>
          </p:txBody>
        </p:sp>
      </p:grpSp>
      <p:sp>
        <p:nvSpPr>
          <p:cNvPr id="315" name="TextBox 314">
            <a:extLst>
              <a:ext uri="{FF2B5EF4-FFF2-40B4-BE49-F238E27FC236}">
                <a16:creationId xmlns:a16="http://schemas.microsoft.com/office/drawing/2014/main" id="{7A02AC59-D729-8983-0A39-FF4B47EC6FE7}"/>
              </a:ext>
            </a:extLst>
          </p:cNvPr>
          <p:cNvSpPr txBox="1"/>
          <p:nvPr/>
        </p:nvSpPr>
        <p:spPr>
          <a:xfrm>
            <a:off x="5077185" y="217540"/>
            <a:ext cx="1742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Total: 2,510 | 12 M/C</a:t>
            </a:r>
            <a:endParaRPr lang="en-IN" sz="1400" dirty="0"/>
          </a:p>
        </p:txBody>
      </p:sp>
      <p:sp>
        <p:nvSpPr>
          <p:cNvPr id="316" name="Shape 159">
            <a:extLst>
              <a:ext uri="{FF2B5EF4-FFF2-40B4-BE49-F238E27FC236}">
                <a16:creationId xmlns:a16="http://schemas.microsoft.com/office/drawing/2014/main" id="{B079F4B2-A216-C8CC-B11F-3E7DD9001EAF}"/>
              </a:ext>
            </a:extLst>
          </p:cNvPr>
          <p:cNvSpPr/>
          <p:nvPr/>
        </p:nvSpPr>
        <p:spPr>
          <a:xfrm>
            <a:off x="110144" y="4788132"/>
            <a:ext cx="137160" cy="137160"/>
          </a:xfrm>
          <a:prstGeom prst="rect">
            <a:avLst/>
          </a:prstGeom>
          <a:solidFill>
            <a:srgbClr val="E03B3B"/>
          </a:solidFill>
          <a:ln w="12700">
            <a:solidFill>
              <a:srgbClr val="E03B3B"/>
            </a:solidFill>
            <a:prstDash val="solid"/>
          </a:ln>
        </p:spPr>
      </p:sp>
      <p:sp>
        <p:nvSpPr>
          <p:cNvPr id="317" name="Text 160">
            <a:extLst>
              <a:ext uri="{FF2B5EF4-FFF2-40B4-BE49-F238E27FC236}">
                <a16:creationId xmlns:a16="http://schemas.microsoft.com/office/drawing/2014/main" id="{CC9A9041-48A2-F93B-917A-16259C410178}"/>
              </a:ext>
            </a:extLst>
          </p:cNvPr>
          <p:cNvSpPr/>
          <p:nvPr/>
        </p:nvSpPr>
        <p:spPr>
          <a:xfrm>
            <a:off x="262544" y="476984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&gt;250 hrs — Critical</a:t>
            </a:r>
            <a:endParaRPr lang="en-US" sz="850" dirty="0"/>
          </a:p>
        </p:txBody>
      </p:sp>
      <p:sp>
        <p:nvSpPr>
          <p:cNvPr id="318" name="Shape 161">
            <a:extLst>
              <a:ext uri="{FF2B5EF4-FFF2-40B4-BE49-F238E27FC236}">
                <a16:creationId xmlns:a16="http://schemas.microsoft.com/office/drawing/2014/main" id="{FCC2D00B-3F3F-0FB4-7FD9-D378FB277DEB}"/>
              </a:ext>
            </a:extLst>
          </p:cNvPr>
          <p:cNvSpPr/>
          <p:nvPr/>
        </p:nvSpPr>
        <p:spPr>
          <a:xfrm>
            <a:off x="1592996" y="4788132"/>
            <a:ext cx="137160" cy="137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9" name="Text 162">
            <a:extLst>
              <a:ext uri="{FF2B5EF4-FFF2-40B4-BE49-F238E27FC236}">
                <a16:creationId xmlns:a16="http://schemas.microsoft.com/office/drawing/2014/main" id="{6D6A9E21-0CEA-BC2E-CF3A-6FF2A5E5F0FE}"/>
              </a:ext>
            </a:extLst>
          </p:cNvPr>
          <p:cNvSpPr/>
          <p:nvPr/>
        </p:nvSpPr>
        <p:spPr>
          <a:xfrm>
            <a:off x="1745396" y="476984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150–250 hrs — High</a:t>
            </a:r>
            <a:endParaRPr lang="en-US" sz="850" dirty="0"/>
          </a:p>
        </p:txBody>
      </p:sp>
      <p:sp>
        <p:nvSpPr>
          <p:cNvPr id="320" name="Shape 163">
            <a:extLst>
              <a:ext uri="{FF2B5EF4-FFF2-40B4-BE49-F238E27FC236}">
                <a16:creationId xmlns:a16="http://schemas.microsoft.com/office/drawing/2014/main" id="{77F6CD9F-4DCF-DE14-72FF-ABAC9591C60B}"/>
              </a:ext>
            </a:extLst>
          </p:cNvPr>
          <p:cNvSpPr/>
          <p:nvPr/>
        </p:nvSpPr>
        <p:spPr>
          <a:xfrm>
            <a:off x="3030128" y="4788132"/>
            <a:ext cx="137160" cy="137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1" name="Text 164">
            <a:extLst>
              <a:ext uri="{FF2B5EF4-FFF2-40B4-BE49-F238E27FC236}">
                <a16:creationId xmlns:a16="http://schemas.microsoft.com/office/drawing/2014/main" id="{AF5DFBBC-25EF-9707-DDF5-6EA15A8DFFF9}"/>
              </a:ext>
            </a:extLst>
          </p:cNvPr>
          <p:cNvSpPr/>
          <p:nvPr/>
        </p:nvSpPr>
        <p:spPr>
          <a:xfrm>
            <a:off x="3182528" y="476984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80–150 hrs — Medium</a:t>
            </a:r>
            <a:endParaRPr lang="en-US" sz="850" dirty="0"/>
          </a:p>
        </p:txBody>
      </p:sp>
      <p:sp>
        <p:nvSpPr>
          <p:cNvPr id="322" name="Shape 165">
            <a:extLst>
              <a:ext uri="{FF2B5EF4-FFF2-40B4-BE49-F238E27FC236}">
                <a16:creationId xmlns:a16="http://schemas.microsoft.com/office/drawing/2014/main" id="{A94DADE4-B094-2B16-E891-9CE17A1D25D8}"/>
              </a:ext>
            </a:extLst>
          </p:cNvPr>
          <p:cNvSpPr/>
          <p:nvPr/>
        </p:nvSpPr>
        <p:spPr>
          <a:xfrm>
            <a:off x="4543460" y="4788132"/>
            <a:ext cx="137160" cy="137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3" name="Text 166">
            <a:extLst>
              <a:ext uri="{FF2B5EF4-FFF2-40B4-BE49-F238E27FC236}">
                <a16:creationId xmlns:a16="http://schemas.microsoft.com/office/drawing/2014/main" id="{B8BA95E2-7042-C7B4-E1E0-B9F881745738}"/>
              </a:ext>
            </a:extLst>
          </p:cNvPr>
          <p:cNvSpPr/>
          <p:nvPr/>
        </p:nvSpPr>
        <p:spPr>
          <a:xfrm>
            <a:off x="4680620" y="4782312"/>
            <a:ext cx="866740" cy="170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&lt;80 hrs — Low</a:t>
            </a:r>
            <a:endParaRPr lang="en-US" sz="850" dirty="0"/>
          </a:p>
        </p:txBody>
      </p:sp>
      <p:pic>
        <p:nvPicPr>
          <p:cNvPr id="331" name="Graphic 330" descr="Back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15D7E4B6-E1AE-3619-3E82-EEA774C932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19600" y="4617720"/>
            <a:ext cx="495111" cy="495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9F0624-AF63-8597-9971-99EDBC00E304}"/>
              </a:ext>
            </a:extLst>
          </p:cNvPr>
          <p:cNvSpPr txBox="1"/>
          <p:nvPr/>
        </p:nvSpPr>
        <p:spPr>
          <a:xfrm>
            <a:off x="5473676" y="1069994"/>
            <a:ext cx="35410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>
                <a:solidFill>
                  <a:srgbClr val="FF0000"/>
                </a:solidFill>
              </a:rPr>
              <a:t>Critical Machines </a:t>
            </a:r>
            <a:r>
              <a:rPr lang="en-US" sz="1400" b="1" u="sng" dirty="0"/>
              <a:t>(&gt;250 </a:t>
            </a:r>
            <a:r>
              <a:rPr lang="en-US" sz="1400" b="1" u="sng" dirty="0" err="1"/>
              <a:t>hrs</a:t>
            </a:r>
            <a:r>
              <a:rPr lang="en-US" sz="1400" b="1" u="sng" dirty="0"/>
              <a:t> Downtime)</a:t>
            </a:r>
          </a:p>
          <a:p>
            <a:pPr algn="ctr"/>
            <a:endParaRPr lang="en-US" sz="1200" b="1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IG.19 (367 </a:t>
            </a:r>
            <a:r>
              <a:rPr lang="en-US" sz="1200" b="1" dirty="0" err="1"/>
              <a:t>hrs</a:t>
            </a:r>
            <a:r>
              <a:rPr lang="en-US" sz="1200" b="1" dirty="0"/>
              <a:t>):</a:t>
            </a:r>
            <a:r>
              <a:rPr lang="en-US" sz="1200" dirty="0"/>
              <a:t> Highest downtime; majorly due to </a:t>
            </a:r>
            <a:r>
              <a:rPr lang="en-US" sz="1200" b="1" dirty="0"/>
              <a:t>No Operator (191h)</a:t>
            </a:r>
            <a:r>
              <a:rPr lang="en-US" sz="1200" dirty="0"/>
              <a:t> and </a:t>
            </a:r>
            <a:r>
              <a:rPr lang="en-US" sz="1200" b="1" dirty="0"/>
              <a:t>Not In Plan (96h)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IG.17 (332 </a:t>
            </a:r>
            <a:r>
              <a:rPr lang="en-US" sz="1200" b="1" dirty="0" err="1"/>
              <a:t>hrs</a:t>
            </a:r>
            <a:r>
              <a:rPr lang="en-US" sz="1200" b="1" dirty="0"/>
              <a:t>):</a:t>
            </a:r>
            <a:r>
              <a:rPr lang="en-US" sz="1200" dirty="0"/>
              <a:t> Driven by </a:t>
            </a:r>
            <a:r>
              <a:rPr lang="en-US" sz="1200" b="1" dirty="0"/>
              <a:t>No Operator (179h)</a:t>
            </a:r>
            <a:r>
              <a:rPr lang="en-US" sz="1200" dirty="0"/>
              <a:t> and </a:t>
            </a:r>
            <a:r>
              <a:rPr lang="en-US" sz="1200" b="1" dirty="0"/>
              <a:t>Mechanical Maintenance (56h)</a:t>
            </a:r>
            <a:r>
              <a:rPr lang="en-US" sz="1200" dirty="0"/>
              <a:t> issues.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IG.20 (302 </a:t>
            </a:r>
            <a:r>
              <a:rPr lang="en-US" sz="1200" b="1" dirty="0" err="1"/>
              <a:t>hrs</a:t>
            </a:r>
            <a:r>
              <a:rPr lang="en-US" sz="1200" b="1" dirty="0"/>
              <a:t>):</a:t>
            </a:r>
            <a:r>
              <a:rPr lang="en-US" sz="1200" dirty="0"/>
              <a:t> Primarily affected by </a:t>
            </a:r>
            <a:r>
              <a:rPr lang="en-US" sz="1200" b="1" dirty="0"/>
              <a:t>No Operator (180h)</a:t>
            </a:r>
            <a:r>
              <a:rPr lang="en-US" sz="1200" dirty="0"/>
              <a:t> and </a:t>
            </a:r>
            <a:r>
              <a:rPr lang="en-US" sz="1200" b="1" dirty="0"/>
              <a:t>Not In Plan (72h)</a:t>
            </a:r>
            <a:r>
              <a:rPr lang="en-US" sz="1200" dirty="0"/>
              <a:t> gaps.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IG.11 (261 </a:t>
            </a:r>
            <a:r>
              <a:rPr lang="en-US" sz="1200" b="1" dirty="0" err="1"/>
              <a:t>hrs</a:t>
            </a:r>
            <a:r>
              <a:rPr lang="en-US" sz="1200" b="1" dirty="0"/>
              <a:t>):</a:t>
            </a:r>
            <a:r>
              <a:rPr lang="en-US" sz="1200" dirty="0"/>
              <a:t> Main losses from </a:t>
            </a:r>
            <a:r>
              <a:rPr lang="en-US" sz="1200" b="1" dirty="0"/>
              <a:t>No Operator (165h)</a:t>
            </a:r>
            <a:r>
              <a:rPr lang="en-US" sz="1200" dirty="0"/>
              <a:t> and </a:t>
            </a:r>
            <a:r>
              <a:rPr lang="en-US" sz="1200" b="1" dirty="0"/>
              <a:t>Not In Plan (40h)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IG.12 (261 </a:t>
            </a:r>
            <a:r>
              <a:rPr lang="en-US" sz="1200" b="1" dirty="0" err="1"/>
              <a:t>hrs</a:t>
            </a:r>
            <a:r>
              <a:rPr lang="en-US" sz="1200" b="1" dirty="0"/>
              <a:t>):</a:t>
            </a:r>
            <a:r>
              <a:rPr lang="en-US" sz="1200" dirty="0"/>
              <a:t> Primary issue is </a:t>
            </a:r>
            <a:r>
              <a:rPr lang="en-US" sz="1200" b="1" dirty="0"/>
              <a:t>Not In Plan (144h)</a:t>
            </a:r>
            <a:r>
              <a:rPr lang="en-US" sz="1200" dirty="0"/>
              <a:t>, followed by </a:t>
            </a:r>
            <a:r>
              <a:rPr lang="en-US" sz="1200" b="1" dirty="0"/>
              <a:t>No Operator (66h</a:t>
            </a:r>
            <a:r>
              <a:rPr lang="en-US" sz="1400" b="1" dirty="0"/>
              <a:t>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52497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87EC85-524E-7FD9-9343-8CF54B70FA46}"/>
              </a:ext>
            </a:extLst>
          </p:cNvPr>
          <p:cNvSpPr txBox="1"/>
          <p:nvPr/>
        </p:nvSpPr>
        <p:spPr>
          <a:xfrm>
            <a:off x="3276600" y="1061723"/>
            <a:ext cx="291084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>
                <a:solidFill>
                  <a:srgbClr val="FF0000"/>
                </a:solidFill>
              </a:rPr>
              <a:t>Medium &amp; Low Downtime Machines </a:t>
            </a:r>
            <a:r>
              <a:rPr lang="en-US" sz="1400" b="1" dirty="0">
                <a:solidFill>
                  <a:srgbClr val="FF0000"/>
                </a:solidFill>
              </a:rPr>
              <a:t>(&lt;150 </a:t>
            </a:r>
            <a:r>
              <a:rPr lang="en-US" sz="1400" b="1" dirty="0" err="1">
                <a:solidFill>
                  <a:srgbClr val="FF0000"/>
                </a:solidFill>
              </a:rPr>
              <a:t>hrs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IG.04 (134 </a:t>
            </a:r>
            <a:r>
              <a:rPr lang="en-US" sz="1200" b="1" dirty="0" err="1"/>
              <a:t>hrs</a:t>
            </a:r>
            <a:r>
              <a:rPr lang="en-US" sz="1200" b="1" dirty="0"/>
              <a:t>):</a:t>
            </a:r>
            <a:r>
              <a:rPr lang="en-US" sz="1200" dirty="0"/>
              <a:t> High </a:t>
            </a:r>
            <a:r>
              <a:rPr lang="en-US" sz="1200" b="1" dirty="0"/>
              <a:t>Wheel Change</a:t>
            </a:r>
            <a:r>
              <a:rPr lang="en-US" sz="1200" dirty="0"/>
              <a:t> time and </a:t>
            </a:r>
            <a:r>
              <a:rPr lang="en-US" sz="1200" b="1" dirty="0"/>
              <a:t>No Operator</a:t>
            </a:r>
            <a:r>
              <a:rPr lang="en-US" sz="1200" dirty="0"/>
              <a:t> issues.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IG.14 (115 </a:t>
            </a:r>
            <a:r>
              <a:rPr lang="en-US" sz="1200" b="1" dirty="0" err="1"/>
              <a:t>hrs</a:t>
            </a:r>
            <a:r>
              <a:rPr lang="en-US" sz="1200" b="1" dirty="0"/>
              <a:t>):</a:t>
            </a:r>
            <a:r>
              <a:rPr lang="en-US" sz="1200" dirty="0"/>
              <a:t> Impacted by </a:t>
            </a:r>
            <a:r>
              <a:rPr lang="en-US" sz="1200" b="1" dirty="0"/>
              <a:t>External Material Shortage</a:t>
            </a:r>
            <a:r>
              <a:rPr lang="en-US" sz="1200" dirty="0"/>
              <a:t> and </a:t>
            </a:r>
            <a:r>
              <a:rPr lang="en-US" sz="1200" b="1" dirty="0"/>
              <a:t>Wheel Change</a:t>
            </a:r>
            <a:r>
              <a:rPr lang="en-US" sz="1200" dirty="0"/>
              <a:t> delays.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IG.01 (115 </a:t>
            </a:r>
            <a:r>
              <a:rPr lang="en-US" sz="1200" b="1" dirty="0" err="1"/>
              <a:t>hrs</a:t>
            </a:r>
            <a:r>
              <a:rPr lang="en-US" sz="1200" b="1" dirty="0"/>
              <a:t>):</a:t>
            </a:r>
            <a:r>
              <a:rPr lang="en-US" sz="1200" dirty="0"/>
              <a:t> Primarily affected by </a:t>
            </a:r>
            <a:r>
              <a:rPr lang="en-US" sz="1200" b="1" dirty="0"/>
              <a:t>External Material Shortage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IG.15 (101 </a:t>
            </a:r>
            <a:r>
              <a:rPr lang="en-US" sz="1200" b="1" dirty="0" err="1"/>
              <a:t>hrs</a:t>
            </a:r>
            <a:r>
              <a:rPr lang="en-US" sz="1200" b="1" dirty="0"/>
              <a:t>):</a:t>
            </a:r>
            <a:r>
              <a:rPr lang="en-US" sz="1200" dirty="0"/>
              <a:t> Issues with </a:t>
            </a:r>
            <a:r>
              <a:rPr lang="en-US" sz="1200" b="1" dirty="0"/>
              <a:t>No Operator</a:t>
            </a:r>
            <a:r>
              <a:rPr lang="en-US" sz="1200" dirty="0"/>
              <a:t> and </a:t>
            </a:r>
            <a:r>
              <a:rPr lang="en-US" sz="1200" b="1" dirty="0"/>
              <a:t>New Setting</a:t>
            </a:r>
            <a:r>
              <a:rPr lang="en-US" sz="1200" dirty="0"/>
              <a:t> times.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IG.16 (69 </a:t>
            </a:r>
            <a:r>
              <a:rPr lang="en-US" sz="1200" b="1" dirty="0" err="1"/>
              <a:t>hrs</a:t>
            </a:r>
            <a:r>
              <a:rPr lang="en-US" sz="1200" b="1" dirty="0"/>
              <a:t>):</a:t>
            </a:r>
            <a:r>
              <a:rPr lang="en-US" sz="1200" dirty="0"/>
              <a:t> Technical delays due to </a:t>
            </a:r>
            <a:r>
              <a:rPr lang="en-US" sz="1200" b="1" dirty="0"/>
              <a:t>Wheel Change</a:t>
            </a:r>
            <a:r>
              <a:rPr lang="en-US" sz="1200" dirty="0"/>
              <a:t> and </a:t>
            </a:r>
            <a:r>
              <a:rPr lang="en-US" sz="1200" b="1" dirty="0"/>
              <a:t>New Settings</a:t>
            </a:r>
            <a:r>
              <a:rPr lang="en-US" sz="1200" dirty="0"/>
              <a:t>.</a:t>
            </a:r>
          </a:p>
        </p:txBody>
      </p:sp>
      <p:sp>
        <p:nvSpPr>
          <p:cNvPr id="4" name="Shape 0">
            <a:hlinkClick r:id="rId2" action="ppaction://hlinksldjump"/>
            <a:extLst>
              <a:ext uri="{FF2B5EF4-FFF2-40B4-BE49-F238E27FC236}">
                <a16:creationId xmlns:a16="http://schemas.microsoft.com/office/drawing/2014/main" id="{6A7D2CDF-3736-97BB-1B85-5A9342B639C7}"/>
              </a:ext>
            </a:extLst>
          </p:cNvPr>
          <p:cNvSpPr/>
          <p:nvPr/>
        </p:nvSpPr>
        <p:spPr>
          <a:xfrm>
            <a:off x="0" y="-7034"/>
            <a:ext cx="91440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7CCE210F-399A-F1BD-67B4-EB3B5646C193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75877A0-E4C7-B11F-849F-4492E21F1003}"/>
              </a:ext>
            </a:extLst>
          </p:cNvPr>
          <p:cNvSpPr/>
          <p:nvPr/>
        </p:nvSpPr>
        <p:spPr>
          <a:xfrm>
            <a:off x="274320" y="5486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Calibri "/>
                <a:ea typeface="Liter" pitchFamily="34" charset="-122"/>
              </a:rPr>
              <a:t>IG Section – Downtime Analysis </a:t>
            </a:r>
            <a:endParaRPr lang="en-US" sz="2000" b="1" dirty="0">
              <a:latin typeface="Calibri 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CDFA2-64FC-817B-E8E2-5351F70A8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1851"/>
            <a:ext cx="1185735" cy="6494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12031D-F589-D328-76F3-873F15D5FF64}"/>
              </a:ext>
            </a:extLst>
          </p:cNvPr>
          <p:cNvSpPr txBox="1"/>
          <p:nvPr/>
        </p:nvSpPr>
        <p:spPr>
          <a:xfrm>
            <a:off x="5077185" y="217540"/>
            <a:ext cx="1742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Total: 2,510 | 12 M/C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0AB46-EA16-A3C7-0EBF-0995B7935463}"/>
              </a:ext>
            </a:extLst>
          </p:cNvPr>
          <p:cNvSpPr txBox="1"/>
          <p:nvPr/>
        </p:nvSpPr>
        <p:spPr>
          <a:xfrm>
            <a:off x="6534975" y="1061930"/>
            <a:ext cx="2365182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b="1" u="sng" dirty="0">
                <a:solidFill>
                  <a:srgbClr val="FF0000"/>
                </a:solidFill>
              </a:rPr>
              <a:t>Final Analysis: Root Causes</a:t>
            </a:r>
          </a:p>
          <a:p>
            <a:pPr>
              <a:buNone/>
            </a:pPr>
            <a:endParaRPr lang="en-US" sz="1200" b="1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Labor Shortage (No Operator):</a:t>
            </a:r>
            <a:r>
              <a:rPr lang="en-US" sz="1200" dirty="0"/>
              <a:t> Biggest bottleneck; machines </a:t>
            </a:r>
            <a:r>
              <a:rPr lang="en-US" sz="1200" u="sng" dirty="0"/>
              <a:t>sitting idle due to staff unavailability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Planning Gaps (Not In Plan):</a:t>
            </a:r>
            <a:r>
              <a:rPr lang="en-US" sz="1200" dirty="0"/>
              <a:t> Capacity waste; machines ready but excluded from production schedule.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Process Delays (Wheel Change / New Setting):</a:t>
            </a:r>
            <a:r>
              <a:rPr lang="en-US" sz="1200" dirty="0"/>
              <a:t> Excessive setup times slowing down production flow.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898FF8-D8AA-97F7-47D4-B7F4C2479297}"/>
              </a:ext>
            </a:extLst>
          </p:cNvPr>
          <p:cNvSpPr txBox="1"/>
          <p:nvPr/>
        </p:nvSpPr>
        <p:spPr>
          <a:xfrm>
            <a:off x="300991" y="1061723"/>
            <a:ext cx="27012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>
                <a:solidFill>
                  <a:srgbClr val="FF0000"/>
                </a:solidFill>
              </a:rPr>
              <a:t>High Downtime Machines</a:t>
            </a:r>
          </a:p>
          <a:p>
            <a:pPr algn="ctr"/>
            <a:r>
              <a:rPr lang="en-US" sz="1400" b="1" u="sng" dirty="0"/>
              <a:t>(150–250 </a:t>
            </a:r>
            <a:r>
              <a:rPr lang="en-US" sz="1400" b="1" u="sng" dirty="0" err="1"/>
              <a:t>hrs</a:t>
            </a:r>
            <a:r>
              <a:rPr lang="en-US" sz="1400" b="1" u="sng" dirty="0"/>
              <a:t>)</a:t>
            </a:r>
          </a:p>
          <a:p>
            <a:pPr algn="ctr"/>
            <a:endParaRPr lang="en-US" sz="1400" b="1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IG.13 (192 </a:t>
            </a:r>
            <a:r>
              <a:rPr lang="en-US" sz="1200" b="1" dirty="0" err="1"/>
              <a:t>hrs</a:t>
            </a:r>
            <a:r>
              <a:rPr lang="en-US" sz="1200" b="1" dirty="0"/>
              <a:t>):</a:t>
            </a:r>
            <a:r>
              <a:rPr lang="en-US" sz="1200" dirty="0"/>
              <a:t> Mainly due to </a:t>
            </a:r>
            <a:r>
              <a:rPr lang="en-US" sz="1200" b="1" u="sng" dirty="0"/>
              <a:t>No Operator (96h)</a:t>
            </a:r>
            <a:r>
              <a:rPr lang="en-US" sz="1200" u="sng" dirty="0"/>
              <a:t> </a:t>
            </a:r>
            <a:r>
              <a:rPr lang="en-US" sz="1200" dirty="0"/>
              <a:t>and delays in </a:t>
            </a:r>
            <a:r>
              <a:rPr lang="en-US" sz="1200" b="1" u="sng" dirty="0"/>
              <a:t>New Setting (26h).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IG.18 (180 </a:t>
            </a:r>
            <a:r>
              <a:rPr lang="en-US" sz="1200" b="1" dirty="0" err="1"/>
              <a:t>hrs</a:t>
            </a:r>
            <a:r>
              <a:rPr lang="en-US" sz="1200" b="1" dirty="0"/>
              <a:t>):</a:t>
            </a:r>
            <a:r>
              <a:rPr lang="en-US" sz="1200" dirty="0"/>
              <a:t> Dominant issue is </a:t>
            </a:r>
            <a:r>
              <a:rPr lang="en-US" sz="1200" b="1" dirty="0"/>
              <a:t>No Operator (124h) </a:t>
            </a:r>
            <a:r>
              <a:rPr lang="en-US" sz="1200" dirty="0"/>
              <a:t>, followed by </a:t>
            </a:r>
            <a:r>
              <a:rPr lang="en-US" sz="1200" b="1" u="sng" dirty="0"/>
              <a:t>New Setting (14h).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89D31C-8FA6-7656-A0F3-B4D18EF1358C}"/>
              </a:ext>
            </a:extLst>
          </p:cNvPr>
          <p:cNvCxnSpPr>
            <a:cxnSpLocks/>
          </p:cNvCxnSpPr>
          <p:nvPr/>
        </p:nvCxnSpPr>
        <p:spPr>
          <a:xfrm>
            <a:off x="3093720" y="990600"/>
            <a:ext cx="0" cy="371856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ACF66E7-0D3F-C00D-7AA8-58B950FE2C78}"/>
              </a:ext>
            </a:extLst>
          </p:cNvPr>
          <p:cNvCxnSpPr>
            <a:cxnSpLocks/>
          </p:cNvCxnSpPr>
          <p:nvPr/>
        </p:nvCxnSpPr>
        <p:spPr>
          <a:xfrm>
            <a:off x="6248400" y="990600"/>
            <a:ext cx="0" cy="371856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95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494598CF-DA2D-DA32-86FF-8B21677D9390}"/>
              </a:ext>
            </a:extLst>
          </p:cNvPr>
          <p:cNvSpPr/>
          <p:nvPr/>
        </p:nvSpPr>
        <p:spPr>
          <a:xfrm>
            <a:off x="0" y="-32004"/>
            <a:ext cx="91440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 Section — Complete Downtime Detail  (hours)  |  Feb 2026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9728" y="732108"/>
            <a:ext cx="1261872" cy="292608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" y="7686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BA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↓  M/c →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261872" y="732108"/>
            <a:ext cx="612648" cy="292608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7686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74520" y="732108"/>
            <a:ext cx="612648" cy="292608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7686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87168" y="732108"/>
            <a:ext cx="612648" cy="292608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7686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IG.20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99816" y="732108"/>
            <a:ext cx="612648" cy="292608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7686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12464" y="732108"/>
            <a:ext cx="612648" cy="292608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7686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25112" y="732108"/>
            <a:ext cx="612648" cy="292608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7686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937760" y="732108"/>
            <a:ext cx="612648" cy="292608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7686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50408" y="732108"/>
            <a:ext cx="612648" cy="292608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0408" y="7686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IG.04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63056" y="732108"/>
            <a:ext cx="612648" cy="292608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7686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75704" y="732108"/>
            <a:ext cx="612648" cy="292608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75704" y="7686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IG.01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88352" y="732108"/>
            <a:ext cx="612648" cy="292608"/>
          </a:xfrm>
          <a:prstGeom prst="rect">
            <a:avLst/>
          </a:prstGeom>
          <a:solidFill>
            <a:srgbClr val="1C1F2E"/>
          </a:solidFill>
          <a:ln w="12700">
            <a:solidFill>
              <a:srgbClr val="1C1F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88352" y="7686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IG.15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001000" y="732108"/>
            <a:ext cx="612648" cy="292608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7686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IG.16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9728" y="1024716"/>
            <a:ext cx="1261872" cy="2788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6304" y="1079580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261872" y="1024716"/>
            <a:ext cx="612648" cy="278892"/>
          </a:xfrm>
          <a:prstGeom prst="rect">
            <a:avLst/>
          </a:prstGeom>
          <a:solidFill>
            <a:srgbClr val="FDEA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61872" y="108872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191.3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74520" y="1024716"/>
            <a:ext cx="612648" cy="278892"/>
          </a:xfrm>
          <a:prstGeom prst="rect">
            <a:avLst/>
          </a:prstGeom>
          <a:solidFill>
            <a:srgbClr val="FDEA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74520" y="108872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179.2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87168" y="1024716"/>
            <a:ext cx="612648" cy="278892"/>
          </a:xfrm>
          <a:prstGeom prst="rect">
            <a:avLst/>
          </a:prstGeom>
          <a:solidFill>
            <a:srgbClr val="FDEA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87168" y="108872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179.6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099816" y="1024716"/>
            <a:ext cx="612648" cy="278892"/>
          </a:xfrm>
          <a:prstGeom prst="rect">
            <a:avLst/>
          </a:prstGeom>
          <a:solidFill>
            <a:srgbClr val="FDEA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99816" y="108872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164.8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12464" y="1024716"/>
            <a:ext cx="612648" cy="278892"/>
          </a:xfrm>
          <a:prstGeom prst="rect">
            <a:avLst/>
          </a:prstGeom>
          <a:solidFill>
            <a:srgbClr val="FE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12464" y="108872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65.5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325112" y="1024716"/>
            <a:ext cx="612648" cy="278892"/>
          </a:xfrm>
          <a:prstGeom prst="rect">
            <a:avLst/>
          </a:prstGeom>
          <a:solidFill>
            <a:srgbClr val="FE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25112" y="108872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937760" y="1024716"/>
            <a:ext cx="612648" cy="278892"/>
          </a:xfrm>
          <a:prstGeom prst="rect">
            <a:avLst/>
          </a:prstGeom>
          <a:solidFill>
            <a:srgbClr val="FDEA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108872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123.5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550408" y="102471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50408" y="108872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63056" y="1024716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63056" y="108872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775704" y="102471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75704" y="108872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388352" y="1024716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88352" y="108872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001000" y="102471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01000" y="108872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09728" y="1303608"/>
            <a:ext cx="1261872" cy="2788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6304" y="1358472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Plan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261872" y="1303608"/>
            <a:ext cx="612648" cy="278892"/>
          </a:xfrm>
          <a:prstGeom prst="rect">
            <a:avLst/>
          </a:prstGeom>
          <a:solidFill>
            <a:srgbClr val="FE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61872" y="136761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874520" y="1303608"/>
            <a:ext cx="612648" cy="278892"/>
          </a:xfrm>
          <a:prstGeom prst="rect">
            <a:avLst/>
          </a:prstGeom>
          <a:solidFill>
            <a:srgbClr val="FE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74520" y="136761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487168" y="1303608"/>
            <a:ext cx="612648" cy="278892"/>
          </a:xfrm>
          <a:prstGeom prst="rect">
            <a:avLst/>
          </a:prstGeom>
          <a:solidFill>
            <a:srgbClr val="FE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87168" y="136761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099816" y="130360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99816" y="136761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712464" y="1303608"/>
            <a:ext cx="612648" cy="278892"/>
          </a:xfrm>
          <a:prstGeom prst="rect">
            <a:avLst/>
          </a:prstGeom>
          <a:solidFill>
            <a:srgbClr val="FDEA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12464" y="136761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144.0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325112" y="130360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25112" y="136761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937760" y="130360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0" y="136761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550408" y="130360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50408" y="136761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163056" y="130360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63056" y="136761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775704" y="130360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75704" y="136761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388352" y="130360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88352" y="136761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8001000" y="130360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001000" y="136761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109728" y="1582500"/>
            <a:ext cx="1261872" cy="2788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46304" y="1637364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Material (Ext)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1261872" y="1582500"/>
            <a:ext cx="612648" cy="278892"/>
          </a:xfrm>
          <a:prstGeom prst="rect">
            <a:avLst/>
          </a:prstGeom>
          <a:solidFill>
            <a:srgbClr val="FE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261872" y="164650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56.0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874520" y="158250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874520" y="164650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487168" y="158250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487168" y="164650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099816" y="158250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099816" y="164650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712464" y="158250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712464" y="164650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325112" y="158250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25112" y="164650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937760" y="158250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937760" y="164650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5550408" y="158250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550408" y="164650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163056" y="158250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163056" y="164650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775704" y="158250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775704" y="164650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7388352" y="158250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388352" y="164650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8001000" y="158250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001000" y="164650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109728" y="1861392"/>
            <a:ext cx="1261872" cy="2788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46304" y="1916256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Change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261872" y="1861392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261872" y="192540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1874520" y="1861392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874520" y="192540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2487168" y="1861392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487168" y="192540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099816" y="1861392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099816" y="192540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3712464" y="1861392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712464" y="192540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4325112" y="1861392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325112" y="192540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4937760" y="1861392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937760" y="192540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5550408" y="1861392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550408" y="192540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6163056" y="1861392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163056" y="192540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775704" y="1861392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775704" y="192540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7388352" y="1861392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388352" y="192540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8001000" y="1861392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001000" y="192540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109728" y="2140284"/>
            <a:ext cx="1261872" cy="2788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46304" y="2195148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Setting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1261872" y="2140284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261872" y="220429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1874520" y="2140284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874520" y="220429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2487168" y="2140284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487168" y="220429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3099816" y="2140284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099816" y="220429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3712464" y="2140284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712464" y="220429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4325112" y="2140284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325112" y="220429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4937760" y="2140284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937760" y="220429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5550408" y="2140284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550408" y="220429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6163056" y="2140284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163056" y="220429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</a:t>
            </a:r>
            <a:endParaRPr lang="en-US" sz="850" dirty="0"/>
          </a:p>
        </p:txBody>
      </p:sp>
      <p:sp>
        <p:nvSpPr>
          <p:cNvPr id="154" name="Shape 152"/>
          <p:cNvSpPr/>
          <p:nvPr/>
        </p:nvSpPr>
        <p:spPr>
          <a:xfrm>
            <a:off x="6775704" y="2140284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775704" y="220429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7388352" y="2140284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7388352" y="220429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8001000" y="2140284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8001000" y="220429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850" dirty="0"/>
          </a:p>
        </p:txBody>
      </p:sp>
      <p:sp>
        <p:nvSpPr>
          <p:cNvPr id="160" name="Shape 158"/>
          <p:cNvSpPr/>
          <p:nvPr/>
        </p:nvSpPr>
        <p:spPr>
          <a:xfrm>
            <a:off x="109728" y="2419176"/>
            <a:ext cx="1261872" cy="2788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146304" y="2474040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Re-Setting</a:t>
            </a:r>
            <a:endParaRPr lang="en-US" sz="850" dirty="0"/>
          </a:p>
        </p:txBody>
      </p:sp>
      <p:sp>
        <p:nvSpPr>
          <p:cNvPr id="162" name="Shape 160"/>
          <p:cNvSpPr/>
          <p:nvPr/>
        </p:nvSpPr>
        <p:spPr>
          <a:xfrm>
            <a:off x="1261872" y="2419176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1261872" y="24831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1874520" y="241917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874520" y="24831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850" dirty="0"/>
          </a:p>
        </p:txBody>
      </p:sp>
      <p:sp>
        <p:nvSpPr>
          <p:cNvPr id="166" name="Shape 164"/>
          <p:cNvSpPr/>
          <p:nvPr/>
        </p:nvSpPr>
        <p:spPr>
          <a:xfrm>
            <a:off x="2487168" y="2419176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2487168" y="24831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</a:t>
            </a:r>
            <a:endParaRPr lang="en-US" sz="850" dirty="0"/>
          </a:p>
        </p:txBody>
      </p:sp>
      <p:sp>
        <p:nvSpPr>
          <p:cNvPr id="168" name="Shape 166"/>
          <p:cNvSpPr/>
          <p:nvPr/>
        </p:nvSpPr>
        <p:spPr>
          <a:xfrm>
            <a:off x="3099816" y="241917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3099816" y="24831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850" dirty="0"/>
          </a:p>
        </p:txBody>
      </p:sp>
      <p:sp>
        <p:nvSpPr>
          <p:cNvPr id="170" name="Shape 168"/>
          <p:cNvSpPr/>
          <p:nvPr/>
        </p:nvSpPr>
        <p:spPr>
          <a:xfrm>
            <a:off x="3712464" y="2419176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3712464" y="24831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4325112" y="241917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325112" y="24831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</a:t>
            </a:r>
            <a:endParaRPr lang="en-US" sz="850" dirty="0"/>
          </a:p>
        </p:txBody>
      </p:sp>
      <p:sp>
        <p:nvSpPr>
          <p:cNvPr id="174" name="Shape 172"/>
          <p:cNvSpPr/>
          <p:nvPr/>
        </p:nvSpPr>
        <p:spPr>
          <a:xfrm>
            <a:off x="4937760" y="2419176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4937760" y="24831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</a:t>
            </a:r>
            <a:endParaRPr lang="en-US" sz="850" dirty="0"/>
          </a:p>
        </p:txBody>
      </p:sp>
      <p:sp>
        <p:nvSpPr>
          <p:cNvPr id="176" name="Shape 174"/>
          <p:cNvSpPr/>
          <p:nvPr/>
        </p:nvSpPr>
        <p:spPr>
          <a:xfrm>
            <a:off x="5550408" y="241917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5550408" y="24831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6163056" y="2419176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163056" y="24831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850" dirty="0"/>
          </a:p>
        </p:txBody>
      </p:sp>
      <p:sp>
        <p:nvSpPr>
          <p:cNvPr id="180" name="Shape 178"/>
          <p:cNvSpPr/>
          <p:nvPr/>
        </p:nvSpPr>
        <p:spPr>
          <a:xfrm>
            <a:off x="6775704" y="241917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6775704" y="24831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7388352" y="2419176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388352" y="24831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</a:t>
            </a:r>
            <a:endParaRPr 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8001000" y="241917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8001000" y="248318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109728" y="2698068"/>
            <a:ext cx="1261872" cy="2788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46304" y="2752932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1261872" y="269806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261872" y="276207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1874520" y="269806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1874520" y="276207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2487168" y="269806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2487168" y="276207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3099816" y="269806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099816" y="276207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3712464" y="269806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3712464" y="276207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325112" y="269806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325112" y="276207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850" dirty="0"/>
          </a:p>
        </p:txBody>
      </p:sp>
      <p:sp>
        <p:nvSpPr>
          <p:cNvPr id="200" name="Shape 198"/>
          <p:cNvSpPr/>
          <p:nvPr/>
        </p:nvSpPr>
        <p:spPr>
          <a:xfrm>
            <a:off x="4937760" y="269806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937760" y="276207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5550408" y="269806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550408" y="276207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</a:t>
            </a:r>
            <a:endParaRPr lang="en-US" sz="850" dirty="0"/>
          </a:p>
        </p:txBody>
      </p:sp>
      <p:sp>
        <p:nvSpPr>
          <p:cNvPr id="204" name="Shape 202"/>
          <p:cNvSpPr/>
          <p:nvPr/>
        </p:nvSpPr>
        <p:spPr>
          <a:xfrm>
            <a:off x="6163056" y="269806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6163056" y="276207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6775704" y="269806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775704" y="276207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88352" y="269806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7388352" y="276207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8001000" y="269806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8001000" y="276207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109728" y="2976960"/>
            <a:ext cx="1261872" cy="2788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146304" y="3031824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Ovality</a:t>
            </a:r>
            <a:endParaRPr lang="en-US" sz="850" dirty="0"/>
          </a:p>
        </p:txBody>
      </p:sp>
      <p:sp>
        <p:nvSpPr>
          <p:cNvPr id="214" name="Shape 212"/>
          <p:cNvSpPr/>
          <p:nvPr/>
        </p:nvSpPr>
        <p:spPr>
          <a:xfrm>
            <a:off x="1261872" y="297696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1261872" y="304096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1874520" y="297696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1874520" y="304096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18" name="Shape 216"/>
          <p:cNvSpPr/>
          <p:nvPr/>
        </p:nvSpPr>
        <p:spPr>
          <a:xfrm>
            <a:off x="2487168" y="297696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2487168" y="304096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3099816" y="297696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3099816" y="304096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22" name="Shape 220"/>
          <p:cNvSpPr/>
          <p:nvPr/>
        </p:nvSpPr>
        <p:spPr>
          <a:xfrm>
            <a:off x="3712464" y="297696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3712464" y="304096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4325112" y="297696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4325112" y="304096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</a:t>
            </a:r>
            <a:endParaRPr lang="en-US" sz="850" dirty="0"/>
          </a:p>
        </p:txBody>
      </p:sp>
      <p:sp>
        <p:nvSpPr>
          <p:cNvPr id="226" name="Shape 224"/>
          <p:cNvSpPr/>
          <p:nvPr/>
        </p:nvSpPr>
        <p:spPr>
          <a:xfrm>
            <a:off x="4937760" y="297696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4937760" y="304096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5550408" y="297696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5550408" y="304096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6163056" y="297696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6163056" y="304096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6775704" y="297696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6775704" y="304096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34" name="Shape 232"/>
          <p:cNvSpPr/>
          <p:nvPr/>
        </p:nvSpPr>
        <p:spPr>
          <a:xfrm>
            <a:off x="7388352" y="297696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7388352" y="304096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850" dirty="0"/>
          </a:p>
        </p:txBody>
      </p:sp>
      <p:sp>
        <p:nvSpPr>
          <p:cNvPr id="236" name="Shape 234"/>
          <p:cNvSpPr/>
          <p:nvPr/>
        </p:nvSpPr>
        <p:spPr>
          <a:xfrm>
            <a:off x="8001000" y="297696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8001000" y="304096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38" name="Shape 236"/>
          <p:cNvSpPr/>
          <p:nvPr/>
        </p:nvSpPr>
        <p:spPr>
          <a:xfrm>
            <a:off x="109728" y="3255852"/>
            <a:ext cx="1261872" cy="2788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146304" y="3310716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Problem</a:t>
            </a:r>
            <a:endParaRPr lang="en-US" sz="850" dirty="0"/>
          </a:p>
        </p:txBody>
      </p:sp>
      <p:sp>
        <p:nvSpPr>
          <p:cNvPr id="240" name="Shape 238"/>
          <p:cNvSpPr/>
          <p:nvPr/>
        </p:nvSpPr>
        <p:spPr>
          <a:xfrm>
            <a:off x="1261872" y="3255852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1261872" y="331986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42" name="Shape 240"/>
          <p:cNvSpPr/>
          <p:nvPr/>
        </p:nvSpPr>
        <p:spPr>
          <a:xfrm>
            <a:off x="1874520" y="3255852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1874520" y="331986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44" name="Shape 242"/>
          <p:cNvSpPr/>
          <p:nvPr/>
        </p:nvSpPr>
        <p:spPr>
          <a:xfrm>
            <a:off x="2487168" y="3255852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2487168" y="331986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46" name="Shape 244"/>
          <p:cNvSpPr/>
          <p:nvPr/>
        </p:nvSpPr>
        <p:spPr>
          <a:xfrm>
            <a:off x="3099816" y="3255852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3099816" y="331986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48" name="Shape 246"/>
          <p:cNvSpPr/>
          <p:nvPr/>
        </p:nvSpPr>
        <p:spPr>
          <a:xfrm>
            <a:off x="3712464" y="3255852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3712464" y="331986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50" name="Shape 248"/>
          <p:cNvSpPr/>
          <p:nvPr/>
        </p:nvSpPr>
        <p:spPr>
          <a:xfrm>
            <a:off x="4325112" y="3255852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4325112" y="331986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850" dirty="0"/>
          </a:p>
        </p:txBody>
      </p:sp>
      <p:sp>
        <p:nvSpPr>
          <p:cNvPr id="252" name="Shape 250"/>
          <p:cNvSpPr/>
          <p:nvPr/>
        </p:nvSpPr>
        <p:spPr>
          <a:xfrm>
            <a:off x="4937760" y="3255852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4937760" y="331986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54" name="Shape 252"/>
          <p:cNvSpPr/>
          <p:nvPr/>
        </p:nvSpPr>
        <p:spPr>
          <a:xfrm>
            <a:off x="5550408" y="3255852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5550408" y="331986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56" name="Shape 254"/>
          <p:cNvSpPr/>
          <p:nvPr/>
        </p:nvSpPr>
        <p:spPr>
          <a:xfrm>
            <a:off x="6163056" y="3255852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6163056" y="331986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58" name="Shape 256"/>
          <p:cNvSpPr/>
          <p:nvPr/>
        </p:nvSpPr>
        <p:spPr>
          <a:xfrm>
            <a:off x="6775704" y="3255852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6775704" y="331986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60" name="Shape 258"/>
          <p:cNvSpPr/>
          <p:nvPr/>
        </p:nvSpPr>
        <p:spPr>
          <a:xfrm>
            <a:off x="7388352" y="3255852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7388352" y="331986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62" name="Shape 260"/>
          <p:cNvSpPr/>
          <p:nvPr/>
        </p:nvSpPr>
        <p:spPr>
          <a:xfrm>
            <a:off x="8001000" y="3255852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8001000" y="331986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64" name="Shape 262"/>
          <p:cNvSpPr/>
          <p:nvPr/>
        </p:nvSpPr>
        <p:spPr>
          <a:xfrm>
            <a:off x="109728" y="3534744"/>
            <a:ext cx="1261872" cy="2788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146304" y="3589608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Maint</a:t>
            </a:r>
            <a:endParaRPr lang="en-US" sz="850" dirty="0"/>
          </a:p>
        </p:txBody>
      </p:sp>
      <p:sp>
        <p:nvSpPr>
          <p:cNvPr id="266" name="Shape 264"/>
          <p:cNvSpPr/>
          <p:nvPr/>
        </p:nvSpPr>
        <p:spPr>
          <a:xfrm>
            <a:off x="1261872" y="3534744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1261872" y="359875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68" name="Shape 266"/>
          <p:cNvSpPr/>
          <p:nvPr/>
        </p:nvSpPr>
        <p:spPr>
          <a:xfrm>
            <a:off x="1874520" y="3534744"/>
            <a:ext cx="612648" cy="278892"/>
          </a:xfrm>
          <a:prstGeom prst="rect">
            <a:avLst/>
          </a:prstGeom>
          <a:solidFill>
            <a:srgbClr val="FE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1874520" y="359875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56.2</a:t>
            </a:r>
            <a:endParaRPr lang="en-US" sz="850" dirty="0"/>
          </a:p>
        </p:txBody>
      </p:sp>
      <p:sp>
        <p:nvSpPr>
          <p:cNvPr id="270" name="Shape 268"/>
          <p:cNvSpPr/>
          <p:nvPr/>
        </p:nvSpPr>
        <p:spPr>
          <a:xfrm>
            <a:off x="2487168" y="3534744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2487168" y="359875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72" name="Shape 270"/>
          <p:cNvSpPr/>
          <p:nvPr/>
        </p:nvSpPr>
        <p:spPr>
          <a:xfrm>
            <a:off x="3099816" y="3534744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3099816" y="359875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850" dirty="0"/>
          </a:p>
        </p:txBody>
      </p:sp>
      <p:sp>
        <p:nvSpPr>
          <p:cNvPr id="274" name="Shape 272"/>
          <p:cNvSpPr/>
          <p:nvPr/>
        </p:nvSpPr>
        <p:spPr>
          <a:xfrm>
            <a:off x="3712464" y="3534744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3712464" y="359875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76" name="Shape 274"/>
          <p:cNvSpPr/>
          <p:nvPr/>
        </p:nvSpPr>
        <p:spPr>
          <a:xfrm>
            <a:off x="4325112" y="3534744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4325112" y="359875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78" name="Shape 276"/>
          <p:cNvSpPr/>
          <p:nvPr/>
        </p:nvSpPr>
        <p:spPr>
          <a:xfrm>
            <a:off x="4937760" y="3534744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4937760" y="359875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80" name="Shape 278"/>
          <p:cNvSpPr/>
          <p:nvPr/>
        </p:nvSpPr>
        <p:spPr>
          <a:xfrm>
            <a:off x="5550408" y="3534744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5550408" y="359875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82" name="Shape 280"/>
          <p:cNvSpPr/>
          <p:nvPr/>
        </p:nvSpPr>
        <p:spPr>
          <a:xfrm>
            <a:off x="6163056" y="3534744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6163056" y="359875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84" name="Shape 282"/>
          <p:cNvSpPr/>
          <p:nvPr/>
        </p:nvSpPr>
        <p:spPr>
          <a:xfrm>
            <a:off x="6775704" y="3534744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6775704" y="359875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850" dirty="0"/>
          </a:p>
        </p:txBody>
      </p:sp>
      <p:sp>
        <p:nvSpPr>
          <p:cNvPr id="286" name="Shape 284"/>
          <p:cNvSpPr/>
          <p:nvPr/>
        </p:nvSpPr>
        <p:spPr>
          <a:xfrm>
            <a:off x="7388352" y="3534744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7388352" y="359875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88" name="Shape 286"/>
          <p:cNvSpPr/>
          <p:nvPr/>
        </p:nvSpPr>
        <p:spPr>
          <a:xfrm>
            <a:off x="8001000" y="3534744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8001000" y="3598752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90" name="Shape 288"/>
          <p:cNvSpPr/>
          <p:nvPr/>
        </p:nvSpPr>
        <p:spPr>
          <a:xfrm>
            <a:off x="109728" y="3813636"/>
            <a:ext cx="1261872" cy="2788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146304" y="3868500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 Maint</a:t>
            </a:r>
            <a:endParaRPr lang="en-US" sz="850" dirty="0"/>
          </a:p>
        </p:txBody>
      </p:sp>
      <p:sp>
        <p:nvSpPr>
          <p:cNvPr id="292" name="Shape 290"/>
          <p:cNvSpPr/>
          <p:nvPr/>
        </p:nvSpPr>
        <p:spPr>
          <a:xfrm>
            <a:off x="1261872" y="3813636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1261872" y="387764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</a:t>
            </a:r>
            <a:endParaRPr lang="en-US" sz="850" dirty="0"/>
          </a:p>
        </p:txBody>
      </p:sp>
      <p:sp>
        <p:nvSpPr>
          <p:cNvPr id="294" name="Shape 292"/>
          <p:cNvSpPr/>
          <p:nvPr/>
        </p:nvSpPr>
        <p:spPr>
          <a:xfrm>
            <a:off x="1874520" y="381363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1874520" y="387764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296" name="Shape 294"/>
          <p:cNvSpPr/>
          <p:nvPr/>
        </p:nvSpPr>
        <p:spPr>
          <a:xfrm>
            <a:off x="2487168" y="3813636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>
            <a:off x="2487168" y="387764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850" dirty="0"/>
          </a:p>
        </p:txBody>
      </p:sp>
      <p:sp>
        <p:nvSpPr>
          <p:cNvPr id="298" name="Shape 296"/>
          <p:cNvSpPr/>
          <p:nvPr/>
        </p:nvSpPr>
        <p:spPr>
          <a:xfrm>
            <a:off x="3099816" y="381363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3099816" y="387764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00" name="Shape 298"/>
          <p:cNvSpPr/>
          <p:nvPr/>
        </p:nvSpPr>
        <p:spPr>
          <a:xfrm>
            <a:off x="3712464" y="3813636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3712464" y="387764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02" name="Shape 300"/>
          <p:cNvSpPr/>
          <p:nvPr/>
        </p:nvSpPr>
        <p:spPr>
          <a:xfrm>
            <a:off x="4325112" y="381363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4325112" y="387764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04" name="Shape 302"/>
          <p:cNvSpPr/>
          <p:nvPr/>
        </p:nvSpPr>
        <p:spPr>
          <a:xfrm>
            <a:off x="4937760" y="3813636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4937760" y="387764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06" name="Shape 304"/>
          <p:cNvSpPr/>
          <p:nvPr/>
        </p:nvSpPr>
        <p:spPr>
          <a:xfrm>
            <a:off x="5550408" y="381363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5550408" y="387764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08" name="Shape 306"/>
          <p:cNvSpPr/>
          <p:nvPr/>
        </p:nvSpPr>
        <p:spPr>
          <a:xfrm>
            <a:off x="6163056" y="3813636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>
            <a:off x="6163056" y="387764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850" dirty="0"/>
          </a:p>
        </p:txBody>
      </p:sp>
      <p:sp>
        <p:nvSpPr>
          <p:cNvPr id="310" name="Shape 308"/>
          <p:cNvSpPr/>
          <p:nvPr/>
        </p:nvSpPr>
        <p:spPr>
          <a:xfrm>
            <a:off x="6775704" y="381363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6775704" y="387764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12" name="Shape 310"/>
          <p:cNvSpPr/>
          <p:nvPr/>
        </p:nvSpPr>
        <p:spPr>
          <a:xfrm>
            <a:off x="7388352" y="3813636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7388352" y="387764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14" name="Shape 312"/>
          <p:cNvSpPr/>
          <p:nvPr/>
        </p:nvSpPr>
        <p:spPr>
          <a:xfrm>
            <a:off x="8001000" y="3813636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>
            <a:off x="8001000" y="387764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16" name="Shape 314"/>
          <p:cNvSpPr/>
          <p:nvPr/>
        </p:nvSpPr>
        <p:spPr>
          <a:xfrm>
            <a:off x="109728" y="4092528"/>
            <a:ext cx="1261872" cy="2788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146304" y="4147392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Power</a:t>
            </a:r>
            <a:endParaRPr lang="en-US" sz="850" dirty="0"/>
          </a:p>
        </p:txBody>
      </p:sp>
      <p:sp>
        <p:nvSpPr>
          <p:cNvPr id="318" name="Shape 316"/>
          <p:cNvSpPr/>
          <p:nvPr/>
        </p:nvSpPr>
        <p:spPr>
          <a:xfrm>
            <a:off x="1261872" y="409252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9" name="Text 317"/>
          <p:cNvSpPr/>
          <p:nvPr/>
        </p:nvSpPr>
        <p:spPr>
          <a:xfrm>
            <a:off x="1261872" y="415653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850" dirty="0"/>
          </a:p>
        </p:txBody>
      </p:sp>
      <p:sp>
        <p:nvSpPr>
          <p:cNvPr id="320" name="Shape 318"/>
          <p:cNvSpPr/>
          <p:nvPr/>
        </p:nvSpPr>
        <p:spPr>
          <a:xfrm>
            <a:off x="1874520" y="409252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>
            <a:off x="1874520" y="415653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850" dirty="0"/>
          </a:p>
        </p:txBody>
      </p:sp>
      <p:sp>
        <p:nvSpPr>
          <p:cNvPr id="322" name="Shape 320"/>
          <p:cNvSpPr/>
          <p:nvPr/>
        </p:nvSpPr>
        <p:spPr>
          <a:xfrm>
            <a:off x="2487168" y="409252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2487168" y="415653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850" dirty="0"/>
          </a:p>
        </p:txBody>
      </p:sp>
      <p:sp>
        <p:nvSpPr>
          <p:cNvPr id="324" name="Shape 322"/>
          <p:cNvSpPr/>
          <p:nvPr/>
        </p:nvSpPr>
        <p:spPr>
          <a:xfrm>
            <a:off x="3099816" y="409252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5" name="Text 323"/>
          <p:cNvSpPr/>
          <p:nvPr/>
        </p:nvSpPr>
        <p:spPr>
          <a:xfrm>
            <a:off x="3099816" y="415653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850" dirty="0"/>
          </a:p>
        </p:txBody>
      </p:sp>
      <p:sp>
        <p:nvSpPr>
          <p:cNvPr id="326" name="Shape 324"/>
          <p:cNvSpPr/>
          <p:nvPr/>
        </p:nvSpPr>
        <p:spPr>
          <a:xfrm>
            <a:off x="3712464" y="409252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7" name="Text 325"/>
          <p:cNvSpPr/>
          <p:nvPr/>
        </p:nvSpPr>
        <p:spPr>
          <a:xfrm>
            <a:off x="3712464" y="415653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850" dirty="0"/>
          </a:p>
        </p:txBody>
      </p:sp>
      <p:sp>
        <p:nvSpPr>
          <p:cNvPr id="328" name="Shape 326"/>
          <p:cNvSpPr/>
          <p:nvPr/>
        </p:nvSpPr>
        <p:spPr>
          <a:xfrm>
            <a:off x="4325112" y="409252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4325112" y="415653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850" dirty="0"/>
          </a:p>
        </p:txBody>
      </p:sp>
      <p:sp>
        <p:nvSpPr>
          <p:cNvPr id="330" name="Shape 328"/>
          <p:cNvSpPr/>
          <p:nvPr/>
        </p:nvSpPr>
        <p:spPr>
          <a:xfrm>
            <a:off x="4937760" y="409252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4937760" y="415653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850" dirty="0"/>
          </a:p>
        </p:txBody>
      </p:sp>
      <p:sp>
        <p:nvSpPr>
          <p:cNvPr id="332" name="Shape 330"/>
          <p:cNvSpPr/>
          <p:nvPr/>
        </p:nvSpPr>
        <p:spPr>
          <a:xfrm>
            <a:off x="5550408" y="409252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3" name="Text 331"/>
          <p:cNvSpPr/>
          <p:nvPr/>
        </p:nvSpPr>
        <p:spPr>
          <a:xfrm>
            <a:off x="5550408" y="415653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850" dirty="0"/>
          </a:p>
        </p:txBody>
      </p:sp>
      <p:sp>
        <p:nvSpPr>
          <p:cNvPr id="334" name="Shape 332"/>
          <p:cNvSpPr/>
          <p:nvPr/>
        </p:nvSpPr>
        <p:spPr>
          <a:xfrm>
            <a:off x="6163056" y="409252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5" name="Text 333"/>
          <p:cNvSpPr/>
          <p:nvPr/>
        </p:nvSpPr>
        <p:spPr>
          <a:xfrm>
            <a:off x="6163056" y="415653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850" dirty="0"/>
          </a:p>
        </p:txBody>
      </p:sp>
      <p:sp>
        <p:nvSpPr>
          <p:cNvPr id="336" name="Shape 334"/>
          <p:cNvSpPr/>
          <p:nvPr/>
        </p:nvSpPr>
        <p:spPr>
          <a:xfrm>
            <a:off x="6775704" y="409252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6775704" y="415653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850" dirty="0"/>
          </a:p>
        </p:txBody>
      </p:sp>
      <p:sp>
        <p:nvSpPr>
          <p:cNvPr id="338" name="Shape 336"/>
          <p:cNvSpPr/>
          <p:nvPr/>
        </p:nvSpPr>
        <p:spPr>
          <a:xfrm>
            <a:off x="7388352" y="4092528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9" name="Text 337"/>
          <p:cNvSpPr/>
          <p:nvPr/>
        </p:nvSpPr>
        <p:spPr>
          <a:xfrm>
            <a:off x="7388352" y="415653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850" dirty="0"/>
          </a:p>
        </p:txBody>
      </p:sp>
      <p:sp>
        <p:nvSpPr>
          <p:cNvPr id="340" name="Shape 338"/>
          <p:cNvSpPr/>
          <p:nvPr/>
        </p:nvSpPr>
        <p:spPr>
          <a:xfrm>
            <a:off x="8001000" y="4092528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8001000" y="4156536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850" dirty="0"/>
          </a:p>
        </p:txBody>
      </p:sp>
      <p:sp>
        <p:nvSpPr>
          <p:cNvPr id="342" name="Shape 340"/>
          <p:cNvSpPr/>
          <p:nvPr/>
        </p:nvSpPr>
        <p:spPr>
          <a:xfrm>
            <a:off x="109728" y="4371420"/>
            <a:ext cx="1261872" cy="2788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3" name="Text 341"/>
          <p:cNvSpPr/>
          <p:nvPr/>
        </p:nvSpPr>
        <p:spPr>
          <a:xfrm>
            <a:off x="146304" y="4426284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Variation</a:t>
            </a:r>
            <a:endParaRPr lang="en-US" sz="850" dirty="0"/>
          </a:p>
        </p:txBody>
      </p:sp>
      <p:sp>
        <p:nvSpPr>
          <p:cNvPr id="344" name="Shape 342"/>
          <p:cNvSpPr/>
          <p:nvPr/>
        </p:nvSpPr>
        <p:spPr>
          <a:xfrm>
            <a:off x="1261872" y="437142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5" name="Text 343"/>
          <p:cNvSpPr/>
          <p:nvPr/>
        </p:nvSpPr>
        <p:spPr>
          <a:xfrm>
            <a:off x="1261872" y="443542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46" name="Shape 344"/>
          <p:cNvSpPr/>
          <p:nvPr/>
        </p:nvSpPr>
        <p:spPr>
          <a:xfrm>
            <a:off x="1874520" y="437142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7" name="Text 345"/>
          <p:cNvSpPr/>
          <p:nvPr/>
        </p:nvSpPr>
        <p:spPr>
          <a:xfrm>
            <a:off x="1874520" y="443542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850" dirty="0"/>
          </a:p>
        </p:txBody>
      </p:sp>
      <p:sp>
        <p:nvSpPr>
          <p:cNvPr id="348" name="Shape 346"/>
          <p:cNvSpPr/>
          <p:nvPr/>
        </p:nvSpPr>
        <p:spPr>
          <a:xfrm>
            <a:off x="2487168" y="437142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9" name="Text 347"/>
          <p:cNvSpPr/>
          <p:nvPr/>
        </p:nvSpPr>
        <p:spPr>
          <a:xfrm>
            <a:off x="2487168" y="443542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50" name="Shape 348"/>
          <p:cNvSpPr/>
          <p:nvPr/>
        </p:nvSpPr>
        <p:spPr>
          <a:xfrm>
            <a:off x="3099816" y="437142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1" name="Text 349"/>
          <p:cNvSpPr/>
          <p:nvPr/>
        </p:nvSpPr>
        <p:spPr>
          <a:xfrm>
            <a:off x="3099816" y="443542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</a:t>
            </a:r>
            <a:endParaRPr lang="en-US" sz="850" dirty="0"/>
          </a:p>
        </p:txBody>
      </p:sp>
      <p:sp>
        <p:nvSpPr>
          <p:cNvPr id="352" name="Shape 350"/>
          <p:cNvSpPr/>
          <p:nvPr/>
        </p:nvSpPr>
        <p:spPr>
          <a:xfrm>
            <a:off x="3712464" y="437142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3" name="Text 351"/>
          <p:cNvSpPr/>
          <p:nvPr/>
        </p:nvSpPr>
        <p:spPr>
          <a:xfrm>
            <a:off x="3712464" y="443542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850" dirty="0"/>
          </a:p>
        </p:txBody>
      </p:sp>
      <p:sp>
        <p:nvSpPr>
          <p:cNvPr id="354" name="Shape 352"/>
          <p:cNvSpPr/>
          <p:nvPr/>
        </p:nvSpPr>
        <p:spPr>
          <a:xfrm>
            <a:off x="4325112" y="437142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5" name="Text 353"/>
          <p:cNvSpPr/>
          <p:nvPr/>
        </p:nvSpPr>
        <p:spPr>
          <a:xfrm>
            <a:off x="4325112" y="443542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850" dirty="0"/>
          </a:p>
        </p:txBody>
      </p:sp>
      <p:sp>
        <p:nvSpPr>
          <p:cNvPr id="356" name="Shape 354"/>
          <p:cNvSpPr/>
          <p:nvPr/>
        </p:nvSpPr>
        <p:spPr>
          <a:xfrm>
            <a:off x="4937760" y="437142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7" name="Text 355"/>
          <p:cNvSpPr/>
          <p:nvPr/>
        </p:nvSpPr>
        <p:spPr>
          <a:xfrm>
            <a:off x="4937760" y="443542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850" dirty="0"/>
          </a:p>
        </p:txBody>
      </p:sp>
      <p:sp>
        <p:nvSpPr>
          <p:cNvPr id="358" name="Shape 356"/>
          <p:cNvSpPr/>
          <p:nvPr/>
        </p:nvSpPr>
        <p:spPr>
          <a:xfrm>
            <a:off x="5550408" y="437142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9" name="Text 357"/>
          <p:cNvSpPr/>
          <p:nvPr/>
        </p:nvSpPr>
        <p:spPr>
          <a:xfrm>
            <a:off x="5550408" y="443542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60" name="Shape 358"/>
          <p:cNvSpPr/>
          <p:nvPr/>
        </p:nvSpPr>
        <p:spPr>
          <a:xfrm>
            <a:off x="6163056" y="437142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1" name="Text 359"/>
          <p:cNvSpPr/>
          <p:nvPr/>
        </p:nvSpPr>
        <p:spPr>
          <a:xfrm>
            <a:off x="6163056" y="443542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62" name="Shape 360"/>
          <p:cNvSpPr/>
          <p:nvPr/>
        </p:nvSpPr>
        <p:spPr>
          <a:xfrm>
            <a:off x="6775704" y="437142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3" name="Text 361"/>
          <p:cNvSpPr/>
          <p:nvPr/>
        </p:nvSpPr>
        <p:spPr>
          <a:xfrm>
            <a:off x="6775704" y="443542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64" name="Shape 362"/>
          <p:cNvSpPr/>
          <p:nvPr/>
        </p:nvSpPr>
        <p:spPr>
          <a:xfrm>
            <a:off x="7388352" y="4371420"/>
            <a:ext cx="612648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5" name="Text 363"/>
          <p:cNvSpPr/>
          <p:nvPr/>
        </p:nvSpPr>
        <p:spPr>
          <a:xfrm>
            <a:off x="7388352" y="443542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850" dirty="0"/>
          </a:p>
        </p:txBody>
      </p:sp>
      <p:sp>
        <p:nvSpPr>
          <p:cNvPr id="366" name="Shape 364"/>
          <p:cNvSpPr/>
          <p:nvPr/>
        </p:nvSpPr>
        <p:spPr>
          <a:xfrm>
            <a:off x="8001000" y="4371420"/>
            <a:ext cx="612648" cy="278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7" name="Text 365"/>
          <p:cNvSpPr/>
          <p:nvPr/>
        </p:nvSpPr>
        <p:spPr>
          <a:xfrm>
            <a:off x="8001000" y="4435428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850" dirty="0"/>
          </a:p>
        </p:txBody>
      </p:sp>
      <p:sp>
        <p:nvSpPr>
          <p:cNvPr id="368" name="Shape 366"/>
          <p:cNvSpPr/>
          <p:nvPr/>
        </p:nvSpPr>
        <p:spPr>
          <a:xfrm>
            <a:off x="109728" y="4650312"/>
            <a:ext cx="1261872" cy="278892"/>
          </a:xfrm>
          <a:prstGeom prst="rect">
            <a:avLst/>
          </a:prstGeom>
          <a:solidFill>
            <a:srgbClr val="1C1F2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9" name="Text 367"/>
          <p:cNvSpPr/>
          <p:nvPr/>
        </p:nvSpPr>
        <p:spPr>
          <a:xfrm>
            <a:off x="146304" y="4705176"/>
            <a:ext cx="1170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370" name="Shape 368"/>
          <p:cNvSpPr/>
          <p:nvPr/>
        </p:nvSpPr>
        <p:spPr>
          <a:xfrm>
            <a:off x="1261872" y="4650312"/>
            <a:ext cx="612648" cy="278892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1" name="Text 369"/>
          <p:cNvSpPr/>
          <p:nvPr/>
        </p:nvSpPr>
        <p:spPr>
          <a:xfrm>
            <a:off x="1261872" y="471432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367</a:t>
            </a:r>
            <a:endParaRPr lang="en-US" sz="900" dirty="0"/>
          </a:p>
        </p:txBody>
      </p:sp>
      <p:sp>
        <p:nvSpPr>
          <p:cNvPr id="372" name="Shape 370"/>
          <p:cNvSpPr/>
          <p:nvPr/>
        </p:nvSpPr>
        <p:spPr>
          <a:xfrm>
            <a:off x="1874520" y="4650312"/>
            <a:ext cx="612648" cy="278892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3" name="Text 371"/>
          <p:cNvSpPr/>
          <p:nvPr/>
        </p:nvSpPr>
        <p:spPr>
          <a:xfrm>
            <a:off x="1874520" y="471432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</a:t>
            </a:r>
            <a:endParaRPr lang="en-US" sz="900" dirty="0"/>
          </a:p>
        </p:txBody>
      </p:sp>
      <p:sp>
        <p:nvSpPr>
          <p:cNvPr id="374" name="Shape 372"/>
          <p:cNvSpPr/>
          <p:nvPr/>
        </p:nvSpPr>
        <p:spPr>
          <a:xfrm>
            <a:off x="2487168" y="4650312"/>
            <a:ext cx="612648" cy="278892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5" name="Text 373"/>
          <p:cNvSpPr/>
          <p:nvPr/>
        </p:nvSpPr>
        <p:spPr>
          <a:xfrm>
            <a:off x="2487168" y="471432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</a:t>
            </a:r>
            <a:endParaRPr lang="en-US" sz="900" dirty="0"/>
          </a:p>
        </p:txBody>
      </p:sp>
      <p:sp>
        <p:nvSpPr>
          <p:cNvPr id="376" name="Shape 374"/>
          <p:cNvSpPr/>
          <p:nvPr/>
        </p:nvSpPr>
        <p:spPr>
          <a:xfrm>
            <a:off x="3099816" y="4650312"/>
            <a:ext cx="612648" cy="278892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7" name="Text 375"/>
          <p:cNvSpPr/>
          <p:nvPr/>
        </p:nvSpPr>
        <p:spPr>
          <a:xfrm>
            <a:off x="3099816" y="471432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</a:t>
            </a:r>
            <a:endParaRPr lang="en-US" sz="900" dirty="0"/>
          </a:p>
        </p:txBody>
      </p:sp>
      <p:sp>
        <p:nvSpPr>
          <p:cNvPr id="378" name="Shape 376"/>
          <p:cNvSpPr/>
          <p:nvPr/>
        </p:nvSpPr>
        <p:spPr>
          <a:xfrm>
            <a:off x="3712464" y="4650312"/>
            <a:ext cx="612648" cy="278892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9" name="Text 377"/>
          <p:cNvSpPr/>
          <p:nvPr/>
        </p:nvSpPr>
        <p:spPr>
          <a:xfrm>
            <a:off x="3712464" y="471432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</a:t>
            </a:r>
            <a:endParaRPr lang="en-US" sz="900" dirty="0"/>
          </a:p>
        </p:txBody>
      </p:sp>
      <p:sp>
        <p:nvSpPr>
          <p:cNvPr id="380" name="Shape 378"/>
          <p:cNvSpPr/>
          <p:nvPr/>
        </p:nvSpPr>
        <p:spPr>
          <a:xfrm>
            <a:off x="4325112" y="4650312"/>
            <a:ext cx="612648" cy="278892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1" name="Text 379"/>
          <p:cNvSpPr/>
          <p:nvPr/>
        </p:nvSpPr>
        <p:spPr>
          <a:xfrm>
            <a:off x="4325112" y="471432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900" dirty="0"/>
          </a:p>
        </p:txBody>
      </p:sp>
      <p:sp>
        <p:nvSpPr>
          <p:cNvPr id="382" name="Shape 380"/>
          <p:cNvSpPr/>
          <p:nvPr/>
        </p:nvSpPr>
        <p:spPr>
          <a:xfrm>
            <a:off x="4937760" y="4650312"/>
            <a:ext cx="612648" cy="278892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3" name="Text 381"/>
          <p:cNvSpPr/>
          <p:nvPr/>
        </p:nvSpPr>
        <p:spPr>
          <a:xfrm>
            <a:off x="4937760" y="471432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900" dirty="0"/>
          </a:p>
        </p:txBody>
      </p:sp>
      <p:sp>
        <p:nvSpPr>
          <p:cNvPr id="384" name="Shape 382"/>
          <p:cNvSpPr/>
          <p:nvPr/>
        </p:nvSpPr>
        <p:spPr>
          <a:xfrm>
            <a:off x="5550408" y="4650312"/>
            <a:ext cx="612648" cy="278892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5" name="Text 383"/>
          <p:cNvSpPr/>
          <p:nvPr/>
        </p:nvSpPr>
        <p:spPr>
          <a:xfrm>
            <a:off x="5550408" y="471432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900" dirty="0"/>
          </a:p>
        </p:txBody>
      </p:sp>
      <p:sp>
        <p:nvSpPr>
          <p:cNvPr id="386" name="Shape 384"/>
          <p:cNvSpPr/>
          <p:nvPr/>
        </p:nvSpPr>
        <p:spPr>
          <a:xfrm>
            <a:off x="6163056" y="4650312"/>
            <a:ext cx="612648" cy="278892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7" name="Text 385"/>
          <p:cNvSpPr/>
          <p:nvPr/>
        </p:nvSpPr>
        <p:spPr>
          <a:xfrm>
            <a:off x="6163056" y="471432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900" dirty="0"/>
          </a:p>
        </p:txBody>
      </p:sp>
      <p:sp>
        <p:nvSpPr>
          <p:cNvPr id="388" name="Shape 386"/>
          <p:cNvSpPr/>
          <p:nvPr/>
        </p:nvSpPr>
        <p:spPr>
          <a:xfrm>
            <a:off x="6775704" y="4650312"/>
            <a:ext cx="612648" cy="278892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9" name="Text 387"/>
          <p:cNvSpPr/>
          <p:nvPr/>
        </p:nvSpPr>
        <p:spPr>
          <a:xfrm>
            <a:off x="6775704" y="471432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900" dirty="0"/>
          </a:p>
        </p:txBody>
      </p:sp>
      <p:sp>
        <p:nvSpPr>
          <p:cNvPr id="390" name="Shape 388"/>
          <p:cNvSpPr/>
          <p:nvPr/>
        </p:nvSpPr>
        <p:spPr>
          <a:xfrm>
            <a:off x="7388352" y="4650312"/>
            <a:ext cx="612648" cy="278892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1" name="Text 389"/>
          <p:cNvSpPr/>
          <p:nvPr/>
        </p:nvSpPr>
        <p:spPr>
          <a:xfrm>
            <a:off x="7388352" y="471432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900" dirty="0"/>
          </a:p>
        </p:txBody>
      </p:sp>
      <p:sp>
        <p:nvSpPr>
          <p:cNvPr id="392" name="Shape 390"/>
          <p:cNvSpPr/>
          <p:nvPr/>
        </p:nvSpPr>
        <p:spPr>
          <a:xfrm>
            <a:off x="8001000" y="4650312"/>
            <a:ext cx="612648" cy="278892"/>
          </a:xfrm>
          <a:prstGeom prst="rect">
            <a:avLst/>
          </a:prstGeom>
          <a:solidFill>
            <a:srgbClr val="1421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3" name="Text 391"/>
          <p:cNvSpPr/>
          <p:nvPr/>
        </p:nvSpPr>
        <p:spPr>
          <a:xfrm>
            <a:off x="8001000" y="4714320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75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  <p:sp>
        <p:nvSpPr>
          <p:cNvPr id="395" name="Text 393"/>
          <p:cNvSpPr/>
          <p:nvPr/>
        </p:nvSpPr>
        <p:spPr>
          <a:xfrm>
            <a:off x="228600" y="487257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Red = &gt;100 hrs  |  Orange = &gt;50 hrs  |  IG.19 &amp; IG.20 worst in No Operator  |  IG.12 &amp; IG.17 high in Not In Plan</a:t>
            </a:r>
            <a:endParaRPr lang="en-US" sz="950" dirty="0"/>
          </a:p>
        </p:txBody>
      </p:sp>
      <p:pic>
        <p:nvPicPr>
          <p:cNvPr id="397" name="Picture 396">
            <a:extLst>
              <a:ext uri="{FF2B5EF4-FFF2-40B4-BE49-F238E27FC236}">
                <a16:creationId xmlns:a16="http://schemas.microsoft.com/office/drawing/2014/main" id="{93A95752-B1E4-4095-FB5A-CEC655C9A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1851"/>
            <a:ext cx="1185735" cy="6494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A0710-6631-7AC7-A686-B95B51F5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80751F-002A-94CA-E2D5-11CF8512BFE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B721F3-9A59-1623-E3EB-391BB8DF311D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9EE2E2-0717-F32E-B3E3-0FCA20C5791D}"/>
              </a:ext>
            </a:extLst>
          </p:cNvPr>
          <p:cNvSpPr/>
          <p:nvPr/>
        </p:nvSpPr>
        <p:spPr>
          <a:xfrm>
            <a:off x="274320" y="5486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2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88145EC-D032-7B4A-37DC-D8F97223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1851"/>
            <a:ext cx="1185735" cy="649439"/>
          </a:xfrm>
          <a:prstGeom prst="rect">
            <a:avLst/>
          </a:prstGeom>
        </p:spPr>
      </p:pic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A1084040-BA52-B139-38D2-E0865FEFE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534092"/>
              </p:ext>
            </p:extLst>
          </p:nvPr>
        </p:nvGraphicFramePr>
        <p:xfrm>
          <a:off x="190500" y="801624"/>
          <a:ext cx="8488679" cy="3725220"/>
        </p:xfrm>
        <a:graphic>
          <a:graphicData uri="http://schemas.openxmlformats.org/drawingml/2006/table">
            <a:tbl>
              <a:tblPr/>
              <a:tblGrid>
                <a:gridCol w="725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0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5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71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971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M/c2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M/C Plan Qty.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Good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Rework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IN Running REJ.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Down Time (Hrs)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Total Loss Qty.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48,836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50,253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37,097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22,252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62,622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50,249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50,667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35,407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52,484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42,431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42,761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8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38,763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23,871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24,613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16,213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8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8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12,159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85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429,523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283,731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290,626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86,147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Text 1">
            <a:extLst>
              <a:ext uri="{FF2B5EF4-FFF2-40B4-BE49-F238E27FC236}">
                <a16:creationId xmlns:a16="http://schemas.microsoft.com/office/drawing/2014/main" id="{85C6310C-7898-4F12-CCBA-62421C90823D}"/>
              </a:ext>
            </a:extLst>
          </p:cNvPr>
          <p:cNvSpPr/>
          <p:nvPr/>
        </p:nvSpPr>
        <p:spPr>
          <a:xfrm>
            <a:off x="223520" y="76200"/>
            <a:ext cx="641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And Achievement Summary Sheet  Feb-2026  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740914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2" action="ppaction://hlinksldjump"/>
            <a:extLst>
              <a:ext uri="{FF2B5EF4-FFF2-40B4-BE49-F238E27FC236}">
                <a16:creationId xmlns:a16="http://schemas.microsoft.com/office/drawing/2014/main" id="{4BF48A1D-C015-9A59-0242-81DE888E2C24}"/>
              </a:ext>
            </a:extLst>
          </p:cNvPr>
          <p:cNvSpPr/>
          <p:nvPr/>
        </p:nvSpPr>
        <p:spPr>
          <a:xfrm>
            <a:off x="0" y="-7034"/>
            <a:ext cx="91440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779141B-9F5C-ABA4-658E-DC59ACA6CF52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A3EAD2-0CEA-8DAB-E7EF-71788B5CAFD9}"/>
              </a:ext>
            </a:extLst>
          </p:cNvPr>
          <p:cNvSpPr/>
          <p:nvPr/>
        </p:nvSpPr>
        <p:spPr>
          <a:xfrm>
            <a:off x="274320" y="5486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Calibri "/>
                <a:ea typeface="Liter" pitchFamily="34" charset="-122"/>
              </a:rPr>
              <a:t>IG Section – Downtime Analysis </a:t>
            </a:r>
            <a:endParaRPr lang="en-US" sz="2000" b="1" dirty="0">
              <a:latin typeface="Calibri 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ABD59-0446-D3E6-7521-EC7FA1E2A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1851"/>
            <a:ext cx="1185735" cy="6494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A7AEE4-9BE3-3A9D-DBEC-E63228EBACB0}"/>
              </a:ext>
            </a:extLst>
          </p:cNvPr>
          <p:cNvSpPr txBox="1"/>
          <p:nvPr/>
        </p:nvSpPr>
        <p:spPr>
          <a:xfrm>
            <a:off x="5077185" y="217540"/>
            <a:ext cx="1742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Total: 2,510 | 12 M/C</a:t>
            </a:r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62B67-C687-A7B9-CC39-6A7B7361D581}"/>
              </a:ext>
            </a:extLst>
          </p:cNvPr>
          <p:cNvSpPr txBox="1"/>
          <p:nvPr/>
        </p:nvSpPr>
        <p:spPr>
          <a:xfrm>
            <a:off x="487680" y="1001465"/>
            <a:ext cx="355473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u="sng" dirty="0"/>
              <a:t>Critical Problems (High Impact Issues)</a:t>
            </a:r>
          </a:p>
          <a:p>
            <a:pPr>
              <a:buNone/>
            </a:pPr>
            <a:endParaRPr lang="en-US" sz="1600" b="1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IG.20:</a:t>
            </a:r>
            <a:r>
              <a:rPr lang="en-US" sz="1100" dirty="0"/>
              <a:t> Maximum Quantity Loss (</a:t>
            </a:r>
            <a:r>
              <a:rPr lang="en-US" sz="1100" b="1" dirty="0"/>
              <a:t>12,880 units</a:t>
            </a:r>
            <a:r>
              <a:rPr lang="en-US" sz="11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IG.19:</a:t>
            </a:r>
            <a:r>
              <a:rPr lang="en-US" sz="1100" dirty="0"/>
              <a:t> Extreme Down Time (</a:t>
            </a:r>
            <a:r>
              <a:rPr lang="en-US" sz="1100" b="1" dirty="0"/>
              <a:t>269 hours</a:t>
            </a:r>
            <a:r>
              <a:rPr lang="en-US" sz="11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IG.17:</a:t>
            </a:r>
            <a:r>
              <a:rPr lang="en-US" sz="1100" dirty="0"/>
              <a:t> High Down Time (</a:t>
            </a:r>
            <a:r>
              <a:rPr lang="en-US" sz="1100" b="1" dirty="0"/>
              <a:t>263 hours</a:t>
            </a:r>
            <a:r>
              <a:rPr lang="en-US" sz="11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IG.15:</a:t>
            </a:r>
            <a:r>
              <a:rPr lang="en-US" sz="1100" dirty="0"/>
              <a:t> Severe Rework Issues (</a:t>
            </a:r>
            <a:r>
              <a:rPr lang="en-US" sz="1100" b="1" dirty="0"/>
              <a:t>2,055 units</a:t>
            </a:r>
            <a:r>
              <a:rPr lang="en-US" sz="11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IG.04:</a:t>
            </a:r>
            <a:r>
              <a:rPr lang="en-US" sz="1100" dirty="0"/>
              <a:t> High Rework Volume (</a:t>
            </a:r>
            <a:r>
              <a:rPr lang="en-US" sz="1100" b="1" dirty="0"/>
              <a:t>1,135 units</a:t>
            </a:r>
            <a:r>
              <a:rPr lang="en-US" sz="11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IG.01:</a:t>
            </a:r>
            <a:r>
              <a:rPr lang="en-US" sz="1100" dirty="0"/>
              <a:t> Critical In-Running Rejections (</a:t>
            </a:r>
            <a:r>
              <a:rPr lang="en-US" sz="1100" b="1" dirty="0"/>
              <a:t>1,299 units</a:t>
            </a:r>
            <a:r>
              <a:rPr lang="en-US" sz="1100" dirty="0"/>
              <a:t>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3D25E-240D-8034-0120-65F25210B105}"/>
              </a:ext>
            </a:extLst>
          </p:cNvPr>
          <p:cNvSpPr txBox="1"/>
          <p:nvPr/>
        </p:nvSpPr>
        <p:spPr>
          <a:xfrm>
            <a:off x="4640580" y="1001465"/>
            <a:ext cx="42291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u="sng" dirty="0"/>
              <a:t>Major Warning Points (High Concern)</a:t>
            </a:r>
          </a:p>
          <a:p>
            <a:pPr>
              <a:buNone/>
            </a:pPr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IG.11:</a:t>
            </a:r>
            <a:r>
              <a:rPr lang="en-US" sz="1100" dirty="0"/>
              <a:t> Combined high loss (</a:t>
            </a:r>
            <a:r>
              <a:rPr lang="en-US" sz="1100" b="1" dirty="0"/>
              <a:t>9,928 units</a:t>
            </a:r>
            <a:r>
              <a:rPr lang="en-US" sz="1100" dirty="0"/>
              <a:t>), Rework (</a:t>
            </a:r>
            <a:r>
              <a:rPr lang="en-US" sz="1100" b="1" dirty="0"/>
              <a:t>944</a:t>
            </a:r>
            <a:r>
              <a:rPr lang="en-US" sz="1100" dirty="0"/>
              <a:t>), and Rejections (</a:t>
            </a:r>
            <a:r>
              <a:rPr lang="en-US" sz="1100" b="1" dirty="0"/>
              <a:t>702</a:t>
            </a:r>
            <a:r>
              <a:rPr lang="en-US" sz="11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IG.18:</a:t>
            </a:r>
            <a:r>
              <a:rPr lang="en-US" sz="1100" dirty="0"/>
              <a:t> High Quantity Loss (</a:t>
            </a:r>
            <a:r>
              <a:rPr lang="en-US" sz="1100" b="1" dirty="0"/>
              <a:t>10,443 units</a:t>
            </a:r>
            <a:r>
              <a:rPr lang="en-US" sz="1100" dirty="0"/>
              <a:t>) with Rejection (</a:t>
            </a:r>
            <a:r>
              <a:rPr lang="en-US" sz="1100" b="1" dirty="0"/>
              <a:t>730</a:t>
            </a:r>
            <a:r>
              <a:rPr lang="en-US" sz="1100" dirty="0"/>
              <a:t>) and Rework (</a:t>
            </a:r>
            <a:r>
              <a:rPr lang="en-US" sz="1100" b="1" dirty="0"/>
              <a:t>899</a:t>
            </a:r>
            <a:r>
              <a:rPr lang="en-US" sz="1100" dirty="0"/>
              <a:t>) concerns.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IG.01:</a:t>
            </a:r>
            <a:r>
              <a:rPr lang="en-US" sz="1100" dirty="0"/>
              <a:t> High Overall Quantity Loss (</a:t>
            </a:r>
            <a:r>
              <a:rPr lang="en-US" sz="1100" b="1" dirty="0"/>
              <a:t>8,497 units</a:t>
            </a:r>
            <a:r>
              <a:rPr lang="en-US" sz="11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IG.04:</a:t>
            </a:r>
            <a:r>
              <a:rPr lang="en-US" sz="1100" dirty="0"/>
              <a:t> High Overall Quantity Loss (</a:t>
            </a:r>
            <a:r>
              <a:rPr lang="en-US" sz="1100" b="1" dirty="0"/>
              <a:t>8,727 units</a:t>
            </a:r>
            <a:r>
              <a:rPr lang="en-US" sz="1100" dirty="0"/>
              <a:t>) and Rejections (</a:t>
            </a:r>
            <a:r>
              <a:rPr lang="en-US" sz="1100" b="1" dirty="0"/>
              <a:t>602</a:t>
            </a:r>
            <a:r>
              <a:rPr lang="en-US" sz="11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IG.13:</a:t>
            </a:r>
            <a:r>
              <a:rPr lang="en-US" sz="1100" dirty="0"/>
              <a:t> Significant Rework (</a:t>
            </a:r>
            <a:r>
              <a:rPr lang="en-US" sz="1100" b="1" dirty="0"/>
              <a:t>930</a:t>
            </a:r>
            <a:r>
              <a:rPr lang="en-US" sz="1100" dirty="0"/>
              <a:t>) and Quantity Loss (</a:t>
            </a:r>
            <a:r>
              <a:rPr lang="en-US" sz="1100" b="1" dirty="0"/>
              <a:t>7,521 units</a:t>
            </a:r>
            <a:r>
              <a:rPr lang="en-US" sz="11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IG.15:</a:t>
            </a:r>
            <a:r>
              <a:rPr lang="en-US" sz="1100" dirty="0"/>
              <a:t> High Quantity Loss (</a:t>
            </a:r>
            <a:r>
              <a:rPr lang="en-US" sz="1100" b="1" dirty="0"/>
              <a:t>7,215 units</a:t>
            </a:r>
            <a:r>
              <a:rPr lang="en-US" sz="1100" dirty="0"/>
              <a:t>) and Rejections (</a:t>
            </a:r>
            <a:r>
              <a:rPr lang="en-US" sz="1100" b="1" dirty="0"/>
              <a:t>800</a:t>
            </a:r>
            <a:r>
              <a:rPr lang="en-US" sz="11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Downtime Concerns:</a:t>
            </a:r>
            <a:r>
              <a:rPr lang="en-US" sz="1100" dirty="0"/>
              <a:t> High hours observed on </a:t>
            </a:r>
            <a:r>
              <a:rPr lang="en-US" sz="1100" b="1" dirty="0"/>
              <a:t>IG.11 (211h)</a:t>
            </a:r>
            <a:r>
              <a:rPr lang="en-US" sz="1100" dirty="0"/>
              <a:t>, </a:t>
            </a:r>
            <a:r>
              <a:rPr lang="en-US" sz="1100" b="1" dirty="0"/>
              <a:t>IG.20 (227h)</a:t>
            </a:r>
            <a:r>
              <a:rPr lang="en-US" sz="1100" dirty="0"/>
              <a:t>, and </a:t>
            </a:r>
            <a:r>
              <a:rPr lang="en-US" sz="1100" b="1" dirty="0"/>
              <a:t>IG.18 (159h)</a:t>
            </a:r>
            <a:r>
              <a:rPr lang="en-US" sz="1100" dirty="0"/>
              <a:t>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9A3BC5-BC15-F6AA-8B39-2F197298FB85}"/>
              </a:ext>
            </a:extLst>
          </p:cNvPr>
          <p:cNvCxnSpPr>
            <a:cxnSpLocks/>
          </p:cNvCxnSpPr>
          <p:nvPr/>
        </p:nvCxnSpPr>
        <p:spPr>
          <a:xfrm>
            <a:off x="4160520" y="922020"/>
            <a:ext cx="0" cy="4000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018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15C65A-BE4B-A91D-EE2A-B91BF51642DB}"/>
              </a:ext>
            </a:extLst>
          </p:cNvPr>
          <p:cNvSpPr txBox="1"/>
          <p:nvPr/>
        </p:nvSpPr>
        <p:spPr>
          <a:xfrm>
            <a:off x="441960" y="1017478"/>
            <a:ext cx="7543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Focus on these areas to reduce Rejection and Rework: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Audit IG.15 &amp; IG.01:</a:t>
            </a:r>
            <a:r>
              <a:rPr lang="en-US" sz="1600" dirty="0"/>
              <a:t> Find the root cause of high rework and rejections on these specific machines.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First-Piece Approval:</a:t>
            </a:r>
            <a:r>
              <a:rPr lang="en-US" sz="1600" dirty="0"/>
              <a:t> 100% verify the first part after any </a:t>
            </a:r>
            <a:r>
              <a:rPr lang="en-US" sz="1600" b="1" dirty="0"/>
              <a:t>New Setting</a:t>
            </a:r>
            <a:r>
              <a:rPr lang="en-US" sz="1600" dirty="0"/>
              <a:t> or </a:t>
            </a:r>
            <a:r>
              <a:rPr lang="en-US" sz="1600" b="1" dirty="0"/>
              <a:t>Wheel Change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Hourly Checks:</a:t>
            </a:r>
            <a:r>
              <a:rPr lang="en-US" sz="1600" dirty="0"/>
              <a:t> Perform frequent checks on </a:t>
            </a:r>
            <a:r>
              <a:rPr lang="en-US" sz="1600" b="1" dirty="0"/>
              <a:t>IG.04 &amp; IG.15</a:t>
            </a:r>
            <a:r>
              <a:rPr lang="en-US" sz="1600" dirty="0"/>
              <a:t> to catch errors early.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Skill Training:</a:t>
            </a:r>
            <a:r>
              <a:rPr lang="en-US" sz="1600" dirty="0"/>
              <a:t> Train operators on </a:t>
            </a:r>
            <a:r>
              <a:rPr lang="en-US" sz="1600" b="1" dirty="0"/>
              <a:t>New Setting</a:t>
            </a:r>
            <a:r>
              <a:rPr lang="en-US" sz="1600" dirty="0"/>
              <a:t> procedures to stop setup-related rework.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Wheel Maintenance:</a:t>
            </a:r>
            <a:r>
              <a:rPr lang="en-US" sz="1600" dirty="0"/>
              <a:t> Ensure proper dressing and balancing for </a:t>
            </a:r>
            <a:r>
              <a:rPr lang="en-US" sz="1600" b="1" dirty="0"/>
              <a:t>IG.16 &amp; IG.04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SOP Implementation:</a:t>
            </a:r>
            <a:r>
              <a:rPr lang="en-US" sz="1600" dirty="0"/>
              <a:t> Use step-by-step "How-to" guides for settings to eliminate human error.</a:t>
            </a:r>
          </a:p>
        </p:txBody>
      </p:sp>
      <p:sp>
        <p:nvSpPr>
          <p:cNvPr id="4" name="Shape 0">
            <a:hlinkClick r:id="rId2" action="ppaction://hlinksldjump"/>
            <a:extLst>
              <a:ext uri="{FF2B5EF4-FFF2-40B4-BE49-F238E27FC236}">
                <a16:creationId xmlns:a16="http://schemas.microsoft.com/office/drawing/2014/main" id="{2A227ABE-04A7-42F6-B875-79A5265EC850}"/>
              </a:ext>
            </a:extLst>
          </p:cNvPr>
          <p:cNvSpPr/>
          <p:nvPr/>
        </p:nvSpPr>
        <p:spPr>
          <a:xfrm>
            <a:off x="0" y="-7034"/>
            <a:ext cx="91440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9FC802C4-38E2-91D7-DFAD-18F8749F81AB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B58D16A-137E-08F8-0CFD-F4F69AE07258}"/>
              </a:ext>
            </a:extLst>
          </p:cNvPr>
          <p:cNvSpPr/>
          <p:nvPr/>
        </p:nvSpPr>
        <p:spPr>
          <a:xfrm>
            <a:off x="274320" y="5486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Calibri "/>
                <a:ea typeface="Liter" pitchFamily="34" charset="-122"/>
              </a:rPr>
              <a:t>IG Section – Downtime Analysis </a:t>
            </a:r>
            <a:endParaRPr lang="en-US" sz="2000" b="1" dirty="0">
              <a:latin typeface="Calibri 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BAB35A-7B32-6128-73B5-7BBCED750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1851"/>
            <a:ext cx="1185735" cy="6494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AD96AA-FF72-A78C-1081-8BCB95F9D29D}"/>
              </a:ext>
            </a:extLst>
          </p:cNvPr>
          <p:cNvSpPr txBox="1"/>
          <p:nvPr/>
        </p:nvSpPr>
        <p:spPr>
          <a:xfrm>
            <a:off x="5077185" y="217540"/>
            <a:ext cx="1742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Total: 2,510 | 12 M/C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48798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19A231-2BA1-2E21-8D70-8FC8F3AD9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A09D3138-E2B2-B877-2242-B4707E01A4F6}"/>
              </a:ext>
            </a:extLst>
          </p:cNvPr>
          <p:cNvSpPr/>
          <p:nvPr/>
        </p:nvSpPr>
        <p:spPr>
          <a:xfrm>
            <a:off x="0" y="-7034"/>
            <a:ext cx="91440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97FA00-A16C-F6A2-C4BF-EF1655AD0B84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B409FC-F243-6C0A-334B-3C712AF1FF84}"/>
              </a:ext>
            </a:extLst>
          </p:cNvPr>
          <p:cNvSpPr/>
          <p:nvPr/>
        </p:nvSpPr>
        <p:spPr>
          <a:xfrm>
            <a:off x="274320" y="5486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latin typeface="Clibari"/>
                <a:ea typeface="Liter" pitchFamily="34" charset="-122"/>
                <a:cs typeface="Liter" pitchFamily="34" charset="-120"/>
              </a:rPr>
              <a:t>IG Rework (ppm)</a:t>
            </a:r>
            <a:endParaRPr lang="en-US" sz="2400" b="1" dirty="0">
              <a:latin typeface="Cliba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E6F1A1-4104-00BD-8DBD-D8AA39FB2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1851"/>
            <a:ext cx="1185735" cy="649439"/>
          </a:xfrm>
          <a:prstGeom prst="rect">
            <a:avLst/>
          </a:prstGeom>
        </p:spPr>
      </p:pic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2FB37964-E0CA-7D67-CF77-B5A56FE0B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907519"/>
              </p:ext>
            </p:extLst>
          </p:nvPr>
        </p:nvGraphicFramePr>
        <p:xfrm>
          <a:off x="288196" y="763968"/>
          <a:ext cx="7575645" cy="3951837"/>
        </p:xfrm>
        <a:graphic>
          <a:graphicData uri="http://schemas.openxmlformats.org/drawingml/2006/table">
            <a:tbl>
              <a:tblPr/>
              <a:tblGrid>
                <a:gridCol w="1556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1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1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6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M/C Plan Qty.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Rework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9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60,997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48,836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9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37,097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9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9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9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62,622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9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50,667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9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52,484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42,431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9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9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38,763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23,871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9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9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9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79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429,523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283,731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Shape 2">
            <a:extLst>
              <a:ext uri="{FF2B5EF4-FFF2-40B4-BE49-F238E27FC236}">
                <a16:creationId xmlns:a16="http://schemas.microsoft.com/office/drawing/2014/main" id="{BE7E78B2-5241-BE0C-D3FF-B7655E746C90}"/>
              </a:ext>
            </a:extLst>
          </p:cNvPr>
          <p:cNvSpPr/>
          <p:nvPr/>
        </p:nvSpPr>
        <p:spPr>
          <a:xfrm>
            <a:off x="523569" y="4805026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8CDA895-471E-6EDE-AEAE-B6A2F71A8030}"/>
              </a:ext>
            </a:extLst>
          </p:cNvPr>
          <p:cNvSpPr/>
          <p:nvPr/>
        </p:nvSpPr>
        <p:spPr>
          <a:xfrm>
            <a:off x="779601" y="4805026"/>
            <a:ext cx="1639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Rework &gt;= 1000 (Action Needed)</a:t>
            </a:r>
            <a:endParaRPr lang="en-US" sz="9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2F57CA15-944C-00BD-6C82-C50D99B80813}"/>
              </a:ext>
            </a:extLst>
          </p:cNvPr>
          <p:cNvSpPr/>
          <p:nvPr/>
        </p:nvSpPr>
        <p:spPr>
          <a:xfrm>
            <a:off x="2498087" y="4818742"/>
            <a:ext cx="201168" cy="20116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41BCEAC-6745-A045-9EAA-0BB8980EF3BF}"/>
              </a:ext>
            </a:extLst>
          </p:cNvPr>
          <p:cNvSpPr/>
          <p:nvPr/>
        </p:nvSpPr>
        <p:spPr>
          <a:xfrm>
            <a:off x="2794232" y="4777594"/>
            <a:ext cx="1504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Rework 800 - 999 (Monitor)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23067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04B21-2C6F-F085-0E29-5BE8257EA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5138D489-1F6F-0250-ABB6-FD82548B0CCA}"/>
              </a:ext>
            </a:extLst>
          </p:cNvPr>
          <p:cNvSpPr/>
          <p:nvPr/>
        </p:nvSpPr>
        <p:spPr>
          <a:xfrm>
            <a:off x="0" y="-7034"/>
            <a:ext cx="91440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BD579A3-D561-E6F4-9AEC-93699AE2F353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D55423-2961-6DB8-C5CA-DC04D02DD9C0}"/>
              </a:ext>
            </a:extLst>
          </p:cNvPr>
          <p:cNvSpPr/>
          <p:nvPr/>
        </p:nvSpPr>
        <p:spPr>
          <a:xfrm>
            <a:off x="274320" y="204093"/>
            <a:ext cx="7772400" cy="31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ea typeface="Liter" pitchFamily="34" charset="-122"/>
                <a:cs typeface="Liter" pitchFamily="34" charset="-120"/>
              </a:rPr>
              <a:t> IG Rejection (ppm)</a:t>
            </a:r>
            <a:endParaRPr lang="en-US" sz="2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E3CA62-4A3F-F320-03F9-3F6A7240E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1851"/>
            <a:ext cx="1185735" cy="649439"/>
          </a:xfrm>
          <a:prstGeom prst="rect">
            <a:avLst/>
          </a:prstGeom>
        </p:spPr>
      </p:pic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57C4E072-8DFF-015D-C650-601EC4D4E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046441"/>
              </p:ext>
            </p:extLst>
          </p:nvPr>
        </p:nvGraphicFramePr>
        <p:xfrm>
          <a:off x="281359" y="776069"/>
          <a:ext cx="8295375" cy="3960958"/>
        </p:xfrm>
        <a:graphic>
          <a:graphicData uri="http://schemas.openxmlformats.org/drawingml/2006/table">
            <a:tbl>
              <a:tblPr/>
              <a:tblGrid>
                <a:gridCol w="1704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M/C Plan Qty.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IN Running REJ.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60,997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48,836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37,097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62,622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50,667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52,484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42,431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38,763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23,871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37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429,523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283,731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8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Shape 2">
            <a:extLst>
              <a:ext uri="{FF2B5EF4-FFF2-40B4-BE49-F238E27FC236}">
                <a16:creationId xmlns:a16="http://schemas.microsoft.com/office/drawing/2014/main" id="{EF656A8C-05AD-DD6D-19F4-9F54BE2AF1A3}"/>
              </a:ext>
            </a:extLst>
          </p:cNvPr>
          <p:cNvSpPr/>
          <p:nvPr/>
        </p:nvSpPr>
        <p:spPr>
          <a:xfrm>
            <a:off x="418121" y="4855698"/>
            <a:ext cx="201168" cy="201168"/>
          </a:xfrm>
          <a:prstGeom prst="rect">
            <a:avLst/>
          </a:prstGeom>
          <a:solidFill>
            <a:srgbClr val="FF000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77F828C-A277-418E-BAE9-A345F06B750C}"/>
              </a:ext>
            </a:extLst>
          </p:cNvPr>
          <p:cNvSpPr/>
          <p:nvPr/>
        </p:nvSpPr>
        <p:spPr>
          <a:xfrm>
            <a:off x="674153" y="4828266"/>
            <a:ext cx="15844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REJ &gt;= 1000 (Action Needed)</a:t>
            </a:r>
            <a:endParaRPr lang="en-US" sz="10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80A17AD-0EB3-7479-6F54-6B88B619F2D8}"/>
              </a:ext>
            </a:extLst>
          </p:cNvPr>
          <p:cNvSpPr/>
          <p:nvPr/>
        </p:nvSpPr>
        <p:spPr>
          <a:xfrm>
            <a:off x="2372749" y="4855698"/>
            <a:ext cx="201168" cy="20116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E927B2E-C8BF-88B2-C961-B6C2EB117161}"/>
              </a:ext>
            </a:extLst>
          </p:cNvPr>
          <p:cNvSpPr/>
          <p:nvPr/>
        </p:nvSpPr>
        <p:spPr>
          <a:xfrm>
            <a:off x="2688021" y="4828266"/>
            <a:ext cx="1415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REJ 500 - 999 (Monitor)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5077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DB09B-37BF-A48E-62C4-DA2EC510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5EADC0-D211-9648-63EF-96055D9B67AE}"/>
              </a:ext>
            </a:extLst>
          </p:cNvPr>
          <p:cNvSpPr/>
          <p:nvPr/>
        </p:nvSpPr>
        <p:spPr>
          <a:xfrm>
            <a:off x="11430" y="-270891"/>
            <a:ext cx="9121140" cy="44577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2C6D30-73D8-3F6C-B7C5-6812AA4E37FE}"/>
              </a:ext>
            </a:extLst>
          </p:cNvPr>
          <p:cNvSpPr/>
          <p:nvPr/>
        </p:nvSpPr>
        <p:spPr>
          <a:xfrm>
            <a:off x="205740" y="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 Person Output — Good Performance Analysis  |  Machine: IG.11  |  February 2026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5E1FDF-D86E-A173-E207-5C0DACFED24F}"/>
              </a:ext>
            </a:extLst>
          </p:cNvPr>
          <p:cNvSpPr/>
          <p:nvPr/>
        </p:nvSpPr>
        <p:spPr>
          <a:xfrm>
            <a:off x="6995160" y="0"/>
            <a:ext cx="19888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F5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Sorted: Good Output ↑ (Lowest → Highest)</a:t>
            </a:r>
            <a:endParaRPr lang="en-US" sz="675" dirty="0"/>
          </a:p>
        </p:txBody>
      </p:sp>
      <p:graphicFrame>
        <p:nvGraphicFramePr>
          <p:cNvPr id="1047" name="Table 0">
            <a:extLst>
              <a:ext uri="{FF2B5EF4-FFF2-40B4-BE49-F238E27FC236}">
                <a16:creationId xmlns:a16="http://schemas.microsoft.com/office/drawing/2014/main" id="{A72BA7A4-4E62-4BAE-5587-F7245FB0C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21941"/>
              </p:ext>
            </p:extLst>
          </p:nvPr>
        </p:nvGraphicFramePr>
        <p:xfrm>
          <a:off x="160020" y="224917"/>
          <a:ext cx="8778238" cy="4800600"/>
        </p:xfrm>
        <a:graphic>
          <a:graphicData uri="http://schemas.openxmlformats.org/drawingml/2006/table">
            <a:tbl>
              <a:tblPr/>
              <a:tblGrid>
                <a:gridCol w="899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7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28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41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Shift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Operator Name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Plan Hrs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GOOD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Rework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REJ</a:t>
                      </a:r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06-Feb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Pankajbhai Khasiya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368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357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21-Feb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Vala Himesh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436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410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17-Feb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488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469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17-Feb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Hashmukh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493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470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Vala Himesh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528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517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Amit Makampara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560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535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07-Feb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Pravin Baraiya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611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555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Vala Himesh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644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627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07-Feb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Himesh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642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630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670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670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09-Feb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Abhijitsinh Rana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736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686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Pravin Baraiya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779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718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Amit Makampara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735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720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Hashmukh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761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743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795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755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08-Feb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825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783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09-Feb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Varshaben Mankoliya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873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813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06-Feb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Dilip Panday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822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817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Taslimbhai Kondhiya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925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900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10-Feb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II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Akash Kumar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973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937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anchor="ctr">
                    <a:lnL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0627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509625E-C1B7-9CE9-D590-52B31A854FB9}"/>
              </a:ext>
            </a:extLst>
          </p:cNvPr>
          <p:cNvSpPr/>
          <p:nvPr/>
        </p:nvSpPr>
        <p:spPr>
          <a:xfrm>
            <a:off x="11430" y="3429"/>
            <a:ext cx="9121140" cy="44577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54EC3C-B484-3F72-D905-1713CF15617E}"/>
              </a:ext>
            </a:extLst>
          </p:cNvPr>
          <p:cNvSpPr/>
          <p:nvPr/>
        </p:nvSpPr>
        <p:spPr>
          <a:xfrm>
            <a:off x="341206" y="3429"/>
            <a:ext cx="6858000" cy="499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FAILURE ANALYSIS REPORT: MACHINE IG.11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B163692-F95F-7862-F280-C9F2709BE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8739" y="1819495"/>
            <a:ext cx="3891067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Excessive Downtime: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Machine was down for approx.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hours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mechanical breakdown and maintenance.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Setup Time: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Significant productive time lost in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Job Change and Trials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the start of the shift.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Raw Material: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180 pieces rejected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"Out of Spec" material quality, directly impacting output.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Cycle Time: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specific job/part running that day had a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longer production time per piece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other shifts.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Machine Availability: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Operator had only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~50% machine availability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the combined impact of breakdown and setup.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36E527-1A7E-FCA1-CA7B-F9730B685023}"/>
              </a:ext>
            </a:extLst>
          </p:cNvPr>
          <p:cNvSpPr txBox="1"/>
          <p:nvPr/>
        </p:nvSpPr>
        <p:spPr>
          <a:xfrm>
            <a:off x="160866" y="502862"/>
            <a:ext cx="8641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u="sng" dirty="0">
                <a:solidFill>
                  <a:srgbClr val="FF0000"/>
                </a:solidFill>
              </a:rPr>
              <a:t>Low Performance: Core Reasons</a:t>
            </a:r>
          </a:p>
          <a:p>
            <a:pPr algn="ctr"/>
            <a:endParaRPr lang="en-IN" u="sng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0E7D2-8666-40DE-4DBD-0AA6CCF43A3F}"/>
              </a:ext>
            </a:extLst>
          </p:cNvPr>
          <p:cNvSpPr txBox="1"/>
          <p:nvPr/>
        </p:nvSpPr>
        <p:spPr>
          <a:xfrm>
            <a:off x="1471343" y="856805"/>
            <a:ext cx="6201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u="sng" dirty="0"/>
              <a:t>Date:</a:t>
            </a:r>
            <a:r>
              <a:rPr lang="en-IN" sz="1400" u="sng" dirty="0"/>
              <a:t> 06-Feb-2026 | </a:t>
            </a:r>
            <a:r>
              <a:rPr lang="en-IN" sz="1400" b="1" u="sng" dirty="0"/>
              <a:t>Shift:</a:t>
            </a:r>
            <a:r>
              <a:rPr lang="en-IN" sz="1400" u="sng" dirty="0"/>
              <a:t> I (08:00 AM - 04:00 PM) | </a:t>
            </a:r>
            <a:r>
              <a:rPr lang="en-IN" sz="1400" b="1" u="sng" dirty="0"/>
              <a:t>Operator:</a:t>
            </a:r>
            <a:r>
              <a:rPr lang="en-IN" sz="1400" u="sng" dirty="0"/>
              <a:t> </a:t>
            </a:r>
            <a:r>
              <a:rPr lang="en-IN" sz="1400" u="sng" dirty="0" err="1"/>
              <a:t>Pankajbhai</a:t>
            </a:r>
            <a:r>
              <a:rPr lang="en-IN" sz="1400" u="sng" dirty="0"/>
              <a:t> </a:t>
            </a:r>
            <a:r>
              <a:rPr lang="en-IN" sz="1400" u="sng" dirty="0" err="1"/>
              <a:t>Khasiya</a:t>
            </a:r>
            <a:endParaRPr lang="en-IN" sz="1400" u="sng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E4CF4B-E986-ED02-5DBB-8101B9012870}"/>
              </a:ext>
            </a:extLst>
          </p:cNvPr>
          <p:cNvSpPr txBox="1"/>
          <p:nvPr/>
        </p:nvSpPr>
        <p:spPr>
          <a:xfrm>
            <a:off x="5047684" y="1343396"/>
            <a:ext cx="390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solidFill>
                  <a:schemeClr val="accent2">
                    <a:lumMod val="50000"/>
                  </a:schemeClr>
                </a:solidFill>
              </a:rPr>
              <a:t>Low Performance: Core Reasons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8DFE2D2-97B5-092B-10B4-BA43A8E05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549151"/>
              </p:ext>
            </p:extLst>
          </p:nvPr>
        </p:nvGraphicFramePr>
        <p:xfrm>
          <a:off x="406400" y="1704655"/>
          <a:ext cx="4612217" cy="2294999"/>
        </p:xfrm>
        <a:graphic>
          <a:graphicData uri="http://schemas.openxmlformats.org/drawingml/2006/table">
            <a:tbl>
              <a:tblPr/>
              <a:tblGrid>
                <a:gridCol w="1493943">
                  <a:extLst>
                    <a:ext uri="{9D8B030D-6E8A-4147-A177-3AD203B41FA5}">
                      <a16:colId xmlns:a16="http://schemas.microsoft.com/office/drawing/2014/main" val="1498219153"/>
                    </a:ext>
                  </a:extLst>
                </a:gridCol>
                <a:gridCol w="1559137">
                  <a:extLst>
                    <a:ext uri="{9D8B030D-6E8A-4147-A177-3AD203B41FA5}">
                      <a16:colId xmlns:a16="http://schemas.microsoft.com/office/drawing/2014/main" val="3491614056"/>
                    </a:ext>
                  </a:extLst>
                </a:gridCol>
                <a:gridCol w="1559137">
                  <a:extLst>
                    <a:ext uri="{9D8B030D-6E8A-4147-A177-3AD203B41FA5}">
                      <a16:colId xmlns:a16="http://schemas.microsoft.com/office/drawing/2014/main" val="2838964565"/>
                    </a:ext>
                  </a:extLst>
                </a:gridCol>
              </a:tblGrid>
              <a:tr h="6749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65055"/>
                  </a:ext>
                </a:extLst>
              </a:tr>
              <a:tr h="405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527943"/>
                  </a:ext>
                </a:extLst>
              </a:tr>
              <a:tr h="405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697002"/>
                  </a:ext>
                </a:extLst>
              </a:tr>
              <a:tr h="405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237841"/>
                  </a:ext>
                </a:extLst>
              </a:tr>
              <a:tr h="405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79405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D46B3FA-024E-A82B-4E0A-907B7F908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726950"/>
              </p:ext>
            </p:extLst>
          </p:nvPr>
        </p:nvGraphicFramePr>
        <p:xfrm>
          <a:off x="160866" y="1906932"/>
          <a:ext cx="4556618" cy="2687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6030">
                  <a:extLst>
                    <a:ext uri="{9D8B030D-6E8A-4147-A177-3AD203B41FA5}">
                      <a16:colId xmlns:a16="http://schemas.microsoft.com/office/drawing/2014/main" val="4100768747"/>
                    </a:ext>
                  </a:extLst>
                </a:gridCol>
                <a:gridCol w="1650294">
                  <a:extLst>
                    <a:ext uri="{9D8B030D-6E8A-4147-A177-3AD203B41FA5}">
                      <a16:colId xmlns:a16="http://schemas.microsoft.com/office/drawing/2014/main" val="3908774450"/>
                    </a:ext>
                  </a:extLst>
                </a:gridCol>
                <a:gridCol w="1650294">
                  <a:extLst>
                    <a:ext uri="{9D8B030D-6E8A-4147-A177-3AD203B41FA5}">
                      <a16:colId xmlns:a16="http://schemas.microsoft.com/office/drawing/2014/main" val="117154299"/>
                    </a:ext>
                  </a:extLst>
                </a:gridCol>
              </a:tblGrid>
              <a:tr h="543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solidFill>
                            <a:schemeClr val="tx1"/>
                          </a:solidFill>
                        </a:rPr>
                        <a:t>Pankajbhai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 (Bottom)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Akash/</a:t>
                      </a:r>
                      <a:r>
                        <a:rPr lang="en-IN" sz="1200" dirty="0" err="1">
                          <a:solidFill>
                            <a:schemeClr val="tx1"/>
                          </a:solidFill>
                        </a:rPr>
                        <a:t>Taslimbhai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 (Top)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011006"/>
                  </a:ext>
                </a:extLst>
              </a:tr>
              <a:tr h="53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Machine Status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Major Breakdown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Smooth Running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25130"/>
                  </a:ext>
                </a:extLst>
              </a:tr>
              <a:tr h="53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Material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High Variation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Consistent Quality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0693544"/>
                  </a:ext>
                </a:extLst>
              </a:tr>
              <a:tr h="53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Setup Time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~1.5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0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2374480"/>
                  </a:ext>
                </a:extLst>
              </a:tr>
              <a:tr h="53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Actual Run Time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~4.5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~7.5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653172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5DA7360-4375-64F4-8087-7B1962A65C74}"/>
              </a:ext>
            </a:extLst>
          </p:cNvPr>
          <p:cNvSpPr txBox="1"/>
          <p:nvPr/>
        </p:nvSpPr>
        <p:spPr>
          <a:xfrm>
            <a:off x="187256" y="1527108"/>
            <a:ext cx="42945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/>
              <a:t>Summary Table: Pankaj bhai vs. High Performers</a:t>
            </a:r>
            <a:endParaRPr lang="en-IN" sz="1600" b="1" u="sng" dirty="0"/>
          </a:p>
        </p:txBody>
      </p:sp>
    </p:spTree>
    <p:extLst>
      <p:ext uri="{BB962C8B-B14F-4D97-AF65-F5344CB8AC3E}">
        <p14:creationId xmlns:p14="http://schemas.microsoft.com/office/powerpoint/2010/main" val="820691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91D94-4364-E0E1-87A9-9E9586E6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  <a:extLst>
              <a:ext uri="{FF2B5EF4-FFF2-40B4-BE49-F238E27FC236}">
                <a16:creationId xmlns:a16="http://schemas.microsoft.com/office/drawing/2014/main" id="{397701FA-A28C-7760-D362-0459E49F0361}"/>
              </a:ext>
            </a:extLst>
          </p:cNvPr>
          <p:cNvSpPr/>
          <p:nvPr/>
        </p:nvSpPr>
        <p:spPr>
          <a:xfrm>
            <a:off x="0" y="-7034"/>
            <a:ext cx="91440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F66D879-682F-F94E-17C6-672B0C5E8CDD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5BCC32-9C1B-07C1-67D6-6FBA623B27C6}"/>
              </a:ext>
            </a:extLst>
          </p:cNvPr>
          <p:cNvSpPr/>
          <p:nvPr/>
        </p:nvSpPr>
        <p:spPr>
          <a:xfrm>
            <a:off x="274320" y="5486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ea typeface="Liter" pitchFamily="34" charset="-122"/>
                <a:cs typeface="Liter" pitchFamily="34" charset="-120"/>
              </a:rPr>
              <a:t>OEE – IG Machines Avg.</a:t>
            </a:r>
            <a:endParaRPr lang="en-US" sz="2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422963-216A-A3C4-5DA2-E4AB93688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1851"/>
            <a:ext cx="1185735" cy="649439"/>
          </a:xfrm>
          <a:prstGeom prst="rect">
            <a:avLst/>
          </a:prstGeom>
        </p:spPr>
      </p:pic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B1CE39A6-A068-1B09-4D15-DF19BC7E1F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4776200"/>
              </p:ext>
            </p:extLst>
          </p:nvPr>
        </p:nvGraphicFramePr>
        <p:xfrm>
          <a:off x="205740" y="994410"/>
          <a:ext cx="6035040" cy="1817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Chart 1">
            <a:extLst>
              <a:ext uri="{FF2B5EF4-FFF2-40B4-BE49-F238E27FC236}">
                <a16:creationId xmlns:a16="http://schemas.microsoft.com/office/drawing/2014/main" id="{5811C6C0-6BD4-8C49-A31F-4F890A9182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6682993"/>
              </p:ext>
            </p:extLst>
          </p:nvPr>
        </p:nvGraphicFramePr>
        <p:xfrm>
          <a:off x="205740" y="2690441"/>
          <a:ext cx="6035040" cy="22051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Shape 5">
            <a:extLst>
              <a:ext uri="{FF2B5EF4-FFF2-40B4-BE49-F238E27FC236}">
                <a16:creationId xmlns:a16="http://schemas.microsoft.com/office/drawing/2014/main" id="{F90E562A-3FC9-22E0-5E2E-D124B911ED02}"/>
              </a:ext>
            </a:extLst>
          </p:cNvPr>
          <p:cNvSpPr/>
          <p:nvPr/>
        </p:nvSpPr>
        <p:spPr>
          <a:xfrm>
            <a:off x="6412230" y="994410"/>
            <a:ext cx="2468880" cy="3634740"/>
          </a:xfrm>
          <a:prstGeom prst="rect">
            <a:avLst/>
          </a:prstGeom>
          <a:solidFill>
            <a:schemeClr val="bg1"/>
          </a:solidFill>
          <a:ln w="12700">
            <a:solidFill>
              <a:srgbClr val="1B2A4A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A3A0FD3-331D-F043-65E1-4C6AB0C600C4}"/>
              </a:ext>
            </a:extLst>
          </p:cNvPr>
          <p:cNvSpPr/>
          <p:nvPr/>
        </p:nvSpPr>
        <p:spPr>
          <a:xfrm>
            <a:off x="6412230" y="994410"/>
            <a:ext cx="2468880" cy="342900"/>
          </a:xfrm>
          <a:prstGeom prst="rect">
            <a:avLst/>
          </a:prstGeom>
          <a:solidFill>
            <a:srgbClr val="2B5FA6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679A69E-88D3-0F36-2B80-F79BDF2C4968}"/>
              </a:ext>
            </a:extLst>
          </p:cNvPr>
          <p:cNvSpPr/>
          <p:nvPr/>
        </p:nvSpPr>
        <p:spPr>
          <a:xfrm>
            <a:off x="6412230" y="994410"/>
            <a:ext cx="24688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4B592D4-CE89-5EAD-AA6B-F96C2ADCF8F0}"/>
              </a:ext>
            </a:extLst>
          </p:cNvPr>
          <p:cNvSpPr/>
          <p:nvPr/>
        </p:nvSpPr>
        <p:spPr>
          <a:xfrm>
            <a:off x="6432804" y="1348962"/>
            <a:ext cx="2414016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AD79AE1-A816-3FBE-B056-65924A168DF2}"/>
              </a:ext>
            </a:extLst>
          </p:cNvPr>
          <p:cNvSpPr/>
          <p:nvPr/>
        </p:nvSpPr>
        <p:spPr>
          <a:xfrm>
            <a:off x="6528816" y="1355304"/>
            <a:ext cx="22974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Best M/C (OEE)</a:t>
            </a:r>
            <a:endParaRPr lang="en-US" sz="10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BC9E9236-9AEF-0D58-49D3-F20B24078488}"/>
              </a:ext>
            </a:extLst>
          </p:cNvPr>
          <p:cNvSpPr/>
          <p:nvPr/>
        </p:nvSpPr>
        <p:spPr>
          <a:xfrm>
            <a:off x="6528815" y="1491432"/>
            <a:ext cx="2520759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IG.16 (81.8%) &amp; IG.01 (80.1%)&amp; IG.14(80)</a:t>
            </a:r>
            <a:endParaRPr lang="en-US" sz="10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2174C462-60A4-C520-75AB-791231ED087D}"/>
              </a:ext>
            </a:extLst>
          </p:cNvPr>
          <p:cNvSpPr/>
          <p:nvPr/>
        </p:nvSpPr>
        <p:spPr>
          <a:xfrm>
            <a:off x="6528816" y="1789938"/>
            <a:ext cx="22974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Lowest / Worst M/C</a:t>
            </a:r>
            <a:endParaRPr lang="en-US" sz="10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E869E34-F6D2-2D07-8573-A91FB59A39BC}"/>
              </a:ext>
            </a:extLst>
          </p:cNvPr>
          <p:cNvSpPr/>
          <p:nvPr/>
        </p:nvSpPr>
        <p:spPr>
          <a:xfrm>
            <a:off x="6528816" y="1940814"/>
            <a:ext cx="229743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IG.17 (41.7%) — needs attention</a:t>
            </a:r>
            <a:endParaRPr lang="en-US" sz="10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D2B2A008-1B74-16CA-ED08-6D5E96C85955}"/>
              </a:ext>
            </a:extLst>
          </p:cNvPr>
          <p:cNvSpPr/>
          <p:nvPr/>
        </p:nvSpPr>
        <p:spPr>
          <a:xfrm>
            <a:off x="6432804" y="2173986"/>
            <a:ext cx="2414016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sz="10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510A6E42-2F7E-2F9C-3B77-6DF4E34203F2}"/>
              </a:ext>
            </a:extLst>
          </p:cNvPr>
          <p:cNvSpPr/>
          <p:nvPr/>
        </p:nvSpPr>
        <p:spPr>
          <a:xfrm>
            <a:off x="6528816" y="2187702"/>
            <a:ext cx="22974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Highest Rework</a:t>
            </a:r>
            <a:endParaRPr lang="en-US" sz="100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BA988876-013E-7855-A843-FCC9D79DDC11}"/>
              </a:ext>
            </a:extLst>
          </p:cNvPr>
          <p:cNvSpPr/>
          <p:nvPr/>
        </p:nvSpPr>
        <p:spPr>
          <a:xfrm>
            <a:off x="6528816" y="2338578"/>
            <a:ext cx="229743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IG.17 (538 / 9.1%), IG.19 (220 / 8.2%)</a:t>
            </a:r>
            <a:endParaRPr lang="en-US" sz="1000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95A40D0C-3B04-5F75-5B67-2CF45231864D}"/>
              </a:ext>
            </a:extLst>
          </p:cNvPr>
          <p:cNvSpPr/>
          <p:nvPr/>
        </p:nvSpPr>
        <p:spPr>
          <a:xfrm>
            <a:off x="6528816" y="2585466"/>
            <a:ext cx="22974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Highest Rejection</a:t>
            </a:r>
            <a:endParaRPr lang="en-US" sz="1000" dirty="0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815060D0-1763-F7EC-0B12-84638347D48C}"/>
              </a:ext>
            </a:extLst>
          </p:cNvPr>
          <p:cNvSpPr/>
          <p:nvPr/>
        </p:nvSpPr>
        <p:spPr>
          <a:xfrm>
            <a:off x="6528816" y="2736342"/>
            <a:ext cx="229743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IG.11 (702 / 4.3%), IG.17 (188 / 3.2%)</a:t>
            </a:r>
            <a:endParaRPr lang="en-US" sz="1000" dirty="0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56BFD6E5-E585-7D69-E0D5-48EEF92C0303}"/>
              </a:ext>
            </a:extLst>
          </p:cNvPr>
          <p:cNvSpPr/>
          <p:nvPr/>
        </p:nvSpPr>
        <p:spPr>
          <a:xfrm>
            <a:off x="6432804" y="2969514"/>
            <a:ext cx="2414016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D7317E43-0158-6316-2868-41A956D757F1}"/>
              </a:ext>
            </a:extLst>
          </p:cNvPr>
          <p:cNvSpPr/>
          <p:nvPr/>
        </p:nvSpPr>
        <p:spPr>
          <a:xfrm>
            <a:off x="6528816" y="2983230"/>
            <a:ext cx="22974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 Rework</a:t>
            </a:r>
            <a:endParaRPr lang="en-US" sz="1000" dirty="0"/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B3BEC97E-0F5C-60A2-B6C2-A1C8D20BCEC8}"/>
              </a:ext>
            </a:extLst>
          </p:cNvPr>
          <p:cNvSpPr/>
          <p:nvPr/>
        </p:nvSpPr>
        <p:spPr>
          <a:xfrm>
            <a:off x="6528816" y="3134106"/>
            <a:ext cx="229743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IG.16 (277 / 0.6%), IG.01 (649 / 1.3%)</a:t>
            </a:r>
            <a:endParaRPr lang="en-US" sz="1000" dirty="0"/>
          </a:p>
        </p:txBody>
      </p:sp>
      <p:sp>
        <p:nvSpPr>
          <p:cNvPr id="24" name="Text 27">
            <a:extLst>
              <a:ext uri="{FF2B5EF4-FFF2-40B4-BE49-F238E27FC236}">
                <a16:creationId xmlns:a16="http://schemas.microsoft.com/office/drawing/2014/main" id="{DBFCD76F-6303-E3C0-1EC2-98C7AD78434A}"/>
              </a:ext>
            </a:extLst>
          </p:cNvPr>
          <p:cNvSpPr/>
          <p:nvPr/>
        </p:nvSpPr>
        <p:spPr>
          <a:xfrm>
            <a:off x="6528816" y="3380994"/>
            <a:ext cx="22974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 Rejection</a:t>
            </a:r>
            <a:endParaRPr lang="en-US" sz="1000" dirty="0"/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A08A6A58-2C0D-994A-5BB3-566FD8C3B3DF}"/>
              </a:ext>
            </a:extLst>
          </p:cNvPr>
          <p:cNvSpPr/>
          <p:nvPr/>
        </p:nvSpPr>
        <p:spPr>
          <a:xfrm>
            <a:off x="6528816" y="3531870"/>
            <a:ext cx="229743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IG.14 (213 / 0.4%), IG.20 (85 / 0.7%)</a:t>
            </a:r>
            <a:endParaRPr lang="en-US" sz="1000" dirty="0"/>
          </a:p>
        </p:txBody>
      </p:sp>
      <p:sp>
        <p:nvSpPr>
          <p:cNvPr id="26" name="Shape 29">
            <a:extLst>
              <a:ext uri="{FF2B5EF4-FFF2-40B4-BE49-F238E27FC236}">
                <a16:creationId xmlns:a16="http://schemas.microsoft.com/office/drawing/2014/main" id="{C336EF0E-619D-4055-93D5-62E9FFE8E6F7}"/>
              </a:ext>
            </a:extLst>
          </p:cNvPr>
          <p:cNvSpPr/>
          <p:nvPr/>
        </p:nvSpPr>
        <p:spPr>
          <a:xfrm>
            <a:off x="6432804" y="3765042"/>
            <a:ext cx="2414016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31">
            <a:extLst>
              <a:ext uri="{FF2B5EF4-FFF2-40B4-BE49-F238E27FC236}">
                <a16:creationId xmlns:a16="http://schemas.microsoft.com/office/drawing/2014/main" id="{19769817-5DA5-8705-F229-1C95431C3E22}"/>
              </a:ext>
            </a:extLst>
          </p:cNvPr>
          <p:cNvSpPr/>
          <p:nvPr/>
        </p:nvSpPr>
        <p:spPr>
          <a:xfrm>
            <a:off x="6528816" y="3778758"/>
            <a:ext cx="22974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Fleet Avg OEE</a:t>
            </a:r>
            <a:endParaRPr lang="en-US" sz="1000" dirty="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30D11AB9-B67D-6174-D5C7-02EA7A89F97C}"/>
              </a:ext>
            </a:extLst>
          </p:cNvPr>
          <p:cNvSpPr/>
          <p:nvPr/>
        </p:nvSpPr>
        <p:spPr>
          <a:xfrm>
            <a:off x="6528816" y="3929634"/>
            <a:ext cx="229743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60.4% vs 65% target</a:t>
            </a:r>
            <a:endParaRPr lang="en-US" sz="1000" dirty="0"/>
          </a:p>
        </p:txBody>
      </p:sp>
      <p:sp>
        <p:nvSpPr>
          <p:cNvPr id="29" name="Text 34">
            <a:extLst>
              <a:ext uri="{FF2B5EF4-FFF2-40B4-BE49-F238E27FC236}">
                <a16:creationId xmlns:a16="http://schemas.microsoft.com/office/drawing/2014/main" id="{49694A4C-9481-C5A6-3309-ED9094B2B2D9}"/>
              </a:ext>
            </a:extLst>
          </p:cNvPr>
          <p:cNvSpPr/>
          <p:nvPr/>
        </p:nvSpPr>
        <p:spPr>
          <a:xfrm>
            <a:off x="6528816" y="4176522"/>
            <a:ext cx="22974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Fleet Avg Rework</a:t>
            </a:r>
            <a:endParaRPr lang="en-US" sz="1000" dirty="0"/>
          </a:p>
        </p:txBody>
      </p:sp>
      <p:sp>
        <p:nvSpPr>
          <p:cNvPr id="30" name="Text 35">
            <a:extLst>
              <a:ext uri="{FF2B5EF4-FFF2-40B4-BE49-F238E27FC236}">
                <a16:creationId xmlns:a16="http://schemas.microsoft.com/office/drawing/2014/main" id="{6A943B3E-2D53-8D27-3E5E-2E89423371F4}"/>
              </a:ext>
            </a:extLst>
          </p:cNvPr>
          <p:cNvSpPr/>
          <p:nvPr/>
        </p:nvSpPr>
        <p:spPr>
          <a:xfrm>
            <a:off x="6528816" y="4327398"/>
            <a:ext cx="229743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3.3%  (9,455 pcs)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71590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A2E5A"/>
            </a:solidFill>
            <a:prstDash val="solid"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Recommended 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– Management Action Summary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" y="960120"/>
            <a:ext cx="2834640" cy="347472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82880" y="960120"/>
            <a:ext cx="283464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0058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6032" y="1417320"/>
            <a:ext cx="26883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6032" y="1417320"/>
            <a:ext cx="54864" cy="6217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14538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</a:t>
            </a:r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at 69% </a:t>
            </a: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&gt;</a:t>
            </a:r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target </a:t>
            </a:r>
            <a:endParaRPr lang="en-US" sz="1000" b="1" u="sng" dirty="0"/>
          </a:p>
        </p:txBody>
      </p:sp>
      <p:sp>
        <p:nvSpPr>
          <p:cNvPr id="16" name="Shape 13"/>
          <p:cNvSpPr/>
          <p:nvPr/>
        </p:nvSpPr>
        <p:spPr>
          <a:xfrm>
            <a:off x="256032" y="2121408"/>
            <a:ext cx="26883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6032" y="2121408"/>
            <a:ext cx="54864" cy="6217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21579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Grinding </a:t>
            </a:r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- (36,256 ppm) </a:t>
            </a: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 ppm target  </a:t>
            </a: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(4.8x 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56032" y="2825496"/>
            <a:ext cx="26883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6032" y="2825496"/>
            <a:ext cx="54864" cy="6217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28620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Grinding </a:t>
            </a:r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(21,361 ppm)</a:t>
            </a: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exceeds </a:t>
            </a:r>
          </a:p>
          <a:p>
            <a:pPr marL="0" indent="0">
              <a:buNone/>
            </a:pPr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ppm target </a:t>
            </a: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(14x )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" y="3529584"/>
            <a:ext cx="26883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" y="3529584"/>
            <a:ext cx="54864" cy="6217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3566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 rework (7,638 ppm) and rejection (1,939 ppm)</a:t>
            </a:r>
          </a:p>
          <a:p>
            <a:pPr marL="0" indent="0">
              <a:buNone/>
            </a:pPr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both above targets )</a:t>
            </a:r>
            <a:endParaRPr lang="en-US" sz="1000" b="1" u="sng" dirty="0"/>
          </a:p>
        </p:txBody>
      </p:sp>
      <p:sp>
        <p:nvSpPr>
          <p:cNvPr id="25" name="Shape 22"/>
          <p:cNvSpPr/>
          <p:nvPr/>
        </p:nvSpPr>
        <p:spPr>
          <a:xfrm>
            <a:off x="3172968" y="960120"/>
            <a:ext cx="2834640" cy="3474720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960120"/>
            <a:ext cx="2834640" cy="38404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64408" y="10058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Highlights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46120" y="1417320"/>
            <a:ext cx="26883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46120" y="1417320"/>
            <a:ext cx="54864" cy="6217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55848" y="14538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rejection KPI met: 162 ppm vs 400 ppm target — </a:t>
            </a:r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performance</a:t>
            </a:r>
            <a:endParaRPr lang="en-US" sz="1000" b="1" u="sng" dirty="0"/>
          </a:p>
        </p:txBody>
      </p:sp>
      <p:sp>
        <p:nvSpPr>
          <p:cNvPr id="31" name="Shape 28"/>
          <p:cNvSpPr/>
          <p:nvPr/>
        </p:nvSpPr>
        <p:spPr>
          <a:xfrm>
            <a:off x="3246120" y="2121408"/>
            <a:ext cx="26883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121408"/>
            <a:ext cx="54864" cy="6217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55848" y="21579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machining rejection : 4.98 ppm vs 150 ppm target</a:t>
            </a:r>
          </a:p>
          <a:p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( Rejection )</a:t>
            </a:r>
            <a:endParaRPr lang="en-US" sz="1000" b="1" u="sng" dirty="0"/>
          </a:p>
        </p:txBody>
      </p:sp>
      <p:sp>
        <p:nvSpPr>
          <p:cNvPr id="34" name="Shape 31"/>
          <p:cNvSpPr/>
          <p:nvPr/>
        </p:nvSpPr>
        <p:spPr>
          <a:xfrm>
            <a:off x="3246120" y="2825496"/>
            <a:ext cx="26883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46120" y="2825496"/>
            <a:ext cx="54864" cy="6217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55848" y="28620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rejection </a:t>
            </a:r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target</a:t>
            </a: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161.8 ppm vs 700 ppm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246120" y="3529584"/>
            <a:ext cx="26883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246120" y="3529584"/>
            <a:ext cx="54864" cy="6217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355848" y="3566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section: </a:t>
            </a:r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rejection</a:t>
            </a: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consistent OEE ~60%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163056" y="960120"/>
            <a:ext cx="2834640" cy="3474720"/>
          </a:xfrm>
          <a:prstGeom prst="rect">
            <a:avLst/>
          </a:prstGeom>
          <a:solidFill>
            <a:srgbClr val="EBF8F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163056" y="960120"/>
            <a:ext cx="283464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54496" y="10058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Plan 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236208" y="1417320"/>
            <a:ext cx="26883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36208" y="1417320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345936" y="14538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Deep-dive on IG.17 &amp; IG.19 </a:t>
            </a:r>
            <a:r>
              <a:rPr lang="en-US" sz="9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for high rework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(&gt;8%)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6236208" y="2121408"/>
            <a:ext cx="26883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236208" y="2121408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345936" y="21579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preventive maintenance </a:t>
            </a: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low OEE machines (EG.04, IG.17)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236208" y="2825496"/>
            <a:ext cx="26883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236208" y="2825496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345936" y="28620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</a:t>
            </a:r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</a:t>
            </a: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align capacity to achieve &gt;95% target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6236208" y="3529584"/>
            <a:ext cx="26883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236208" y="3529584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45936" y="3566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</a:t>
            </a:r>
            <a:r>
              <a:rPr lang="en-US" sz="1000" b="1" u="sng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and HO best practices</a:t>
            </a: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replicate across IG/EG machines</a:t>
            </a:r>
            <a:endParaRPr lang="en-US" sz="85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387F15F-5165-8B65-50B3-6EB17255A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1851"/>
            <a:ext cx="1185735" cy="6494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4992</TotalTime>
  <Words>2796</Words>
  <Application>Microsoft Office PowerPoint</Application>
  <PresentationFormat>On-screen Show (16:9)</PresentationFormat>
  <Paragraphs>979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</vt:lpstr>
      <vt:lpstr>Clibari</vt:lpstr>
      <vt:lpstr>Liter</vt:lpstr>
      <vt:lpstr>Quattrocento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February 2026 Performance Report – MRS Bearings</dc:title>
  <dc:subject>PptxGenJS Presentation</dc:subject>
  <dc:creator>PptxGenJS</dc:creator>
  <cp:lastModifiedBy>Nikhil Rana</cp:lastModifiedBy>
  <cp:revision>33</cp:revision>
  <dcterms:created xsi:type="dcterms:W3CDTF">2026-03-10T06:22:30Z</dcterms:created>
  <dcterms:modified xsi:type="dcterms:W3CDTF">2026-03-30T07:37:20Z</dcterms:modified>
</cp:coreProperties>
</file>